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8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1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4434840"/>
            <a:ext cx="12188952" cy="105156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1">
                <a:solidFill>
                  <a:srgbClr val="FFFFFF"/>
                </a:solidFill>
                <a:latin typeface="Georgia"/>
              </a:rPr>
              <a:t>ArtEx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CA3AF"/>
                </a:solidFill>
                <a:latin typeface="Calibri"/>
              </a:rPr>
              <a:t>Fractional Art Trading · Perpetual Futures · AI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EFREI Innovation Project  · 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120640"/>
            <a:ext cx="2011680" cy="347472"/>
          </a:xfrm>
          <a:prstGeom prst="rect">
            <a:avLst/>
          </a:prstGeom>
          <a:solidFill>
            <a:srgbClr val="3A150A"/>
          </a:solidFill>
          <a:ln w="1270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52A"/>
                </a:solidFill>
                <a:latin typeface="Calibri"/>
              </a:rPr>
              <a:t>Blockchain-Native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5120640"/>
            <a:ext cx="2011680" cy="347472"/>
          </a:xfrm>
          <a:prstGeom prst="rect">
            <a:avLst/>
          </a:prstGeom>
          <a:solidFill>
            <a:srgbClr val="261140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5138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45FF"/>
                </a:solidFill>
                <a:latin typeface="Calibri"/>
              </a:rPr>
              <a:t>AI-Automated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5120640"/>
            <a:ext cx="2011680" cy="347472"/>
          </a:xfrm>
          <a:prstGeom prst="rect">
            <a:avLst/>
          </a:prstGeom>
          <a:solidFill>
            <a:srgbClr val="0831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5138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VMM Liquidity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2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552A"/>
                </a:solidFill>
                <a:latin typeface="Calibri"/>
              </a:rPr>
              <a:t>PLATFORM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FFFFFF"/>
                </a:solidFill>
                <a:latin typeface="Georgia"/>
              </a:rPr>
              <a:t>What is ArtEx?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Premium digital artworks are tokenised into 1,000,000 tradeable fractional shares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Spot Trading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45536"/>
            <a:ext cx="9784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Buy or sell any number of shares at the live market price denominated in BTC, ETH, SOL, BNB or XRP.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Perpetual Futures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87952"/>
            <a:ext cx="9784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9CA3AF"/>
                </a:solidFill>
                <a:latin typeface="Calibri"/>
              </a:rPr>
              <a:t>• Go long or short on art price movements with up to 50× leverage, using BTC as collateral.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35424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AI Trading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0368"/>
            <a:ext cx="9784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Deploy built-in momentum / mean-reversion / grid bots, or connect any custom AI via REST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925312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Wallet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9784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MetaMask, Coinbase Wallet, Phantom (Solana) and WalletConnect supported.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657600" cy="4846320"/>
          </a:xfrm>
          <a:prstGeom prst="rect">
            <a:avLst/>
          </a:prstGeom>
          <a:solidFill>
            <a:srgbClr val="111116"/>
          </a:solidFill>
          <a:ln w="12700">
            <a:solidFill>
              <a:srgbClr val="1E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03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Shares per artwork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50×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Max leverage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94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Top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Crypto currencies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920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945FF"/>
                </a:solidFill>
                <a:latin typeface="Calibri"/>
              </a:rPr>
              <a:t>2s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94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VMM tick interval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3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552A"/>
                </a:solidFill>
                <a:latin typeface="Calibri"/>
              </a:rPr>
              <a:t>LEVERAGE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009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 dirty="0">
                <a:solidFill>
                  <a:srgbClr val="FFFFFF"/>
                </a:solidFill>
                <a:latin typeface="Georgia"/>
              </a:rPr>
              <a:t>Perpetual Futures on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96312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User deposits BTC margin → receives USD notional exposure ×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43784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Art price moves in your favour → profits returned as BTC.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1256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538728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E8552A"/>
                </a:solidFill>
                <a:latin typeface="Calibri"/>
              </a:rPr>
              <a:t>Double Volatility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86200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F59E0B"/>
                </a:solidFill>
                <a:latin typeface="Calibri"/>
              </a:rPr>
              <a:t>• Art price uncertainty  ×  BTC price volatility  =  compounded leverage.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33672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9CA3AF"/>
                </a:solidFill>
                <a:latin typeface="Calibri"/>
              </a:rPr>
              <a:t>• Even if art price stays flat, BTC collateral drift affects margin ratio.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928616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Funding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76088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Paid between longs and shorts every 8h to keep perp price anchored to spot.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463040"/>
            <a:ext cx="4297680" cy="4937760"/>
          </a:xfrm>
          <a:prstGeom prst="rect">
            <a:avLst/>
          </a:prstGeom>
          <a:solidFill>
            <a:srgbClr val="111116"/>
          </a:solidFill>
          <a:ln w="12700">
            <a:solidFill>
              <a:srgbClr val="1E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79" y="1600200"/>
            <a:ext cx="9348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FF0000"/>
                </a:solidFill>
                <a:latin typeface="Calibri"/>
              </a:rPr>
              <a:t>KEY FORMULAS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9659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0000"/>
                </a:solidFill>
                <a:latin typeface="Calibri"/>
              </a:rPr>
              <a:t>Notional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65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= Margin (BTC) × BTC/USD × Leverage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517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0000"/>
                </a:solidFill>
                <a:latin typeface="Calibri"/>
              </a:rPr>
              <a:t>PnL (Long)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= (Pₜ − P₀) / P₀  ×  Notional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375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0000"/>
                </a:solidFill>
                <a:latin typeface="Calibri"/>
              </a:rPr>
              <a:t>Margin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= (Margin × BTC/USD +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PnL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) / Notional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0233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0000"/>
                </a:solidFill>
                <a:latin typeface="Calibri"/>
              </a:rPr>
              <a:t>Liq.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0233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= P₀ × (1 − 1/Lev + 0.5%)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7091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0000"/>
                </a:solidFill>
                <a:latin typeface="Calibri"/>
              </a:rPr>
              <a:t>10×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709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Liquidated after ~9.5% adverse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3949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0000"/>
                </a:solidFill>
                <a:latin typeface="Calibri"/>
              </a:rPr>
              <a:t>50×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394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Liquidated after ~1.5% adverse move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4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C55E"/>
                </a:solidFill>
                <a:latin typeface="Calibri"/>
              </a:rPr>
              <a:t>LIQUIDITY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 dirty="0">
                <a:solidFill>
                  <a:srgbClr val="FFFFFF"/>
                </a:solidFill>
                <a:latin typeface="Georgia"/>
              </a:rPr>
              <a:t>Virtual Market Maker (VMM)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8878"/>
            <a:ext cx="7772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FFFFFF"/>
                </a:solidFill>
                <a:latin typeface="Calibri"/>
              </a:rPr>
              <a:t>The cold-start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97206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9CA3AF"/>
                </a:solidFill>
                <a:latin typeface="Calibri"/>
              </a:rPr>
              <a:t>• A new marketplace has no organic order flow — no liquidity = no traders.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5534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9CA3AF"/>
                </a:solidFill>
                <a:latin typeface="Calibri"/>
              </a:rPr>
              <a:t>• VMM seeds the market with synthetic bid/ask depth from day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12190"/>
            <a:ext cx="7772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22C55E"/>
                </a:solidFill>
                <a:latin typeface="Calibri"/>
              </a:rPr>
              <a:t>Geometric Brownian Motion (GBM)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50518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F59E0B"/>
                </a:solidFill>
                <a:latin typeface="Calibri"/>
              </a:rPr>
              <a:t>• Price follows:  Sₜ₊₁ = Sₜ · exp( (μ − σ²/2)·</a:t>
            </a:r>
            <a:r>
              <a:rPr sz="1200" dirty="0" err="1">
                <a:solidFill>
                  <a:srgbClr val="F59E0B"/>
                </a:solidFill>
                <a:latin typeface="Calibri"/>
              </a:rPr>
              <a:t>Δt</a:t>
            </a:r>
            <a:r>
              <a:rPr sz="1200" dirty="0">
                <a:solidFill>
                  <a:srgbClr val="F59E0B"/>
                </a:solidFill>
                <a:latin typeface="Calibri"/>
              </a:rPr>
              <a:t> + </a:t>
            </a:r>
            <a:r>
              <a:rPr sz="1200" dirty="0" err="1">
                <a:solidFill>
                  <a:srgbClr val="F59E0B"/>
                </a:solidFill>
                <a:latin typeface="Calibri"/>
              </a:rPr>
              <a:t>σ·ε</a:t>
            </a:r>
            <a:r>
              <a:rPr sz="1200" dirty="0">
                <a:solidFill>
                  <a:srgbClr val="F59E0B"/>
                </a:solidFill>
                <a:latin typeface="Calibri"/>
              </a:rPr>
              <a:t>·√</a:t>
            </a:r>
            <a:r>
              <a:rPr sz="1200" dirty="0" err="1">
                <a:solidFill>
                  <a:srgbClr val="F59E0B"/>
                </a:solidFill>
                <a:latin typeface="Calibri"/>
              </a:rPr>
              <a:t>Δt</a:t>
            </a:r>
            <a:r>
              <a:rPr sz="1200" dirty="0">
                <a:solidFill>
                  <a:srgbClr val="F59E0B"/>
                </a:solidFill>
                <a:latin typeface="Calibri"/>
              </a:rPr>
              <a:t>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88846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9CA3AF"/>
                </a:solidFill>
                <a:latin typeface="Calibri"/>
              </a:rPr>
              <a:t>• μ = 0.00006  (slight upward drift)     σ = 0.008  (per 2s tick)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27174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Calibri"/>
              </a:rPr>
              <a:t>• ε ~ N(0,1) via Box-Muller transform — true randomness, not pseudo-uniform.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3830"/>
            <a:ext cx="7772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2C55E"/>
                </a:solidFill>
                <a:latin typeface="Calibri"/>
              </a:rPr>
              <a:t>Order Book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42158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Calibri"/>
              </a:rPr>
              <a:t>• 10 VMM levels per side at ±0.3 % spacing, regenerated every 2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80486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Calibri"/>
              </a:rPr>
              <a:t>• 3–5 fake 'user' orders injected randomly to create organic-looking depth.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67496"/>
            <a:ext cx="7772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2C55E"/>
                </a:solidFill>
                <a:latin typeface="Calibri"/>
              </a:rPr>
              <a:t>BTC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405824"/>
            <a:ext cx="74980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9CA3AF"/>
                </a:solidFill>
                <a:latin typeface="Calibri"/>
              </a:rPr>
              <a:t>• Independent GBM for BTC/USD (σ = 0.015) — directly affects perp collateral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834640" cy="4114800"/>
          </a:xfrm>
          <a:prstGeom prst="rect">
            <a:avLst/>
          </a:prstGeom>
          <a:solidFill>
            <a:srgbClr val="1111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224028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Calibri"/>
              </a:rPr>
              <a:t>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2C55E"/>
                </a:solidFill>
                <a:latin typeface="Calibri"/>
              </a:rPr>
              <a:t>2 000 </a:t>
            </a:r>
            <a:r>
              <a:rPr sz="1300" b="1" i="0" dirty="0" err="1">
                <a:solidFill>
                  <a:srgbClr val="22C55E"/>
                </a:solidFill>
                <a:latin typeface="Calibri"/>
              </a:rPr>
              <a:t>ms</a:t>
            </a:r>
            <a:endParaRPr sz="1300" b="1" i="0" dirty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Calibri"/>
              </a:rPr>
              <a:t>Spread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±0.3 %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2900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429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10 levels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0233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Drift 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023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+ 0.006 %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61772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Vol 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0.8 % / tick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21208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200 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5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REVENUE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 dirty="0">
                <a:solidFill>
                  <a:srgbClr val="FFFFFF"/>
                </a:solidFill>
                <a:latin typeface="Georgia"/>
              </a:rPr>
              <a:t>How the Platform Makes Money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9728" cy="132588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167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552A"/>
                </a:solidFill>
                <a:latin typeface="Calibri"/>
              </a:rPr>
              <a:t>Trading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603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CA3AF"/>
                </a:solidFill>
                <a:latin typeface="Calibri"/>
              </a:rPr>
              <a:t>0.1–0.3% per executed spot trade. Volume-driven — the more active the market, the higher the revenue.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5740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057400"/>
            <a:ext cx="10972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2167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Spread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603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VMM earns the bid-ask spread on every trade it fills. At high tick-volume this compounds rapidly.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20440"/>
            <a:ext cx="109728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630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Perpetual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02336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Platform captures a portion of the funding rate flow between longs and shorts (typically 0.01–0.03% / 8h).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2044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520440"/>
            <a:ext cx="109728" cy="132588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3630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45FF"/>
                </a:solidFill>
                <a:latin typeface="Calibri"/>
              </a:rPr>
              <a:t>AI Custody 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2336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2% annual management fee on assets under AI agent management (AUM). Scales with platform adoption.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8348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983480"/>
            <a:ext cx="109728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093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Premium 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48640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Subscription tiers: access to advanced AI models, custom endpoint priority, higher leverage limits.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83480"/>
            <a:ext cx="5394960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4983480"/>
            <a:ext cx="109728" cy="13258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5093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Artwork Listing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48640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One-time tokenisation fee paid by galleries / artists to list new works. Creates curation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6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552A"/>
                </a:solidFill>
                <a:latin typeface="Calibri"/>
              </a:rPr>
              <a:t>GROWTH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 dirty="0">
                <a:solidFill>
                  <a:srgbClr val="FFFFFF"/>
                </a:solidFill>
                <a:latin typeface="Georgia"/>
              </a:rPr>
              <a:t>The Platform Flywheel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9199" y="1895559"/>
            <a:ext cx="1463040" cy="768096"/>
          </a:xfrm>
          <a:prstGeom prst="rect">
            <a:avLst/>
          </a:prstGeom>
          <a:solidFill>
            <a:srgbClr val="2E1108"/>
          </a:solidFill>
          <a:ln w="1905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919" y="1913847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552A"/>
                </a:solidFill>
                <a:latin typeface="Calibri"/>
              </a:rPr>
              <a:t>More
Artworks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77" y="3285595"/>
            <a:ext cx="1463040" cy="768096"/>
          </a:xfrm>
          <a:prstGeom prst="rect">
            <a:avLst/>
          </a:prstGeom>
          <a:solidFill>
            <a:srgbClr val="08271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1697" y="3303883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  <a:latin typeface="Calibri"/>
              </a:rPr>
              <a:t>Deeper
Liquidity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6763" y="5534722"/>
            <a:ext cx="1463040" cy="768096"/>
          </a:xfrm>
          <a:prstGeom prst="rect">
            <a:avLst/>
          </a:prstGeom>
          <a:solidFill>
            <a:srgbClr val="1F0D33"/>
          </a:solidFill>
          <a:ln w="1905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82483" y="555301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45FF"/>
                </a:solidFill>
                <a:latin typeface="Calibri"/>
              </a:rPr>
              <a:t>More
Traders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1634" y="5534722"/>
            <a:ext cx="1463040" cy="768096"/>
          </a:xfrm>
          <a:prstGeom prst="rect">
            <a:avLst/>
          </a:prstGeom>
          <a:solidFill>
            <a:srgbClr val="301F0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7354" y="555301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More
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2420" y="3285595"/>
            <a:ext cx="1463040" cy="768096"/>
          </a:xfrm>
          <a:prstGeom prst="rect">
            <a:avLst/>
          </a:prstGeom>
          <a:solidFill>
            <a:srgbClr val="03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8140" y="3303883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  <a:latin typeface="Calibri"/>
              </a:rPr>
              <a:t>More
AI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2079" y="4016967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Georgia"/>
              </a:rPr>
              <a:t>ArtEx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5485" y="20116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VMM seeds liquidity → attracts first wave of traders.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5485" y="23774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Traders generate volume → fee revenue funds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5485" y="2743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More volume → better price discovery → fairer market.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1165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1165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552A"/>
                </a:solidFill>
                <a:latin typeface="Calibri"/>
              </a:rPr>
              <a:t>AI network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5485" y="3840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More trading data → smarter AI models → better strategies.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5485" y="42062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Better strategies → higher returns → attract more capital.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1165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1165" y="4937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Monetisation scales with the flywheel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5485" y="53035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• fees, spread, AUM and data all grow proportionally.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6BCC458-E960-A753-DDCE-F5FCA6E061A7}"/>
              </a:ext>
            </a:extLst>
          </p:cNvPr>
          <p:cNvCxnSpPr>
            <a:stCxn id="7" idx="1"/>
            <a:endCxn id="10" idx="0"/>
          </p:cNvCxnSpPr>
          <p:nvPr/>
        </p:nvCxnSpPr>
        <p:spPr>
          <a:xfrm rot="10800000" flipV="1">
            <a:off x="1437497" y="2279607"/>
            <a:ext cx="1181702" cy="1024276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5A79F2A7-8683-5ECD-851F-BFDD11E759CB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5400000">
            <a:off x="504591" y="4985863"/>
            <a:ext cx="1865079" cy="734"/>
          </a:xfrm>
          <a:prstGeom prst="bentConnector4">
            <a:avLst>
              <a:gd name="adj1" fmla="val 39704"/>
              <a:gd name="adj2" fmla="val 3124441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91A42263-6803-CE2E-CDBC-A7CA4C4C9E00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2899803" y="5918770"/>
            <a:ext cx="901831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CDBCAD0-370A-0623-97E9-AD18CD41B552}"/>
              </a:ext>
            </a:extLst>
          </p:cNvPr>
          <p:cNvCxnSpPr>
            <a:stCxn id="13" idx="3"/>
            <a:endCxn id="15" idx="2"/>
          </p:cNvCxnSpPr>
          <p:nvPr/>
        </p:nvCxnSpPr>
        <p:spPr>
          <a:xfrm flipH="1" flipV="1">
            <a:off x="5263940" y="4053691"/>
            <a:ext cx="734" cy="1865079"/>
          </a:xfrm>
          <a:prstGeom prst="bentConnector4">
            <a:avLst>
              <a:gd name="adj1" fmla="val -31144414"/>
              <a:gd name="adj2" fmla="val 60296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BCDD93C6-CC77-2068-CDD4-8DF023291714}"/>
              </a:ext>
            </a:extLst>
          </p:cNvPr>
          <p:cNvCxnSpPr>
            <a:stCxn id="15" idx="0"/>
            <a:endCxn id="7" idx="3"/>
          </p:cNvCxnSpPr>
          <p:nvPr/>
        </p:nvCxnSpPr>
        <p:spPr>
          <a:xfrm rot="16200000" flipV="1">
            <a:off x="4170096" y="2191750"/>
            <a:ext cx="1005988" cy="1181701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7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945FF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FFFFFF"/>
                </a:solidFill>
                <a:latin typeface="Georgia"/>
              </a:rPr>
              <a:t>Stack &amp;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371600" cy="502920"/>
          </a:xfrm>
          <a:prstGeom prst="rect">
            <a:avLst/>
          </a:prstGeom>
          <a:solidFill>
            <a:srgbClr val="2E1108"/>
          </a:solidFill>
          <a:ln w="1270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52A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8424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Vue 3 + Vite + Tailwind CSS · Pinia state · Vue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1371600" cy="502920"/>
          </a:xfrm>
          <a:prstGeom prst="rect">
            <a:avLst/>
          </a:prstGeom>
          <a:solidFill>
            <a:srgbClr val="301F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9748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9CA3AF"/>
                </a:solidFill>
                <a:latin typeface="Calibri"/>
              </a:rPr>
              <a:t>Pinia</a:t>
            </a:r>
            <a:r>
              <a:rPr sz="1200" b="0" i="0" dirty="0">
                <a:solidFill>
                  <a:srgbClr val="9CA3AF"/>
                </a:solidFill>
                <a:latin typeface="Calibri"/>
              </a:rPr>
              <a:t> trading store · GBM VMM engine · </a:t>
            </a:r>
            <a:r>
              <a:rPr sz="1200" b="0" i="0" dirty="0" err="1">
                <a:solidFill>
                  <a:srgbClr val="9CA3AF"/>
                </a:solidFill>
                <a:latin typeface="Calibri"/>
              </a:rPr>
              <a:t>CoinGecko</a:t>
            </a:r>
            <a:r>
              <a:rPr sz="1200" b="0" i="0" dirty="0">
                <a:solidFill>
                  <a:srgbClr val="9CA3AF"/>
                </a:solidFill>
                <a:latin typeface="Calibri"/>
              </a:rPr>
              <a:t> live crypto feed (via Vite proxy)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46704"/>
            <a:ext cx="1371600" cy="502920"/>
          </a:xfrm>
          <a:prstGeom prst="rect">
            <a:avLst/>
          </a:prstGeom>
          <a:solidFill>
            <a:srgbClr val="1F0D33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410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45FF"/>
                </a:solidFill>
                <a:latin typeface="Calibri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4107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DeepSeek Chat API (art curator) · Custom AI agent endpoints · Account monitor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59936"/>
            <a:ext cx="1371600" cy="502920"/>
          </a:xfrm>
          <a:prstGeom prst="rect">
            <a:avLst/>
          </a:prstGeom>
          <a:solidFill>
            <a:srgbClr val="0827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Wallets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12394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MetaMask / Coinbase (EIP-1193) · Phantom (Solana) · WalletConnect · Test Wallet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73168"/>
            <a:ext cx="1371600" cy="502920"/>
          </a:xfrm>
          <a:prstGeom prst="rect">
            <a:avLst/>
          </a:prstGeom>
          <a:solidFill>
            <a:srgbClr val="121416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8371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5563"/>
                </a:solidFill>
                <a:latin typeface="Calibri"/>
              </a:rPr>
              <a:t>Backend*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83717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FastAPI (Python) · PostgreSQL · Redis · Alembic migrations  [planned]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371600" cy="502920"/>
          </a:xfrm>
          <a:prstGeom prst="rect">
            <a:avLst/>
          </a:prstGeom>
          <a:solidFill>
            <a:srgbClr val="0324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5504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Blockchain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5504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BTC testnet via BlockCypher proxy · On-chain settlement [planned]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* Backend branch scaffolded; frontend operates fully client-side for this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8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552A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502920" cy="36576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FFFFFF"/>
                </a:solidFill>
                <a:latin typeface="Georgia"/>
              </a:rPr>
              <a:t>What's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423160" cy="4846320"/>
          </a:xfrm>
          <a:prstGeom prst="rect">
            <a:avLst/>
          </a:prstGeom>
          <a:solidFill>
            <a:srgbClr val="111116"/>
          </a:solidFill>
          <a:ln w="12700">
            <a:solidFill>
              <a:srgbClr val="E8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42316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52A"/>
                </a:solidFill>
                <a:latin typeface="Calibri"/>
              </a:rPr>
              <a:t>Phase 1
(Now)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Frontend demo: trading terminal, AI agent, wallet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VMM providing simulated liquidity and price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DeepSeek-powered art curation chatbot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691640"/>
            <a:ext cx="2423160" cy="4846320"/>
          </a:xfrm>
          <a:prstGeom prst="rect">
            <a:avLst/>
          </a:prstGeom>
          <a:solidFill>
            <a:srgbClr val="1111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691640"/>
            <a:ext cx="2423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828800"/>
            <a:ext cx="2148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59E0B"/>
                </a:solidFill>
                <a:latin typeface="Calibri"/>
              </a:rPr>
              <a:t>Phase 2
(</a:t>
            </a:r>
            <a:r>
              <a:rPr lang="en-US" sz="1400" b="1" i="0" dirty="0">
                <a:solidFill>
                  <a:srgbClr val="F59E0B"/>
                </a:solidFill>
                <a:latin typeface="Calibri"/>
              </a:rPr>
              <a:t>1</a:t>
            </a:r>
            <a:r>
              <a:rPr sz="1400" b="1" i="0" dirty="0">
                <a:solidFill>
                  <a:srgbClr val="F59E0B"/>
                </a:solidFill>
                <a:latin typeface="Calibri"/>
              </a:rPr>
              <a:t> </a:t>
            </a:r>
            <a:r>
              <a:rPr lang="en-US" sz="1400" b="1" i="0" dirty="0">
                <a:solidFill>
                  <a:srgbClr val="F59E0B"/>
                </a:solidFill>
                <a:latin typeface="Calibri"/>
              </a:rPr>
              <a:t>week</a:t>
            </a:r>
            <a:r>
              <a:rPr sz="1400" b="1" i="0" dirty="0">
                <a:solidFill>
                  <a:srgbClr val="F59E0B"/>
                </a:solidFill>
                <a:latin typeface="Calibri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FastAPI backend + PostgreSQL order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Real BTC testnet settlement via BlockCypher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Artist / gallery onboarding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WalletConnect SDK full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691640"/>
            <a:ext cx="2423160" cy="4846320"/>
          </a:xfrm>
          <a:prstGeom prst="rect">
            <a:avLst/>
          </a:prstGeom>
          <a:solidFill>
            <a:srgbClr val="1111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1691640"/>
            <a:ext cx="24231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828800"/>
            <a:ext cx="2148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2C55E"/>
                </a:solidFill>
                <a:latin typeface="Calibri"/>
              </a:rPr>
              <a:t>Phase 3
(</a:t>
            </a:r>
            <a:r>
              <a:rPr lang="en-US" sz="1400" b="1" i="0" dirty="0">
                <a:solidFill>
                  <a:srgbClr val="22C55E"/>
                </a:solidFill>
                <a:latin typeface="Calibri"/>
              </a:rPr>
              <a:t>2</a:t>
            </a:r>
            <a:r>
              <a:rPr sz="1400" b="1" i="0" dirty="0">
                <a:solidFill>
                  <a:srgbClr val="22C55E"/>
                </a:solidFill>
                <a:latin typeface="Calibri"/>
              </a:rPr>
              <a:t> </a:t>
            </a:r>
            <a:r>
              <a:rPr lang="en-US" sz="1400" b="1" i="0" dirty="0">
                <a:solidFill>
                  <a:srgbClr val="22C55E"/>
                </a:solidFill>
                <a:latin typeface="Calibri"/>
              </a:rPr>
              <a:t>weeks</a:t>
            </a:r>
            <a:r>
              <a:rPr sz="1400" b="1" i="0" dirty="0">
                <a:solidFill>
                  <a:srgbClr val="22C55E"/>
                </a:solidFill>
                <a:latin typeface="Calibri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Mainnet launch with regulatory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Institutional AI strategy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Cross-chain support (ETH, SOL, BNB)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DAO governance for artwork listing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691640"/>
            <a:ext cx="2423160" cy="4846320"/>
          </a:xfrm>
          <a:prstGeom prst="rect">
            <a:avLst/>
          </a:prstGeom>
          <a:solidFill>
            <a:srgbClr val="111116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0" y="1691640"/>
            <a:ext cx="2423160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23960" y="1828800"/>
            <a:ext cx="2148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945FF"/>
                </a:solidFill>
                <a:latin typeface="Calibri"/>
              </a:rPr>
              <a:t>Phase 4
(</a:t>
            </a:r>
            <a:r>
              <a:rPr lang="en-US" sz="1400" b="1" i="0" dirty="0">
                <a:solidFill>
                  <a:srgbClr val="9945FF"/>
                </a:solidFill>
                <a:latin typeface="Calibri"/>
              </a:rPr>
              <a:t>3 weeks</a:t>
            </a:r>
            <a:r>
              <a:rPr sz="1400" b="1" i="0" dirty="0">
                <a:solidFill>
                  <a:srgbClr val="9945FF"/>
                </a:solidFill>
                <a:latin typeface="Calibri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Physical-digital art bridge (NFC + NFT)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Secondary market royalty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Mobile app (React Native)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• International gallery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9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F1D1D"/>
                </a:solidFill>
                <a:latin typeface="Calibri"/>
              </a:rPr>
              <a:t>A REFLECTION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13232"/>
            <a:ext cx="502920" cy="36576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1" dirty="0">
                <a:solidFill>
                  <a:srgbClr val="FECACA"/>
                </a:solidFill>
                <a:latin typeface="Georgia"/>
              </a:rPr>
              <a:t>On Speculation and Restraint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ECACA"/>
                </a:solidFill>
                <a:latin typeface="Calibri"/>
              </a:rPr>
              <a:t>The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1717A"/>
                </a:solidFill>
                <a:latin typeface="Calibri"/>
              </a:rPr>
              <a:t>Strip away the art, the curation, and the crypto branding — and what remains is a price-speculation engine with a house-maintained order book, leveraged positions, and algorithmically generated volatility. The structural difference between this platform and online gambling is thinner than we initially set out to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A3AF"/>
                </a:solidFill>
                <a:latin typeface="Calibri"/>
              </a:rPr>
              <a:t>Why It Would Work Regardless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1717A"/>
                </a:solidFill>
                <a:latin typeface="Calibri"/>
              </a:rPr>
              <a:t>Speculation is a fundamental human instinct. As long as there are people who believe they can predict price movements — and there always are — the business logic is sound. The platform does not need the art to be real, the market to be fair, or the odds to be transparent.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EFAC"/>
                </a:solidFill>
                <a:latin typeface="Calibri"/>
              </a:rPr>
              <a:t>What Constrains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932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1717A"/>
                </a:solidFill>
                <a:latin typeface="Calibri"/>
              </a:rPr>
              <a:t>Our group chose not to implement dark patterns: no hidden fees, no fabricated scarcity signals, no predatory leverage defaults. We could have. We did not. That decision is not commercially optimal. It is a deliberate ethical constraint, and we believe it is the right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63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B2121"/>
                </a:solidFill>
                <a:latin typeface="Georgia"/>
              </a:rPr>
              <a:t>"The most profitable version of this platform is one we chose not to build."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1190</Words>
  <Application>Microsoft Office PowerPoint</Application>
  <PresentationFormat>自定义</PresentationFormat>
  <Paragraphs>158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禹豪 黄</cp:lastModifiedBy>
  <cp:revision>4</cp:revision>
  <dcterms:created xsi:type="dcterms:W3CDTF">2013-01-27T09:14:16Z</dcterms:created>
  <dcterms:modified xsi:type="dcterms:W3CDTF">2026-06-03T10:42:01Z</dcterms:modified>
  <cp:category/>
</cp:coreProperties>
</file>