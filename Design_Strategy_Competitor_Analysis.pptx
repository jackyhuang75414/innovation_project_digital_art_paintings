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98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943600"/>
            <a:ext cx="1191463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EFREI PARIS  ·  2025–2026  ·  INNOVATION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5"/>
                </a:solidFill>
              </a:rPr>
              <a:t>DIGITAL ART PAINTINGS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</a:rPr>
              <a:t>Design Strategy · Competitor Analysis · Brand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5486400" cy="457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E8552A"/>
                </a:solidFill>
              </a:rPr>
              <a:t>Open-Source  ·  Free to Use  ·  Powered by Open-Source LLMs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888899"/>
                </a:solidFill>
              </a:rPr>
              <a:t>Vue 3 + Tailwind CSS  ·  FastAPI  ·  Dify  ·  Llama / Mistral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Yuhao Huang  ·  Yinghui Ren  ·  Nelson Kamteu  ·  Lena Makri  ·  Berena Malio  ·  Junior Mevi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COMPETITOR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Five leading digital art / print-on-demand marketplaces benchmarked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E8552A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031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2103120" cy="64008"/>
          </a:xfrm>
          <a:prstGeom prst="rect">
            <a:avLst/>
          </a:prstGeom>
          <a:solidFill>
            <a:srgbClr val="F16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2070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641E"/>
                </a:solidFill>
              </a:rPr>
              <a:t>ETSY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664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Art Prints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084831"/>
            <a:ext cx="1883664" cy="36576"/>
          </a:xfrm>
          <a:prstGeom prst="rect">
            <a:avLst/>
          </a:prstGeom>
          <a:solidFill>
            <a:srgbClr val="F16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219456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USP: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96M buyers · largest reach · commercial retail feel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93192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UX pattern: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4-col 1:1 crop grid · top-bar filters · orange CTA · no chatbot on browse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097280"/>
            <a:ext cx="21031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1097280"/>
            <a:ext cx="210312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98648" y="1207008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accent3"/>
                </a:solidFill>
              </a:rPr>
              <a:t>SAATCHI 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1664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Original &amp; prints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084831"/>
            <a:ext cx="1883664" cy="36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98648" y="219456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USP: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Premium gallery positioning · Art Advisory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93192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UX pattern: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3-col masonry · left sidebar · pure B&amp;W palette · bottom-right chat (Intercom)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1097280"/>
            <a:ext cx="21031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66360" y="1097280"/>
            <a:ext cx="21031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76088" y="1207008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accent1"/>
                </a:solidFill>
              </a:rPr>
              <a:t>SOCIETY6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1664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Product-first PoD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6088" y="2084831"/>
            <a:ext cx="1883664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76088" y="219456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dirty="0">
                <a:solidFill>
                  <a:srgbClr val="F5A623"/>
                </a:solidFill>
              </a:rPr>
              <a:t>USP:</a:t>
            </a:r>
          </a:p>
          <a:p>
            <a:pPr algn="l">
              <a:spcBef>
                <a:spcPts val="300"/>
              </a:spcBef>
            </a:pPr>
            <a:r>
              <a:rPr sz="950" b="0" i="0" dirty="0">
                <a:solidFill>
                  <a:srgbClr val="F5F5F5"/>
                </a:solidFill>
              </a:rPr>
              <a:t>Converts art into 70+ product types · lifestyle 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393192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UX pattern: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4-col 1:1 crop · left sidebar · black CTA buttons · no browse chatbot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097280"/>
            <a:ext cx="21031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43800" y="1097280"/>
            <a:ext cx="2103120" cy="64008"/>
          </a:xfrm>
          <a:prstGeom prst="rect">
            <a:avLst/>
          </a:prstGeom>
          <a:solidFill>
            <a:srgbClr val="E4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53527" y="12070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41321"/>
                </a:solidFill>
              </a:rPr>
              <a:t>REDBUBBLE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7" y="1664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Tag-driven discovery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3527" y="2084831"/>
            <a:ext cx="1883664" cy="36576"/>
          </a:xfrm>
          <a:prstGeom prst="rect">
            <a:avLst/>
          </a:prstGeom>
          <a:solidFill>
            <a:srgbClr val="E4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53527" y="219456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USP: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Strong community &amp; trending algo · search-first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7" y="393192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UX pattern: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4–5 col 1:1 · top-bar filters · red brand · bottom-right chat (Zendesk)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1097280"/>
            <a:ext cx="21031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921240" y="1097280"/>
            <a:ext cx="2103120" cy="64008"/>
          </a:xfrm>
          <a:prstGeom prst="rect">
            <a:avLst/>
          </a:prstGeom>
          <a:solidFill>
            <a:srgbClr val="D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30967" y="12070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5A3E"/>
                </a:solidFill>
              </a:rPr>
              <a:t>ARTFINDER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7" y="1664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Curated originals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30967" y="2084831"/>
            <a:ext cx="1883664" cy="36576"/>
          </a:xfrm>
          <a:prstGeom prst="rect">
            <a:avLst/>
          </a:prstGeom>
          <a:solidFill>
            <a:srgbClr val="D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30967" y="219456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USP: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Artist-first narrative · editorial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7" y="3931920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5A623"/>
                </a:solidFill>
              </a:rPr>
              <a:t>UX pattern: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F5F5F5"/>
                </a:solidFill>
              </a:rPr>
              <a:t>3–4 col masonry · left sidebar · warm coral accent · bottom-right chat (Intercom)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GRID &amp; FILTER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The single most consequential UX decision: how artwork is displayed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5A623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Image Aspect Ratio — The Critical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Grid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Aspect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Columns (desktop)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00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Artistic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Visual consistency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11430000" cy="310896"/>
          </a:xfrm>
          <a:prstGeom prst="rect">
            <a:avLst/>
          </a:prstGeom>
          <a:solidFill>
            <a:srgbClr val="2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Etsy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002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002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Forced 1:1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0025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0025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5050"/>
                </a:solidFill>
              </a:rPr>
              <a:t>✗  crops portraits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02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✓ uniform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95144"/>
            <a:ext cx="11430000" cy="3108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331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Society6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331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331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Forced 1:1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331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5050"/>
                </a:solidFill>
              </a:rPr>
              <a:t>✗  crops portraits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31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✓ uniform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24328"/>
            <a:ext cx="11430000" cy="310896"/>
          </a:xfrm>
          <a:prstGeom prst="rect">
            <a:avLst/>
          </a:prstGeom>
          <a:solidFill>
            <a:srgbClr val="2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Redbubble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Forced 1:1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6609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4–5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60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5050"/>
                </a:solidFill>
              </a:rPr>
              <a:t>✗  crops portraits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6609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✓ uniform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53512"/>
            <a:ext cx="11430000" cy="3108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29900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Saatchi 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29900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Masonry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29900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Natural 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29900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990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✓ full 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990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~ variable rows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282696"/>
            <a:ext cx="11430000" cy="310896"/>
          </a:xfrm>
          <a:prstGeom prst="rect">
            <a:avLst/>
          </a:prstGeom>
          <a:solidFill>
            <a:srgbClr val="2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3192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Artfinder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3319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Masonry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3319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Natural ratio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33192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3–4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3192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✓ full composition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~ variable rows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611879"/>
            <a:ext cx="11430000" cy="310896"/>
          </a:xfrm>
          <a:prstGeom prst="rect">
            <a:avLst/>
          </a:prstGeom>
          <a:solidFill>
            <a:srgbClr val="2D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41056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★  Ours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105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Masonry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4105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Natural ratio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36484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E8552A"/>
                </a:solidFill>
              </a:rPr>
              <a:t>2→3→4 responsive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4105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B371"/>
                </a:solidFill>
              </a:rPr>
              <a:t>✓ full composition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41056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B371"/>
                </a:solidFill>
              </a:rPr>
              <a:t>✓ intentional rhythm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977640"/>
            <a:ext cx="5394960" cy="3017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65760" y="3977640"/>
            <a:ext cx="5394960" cy="54864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069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</a:rPr>
              <a:t>FILTER PLACEMENT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526280"/>
            <a:ext cx="5074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5A623"/>
                </a:solidFill>
              </a:rPr>
              <a:t>Left Sidebar (Saatchi, Artfinder, Society6)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5F5F5"/>
                </a:solidFill>
              </a:rPr>
              <a:t>+ More filter space  +  Works for 6+ filter dimensions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5F5F5"/>
                </a:solidFill>
              </a:rPr>
              <a:t>+ Better for desktop-first premium experience</a:t>
            </a:r>
          </a:p>
          <a:p>
            <a:pPr algn="l">
              <a:spcBef>
                <a:spcPts val="0"/>
              </a:spcBef>
            </a:pPr>
            <a:endParaRPr sz="1100" b="0" i="0">
              <a:solidFill>
                <a:srgbClr val="F5F5F5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888899"/>
                </a:solidFill>
              </a:rPr>
              <a:t>Top Bar (Etsy, Redbubble)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8899"/>
                </a:solidFill>
              </a:rPr>
              <a:t>+ More mobile-friendly  –  Limited filter space</a:t>
            </a:r>
          </a:p>
          <a:p>
            <a:pPr algn="l">
              <a:spcBef>
                <a:spcPts val="0"/>
              </a:spcBef>
            </a:pPr>
            <a:endParaRPr sz="1100" b="0" i="0">
              <a:solidFill>
                <a:srgbClr val="888899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8552A"/>
                </a:solidFill>
              </a:rPr>
              <a:t>★  Our choice: Sidebar on desktop (lg:),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E8552A"/>
                </a:solidFill>
              </a:rPr>
              <a:t>    slide-over drawer on mobile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977640"/>
            <a:ext cx="5669280" cy="3017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126480" y="3977640"/>
            <a:ext cx="5669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0936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</a:rPr>
              <a:t>CHATBOT / AI WIDGET PLACEMENT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526280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5A623"/>
                </a:solidFill>
              </a:rPr>
              <a:t>Industry standard: bottom-right floating bubble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5F5F5"/>
                </a:solidFill>
              </a:rPr>
              <a:t>Circle icon, ~52px, appears on support/account pages</a:t>
            </a:r>
          </a:p>
          <a:p>
            <a:pPr algn="l">
              <a:spcBef>
                <a:spcPts val="0"/>
              </a:spcBef>
            </a:pPr>
            <a:endParaRPr sz="1100" b="0" i="0">
              <a:solidFill>
                <a:srgbClr val="F5F5F5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88899"/>
                </a:solidFill>
              </a:rPr>
              <a:t>Redbubble — visible on all pages (intrusive)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8899"/>
                </a:solidFill>
              </a:rPr>
              <a:t>Saatchi / Artfinder — support pages only (better)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888899"/>
                </a:solidFill>
              </a:rPr>
              <a:t>Etsy — no persistent widget (least intrusive)</a:t>
            </a:r>
          </a:p>
          <a:p>
            <a:pPr algn="l">
              <a:spcBef>
                <a:spcPts val="0"/>
              </a:spcBef>
            </a:pPr>
            <a:endParaRPr sz="1100" b="0" i="0">
              <a:solidFill>
                <a:srgbClr val="888899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8552A"/>
                </a:solidFill>
              </a:rPr>
              <a:t>★  Our choice: Dify widget fixed bottom-right,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E8552A"/>
                </a:solidFill>
              </a:rPr>
              <a:t>    shown on ALL pages (AI is a core differentiator)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CARD ANATOMY &amp; COLOUR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What the best-performing platforms show — and what they deliberately omit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E8552A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67665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766560" cy="64008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</a:rPr>
              <a:t>ARTWORK CARD — BEST-OF-BREED ANATOMY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411480" cy="566928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105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73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B371"/>
                </a:solidFill>
              </a:rPr>
              <a:t>Artwork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29967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Full natural aspect ratio — NO crop. Let portraits be tall, landscapes be wide.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87168"/>
            <a:ext cx="411480" cy="5669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23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Artist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779775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Small (12–13px), grey secondary text. Positions the work, not the price.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36976"/>
            <a:ext cx="4114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3101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</a:rPr>
              <a:t>Artwork title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5295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Italic, medium weight (14–15px). Art-world convention signals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86783"/>
            <a:ext cx="411480" cy="5669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5993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Medium / dimensions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793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12px, muted grey. Useful for buyers; doesn't crowd the card.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4114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097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</a:rPr>
              <a:t>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0292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Bold (16px), prominent. Last in hierarchy — leads with art, not commerce.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86400"/>
            <a:ext cx="4114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559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5522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Wishlist heart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7790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Appears on hover at top-right. Low-friction intent signal for AI model.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097280"/>
            <a:ext cx="452628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06640" y="1097280"/>
            <a:ext cx="4526280" cy="64008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0" y="120700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88"/>
                </a:solidFill>
              </a:rPr>
              <a:t>DELIBERATELY OMITTED  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664208"/>
            <a:ext cx="4160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5F5F5"/>
                </a:solidFill>
              </a:rPr>
              <a:t>Star ratings on browse grid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888899"/>
                </a:solidFill>
              </a:rPr>
              <a:t>→ Commoditises art (Amazon feel)</a:t>
            </a:r>
          </a:p>
          <a:p>
            <a:pPr algn="l">
              <a:spcBef>
                <a:spcPts val="0"/>
              </a:spcBef>
            </a:pPr>
            <a:endParaRPr sz="1050" b="0" i="0">
              <a:solidFill>
                <a:srgbClr val="888899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5F5F5"/>
                </a:solidFill>
              </a:rPr>
              <a:t>"Add to Cart" button on hover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888899"/>
                </a:solidFill>
              </a:rPr>
              <a:t>→ Etsy A/B tested this: lower PDV click-through</a:t>
            </a:r>
          </a:p>
          <a:p>
            <a:pPr algn="l">
              <a:spcBef>
                <a:spcPts val="0"/>
              </a:spcBef>
            </a:pPr>
            <a:endParaRPr sz="1050" b="0" i="0">
              <a:solidFill>
                <a:srgbClr val="888899"/>
              </a:solidFill>
            </a:endParaRP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5F5F5"/>
                </a:solidFill>
              </a:rPr>
              <a:t>Hard-cropped thumbnails (1:1)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888899"/>
                </a:solidFill>
              </a:rPr>
              <a:t>→ Destroys portrait compositions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749039"/>
            <a:ext cx="452628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06640" y="3749039"/>
            <a:ext cx="45262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8587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COMPETITOR COLOUR PALETTE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4315968"/>
            <a:ext cx="292608" cy="256032"/>
          </a:xfrm>
          <a:prstGeom prst="rect">
            <a:avLst/>
          </a:prstGeom>
          <a:solidFill>
            <a:srgbClr val="F16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82127" y="433425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Etsy  #F1641E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334255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Warm orange — approachable retail energy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654296"/>
            <a:ext cx="29260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82127" y="467258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Saatchi Art  #000000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672583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Pure black — gallery gravitas, art is colour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992624"/>
            <a:ext cx="292608" cy="2560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82127" y="5010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Society6  #222222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5010912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Near-black — product-focused minimalism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5330952"/>
            <a:ext cx="292608" cy="256032"/>
          </a:xfrm>
          <a:prstGeom prst="rect">
            <a:avLst/>
          </a:prstGeom>
          <a:solidFill>
            <a:srgbClr val="E4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82127" y="5349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Redbubble  #E41321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5349240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Vivid red — community &amp; energy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5669279"/>
            <a:ext cx="292608" cy="256032"/>
          </a:xfrm>
          <a:prstGeom prst="rect">
            <a:avLst/>
          </a:prstGeom>
          <a:solidFill>
            <a:srgbClr val="D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82127" y="568756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Artfinder  #D05A3E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687567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Terracotta — warm approachable premium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6007608"/>
            <a:ext cx="292608" cy="25603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82127" y="6025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★ Ours  #E8552A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6025896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Coral — art-adjacent warmth, distinct from all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Three principles that guide every visual and interaction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33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3320" cy="64008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0352" y="1234440"/>
            <a:ext cx="502920" cy="502920"/>
          </a:xfrm>
          <a:prstGeom prst="ellipse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7451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CB371"/>
                </a:solidFill>
              </a:rPr>
              <a:t>Art First,
Interface Invisible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</a:rPr>
              <a:t>The artwork is the hero. The UI steps back: white backgrounds, minimal chrome, no distracting brand colours competing with the art. Every element earns its place.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4709160"/>
            <a:ext cx="3374136" cy="36576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48280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WHY: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1389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Inspired by Saatchi Art &amp; Artfinder — proven that neutral luxury framing increases perceived artwork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097280"/>
            <a:ext cx="37033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9392" y="1097280"/>
            <a:ext cx="3703320" cy="64008"/>
          </a:xfrm>
          <a:prstGeom prst="rect">
            <a:avLst/>
          </a:prstGeom>
          <a:solidFill>
            <a:srgbClr val="3C7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43984" y="1234440"/>
            <a:ext cx="502920" cy="502920"/>
          </a:xfrm>
          <a:prstGeom prst="ellipse">
            <a:avLst/>
          </a:prstGeom>
          <a:solidFill>
            <a:srgbClr val="3C7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43984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187451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C7DD9"/>
                </a:solidFill>
              </a:rPr>
              <a:t>Masonry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</a:rPr>
              <a:t>Images display at their natural aspect ratio — never cropped, never distorted. A tall portrait painting is tall. A wide landscape is wide. The grid breathes.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4709160"/>
            <a:ext cx="3374136" cy="36576"/>
          </a:xfrm>
          <a:prstGeom prst="rect">
            <a:avLst/>
          </a:prstGeom>
          <a:solidFill>
            <a:srgbClr val="3C7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43984" y="48280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WHY: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51389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Etsy/Society6 force 1:1 crops for grid uniformity. We choose artistic integrity: the CSS columns masonry layout handles rhythm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1097280"/>
            <a:ext cx="3703320" cy="5440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3024" y="1097280"/>
            <a:ext cx="3703320" cy="64008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57616" y="1234440"/>
            <a:ext cx="502920" cy="502920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7616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187451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52A"/>
                </a:solidFill>
              </a:rPr>
              <a:t>Warmth at
Every Touchpoint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</a:rPr>
              <a:t>The coral accent (#E8552A) appears only on CTAs, active states, and AI-powered moments. Everywhere else, we let art provide the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6" y="4709160"/>
            <a:ext cx="3374136" cy="36576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7616" y="48280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WHY: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51389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Artfinder uses a similar terracotta tone. Our coral is warmer and more distinctive — adjacent to art-world aesthetics but immediately recognisable.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COLOUR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A deliberate neutral-plus-one-accent system — the art provides the palette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E8552A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783080" cy="18288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#E8552A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Brand Coral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Primary CTA · active states · AI moments · price highlights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8296" y="1097280"/>
            <a:ext cx="1783080" cy="1828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68296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#0D0D0D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Deep 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8296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Headlines · primary text · logo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097280"/>
            <a:ext cx="1783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1097280"/>
            <a:ext cx="1783080" cy="182880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#F5F5F5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Off-White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Page background · card surfaces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1097280"/>
            <a:ext cx="1783080" cy="1828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1928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#6B7280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Stone Grey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Secondary text · metadata · captions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09728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8744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#1A1A2E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Navy 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Dark sections · hero bg · footer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1097280"/>
            <a:ext cx="1783080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299923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5"/>
                </a:solidFill>
              </a:rPr>
              <a:t>#F5A623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A623"/>
                </a:solidFill>
              </a:rPr>
              <a:t>Warm Gold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730752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Highlights · section labels · AI badge accents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892040"/>
            <a:ext cx="11338560" cy="1691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892040"/>
            <a:ext cx="113385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9834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chemeClr val="bg1"/>
                </a:solidFill>
              </a:rPr>
              <a:t>TYPOGRAPHY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440680"/>
            <a:ext cx="502920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chemeClr val="bg1"/>
                </a:solidFill>
              </a:rPr>
              <a:t>Inter  (Google Fonts, free open-source)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chemeClr val="bg1"/>
                </a:solidFill>
              </a:rPr>
              <a:t>Chosen over proprietary alternatives (Graphik, Proxima Nova) — same humanist sans quality, zero licence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440680"/>
            <a:ext cx="566928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chemeClr val="bg1"/>
                </a:solidFill>
              </a:rPr>
              <a:t>Scale:  48px Hero  ·  32px H1  ·  24px H2  ·  16px body  ·  13px meta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chemeClr val="bg1"/>
                </a:solidFill>
              </a:rPr>
              <a:t>Artwork titles displayed in italic — art-world typographic convention (Saatchi / Artfinder pattern)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chemeClr val="bg1"/>
                </a:solidFill>
              </a:rPr>
              <a:t>Weight: 700 headings  ·  600 price/CTA  ·  400 body  ·  300 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OPEN-SOURCE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Free to use · Open source stack · Open-source LLMs — our technical differentiator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745EE4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822960"/>
          </a:xfrm>
          <a:prstGeom prst="rect">
            <a:avLst/>
          </a:prstGeom>
          <a:solidFill>
            <a:srgbClr val="1A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45EE4"/>
                </a:solidFill>
              </a:rPr>
              <a:t>"Every component of this platform is built on open, auditable, reproducible technology.  Zero proprietary lock-in."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703320" cy="4434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3703320" cy="64008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3703320" cy="45720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671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FREE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Zero cost for artists &amp; buyers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3429000" cy="36576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27248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No listing fees (vs Etsy: 0.20 USD/item)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No transaction commission in POC phase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Print costs passed through at cost price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Artist dashboard &amp; analytics: free forever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Sustainable via optional premium tiers later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2103120"/>
            <a:ext cx="3703320" cy="4434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9392" y="2103120"/>
            <a:ext cx="3703320" cy="64008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2103120"/>
            <a:ext cx="3703320" cy="457200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21671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OPEN-SOURCE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633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Full codebase on GitHub — MIT licence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3017520"/>
            <a:ext cx="3429000" cy="36576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2" y="3127248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Frontend: Vue 3 + Tailwind CSS (MIT)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Backend: FastAPI + SQLAlchemy (MIT)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Workflow engine: Dify (Apache 2.0)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Database: PostgreSQL (PostgreSQL Licence)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Community can fork, audit, contribute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4" y="2103120"/>
            <a:ext cx="3703320" cy="4434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93024" y="2103120"/>
            <a:ext cx="3703320" cy="6400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93024" y="2103120"/>
            <a:ext cx="3703320" cy="45720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1671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OPEN-SOURCE LLMs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2633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No OpenAI/Anthropic API costs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0184" y="3017520"/>
            <a:ext cx="3429000" cy="36576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4" y="3127248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Llama 3.1 / 3.3 (Meta, Llama Community Licence)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Mistral 7B / Mixtral (Apache 2.0)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Self-hosted via Ollama or HuggingFace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Integrated into Dify workflow nodes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F5F5F5"/>
                </a:solidFill>
              </a:rPr>
              <a:t>• Full data privacy — no external API 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49224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A623"/>
                </a:solidFill>
              </a:rPr>
              <a:t>💰  OpenAI GPT-4o API cost at scale: ~$15–60 / 1M tokens     vs     ✓  Llama 3.3 self-hosted: $0 variable cost + server infra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AI STACK: DIFY + OPEN-SOURCE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Two Dify workflows embedded in the platform — zero proprietary model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745EE4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1206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120640" cy="64008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45EE4"/>
                </a:solidFill>
              </a:rPr>
              <a:t>WHAT IS DIFY?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F5F5F5"/>
                </a:solidFill>
              </a:rPr>
              <a:t>Open-source LLM application framework (Apache 2.0)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F5F5F5"/>
                </a:solidFill>
              </a:rPr>
              <a:t>Visual workflow builder — drag-and-drop AI pipeline design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5F5F5"/>
                </a:solidFill>
              </a:rPr>
              <a:t>Supports Ollama · HuggingFace · OpenAI · Anthropic · any API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5F5F5"/>
                </a:solidFill>
              </a:rPr>
              <a:t>Embeds into any website via a single &lt;script&gt; snippet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5F5F5"/>
                </a:solidFill>
              </a:rPr>
              <a:t>Self-hosted on our own server — full data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4754880" cy="36576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OUR TWO DIFY WORKFLOWS: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5F5F5"/>
                </a:solidFill>
              </a:rPr>
              <a:t>1  AI Recommendation Agent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888899"/>
                </a:solidFill>
              </a:rPr>
              <a:t>Analyses user clicks, favourites &amp; dwell time → builds a preference profile → returns ranked artwork IDs via REST</a:t>
            </a:r>
          </a:p>
          <a:p>
            <a:pPr algn="l">
              <a:spcBef>
                <a:spcPts val="0"/>
              </a:spcBef>
            </a:pPr>
            <a:endParaRPr sz="1050" b="0" i="0">
              <a:solidFill>
                <a:srgbClr val="888899"/>
              </a:solidFill>
            </a:endParaRPr>
          </a:p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5F5F5"/>
                </a:solidFill>
              </a:rPr>
              <a:t>2  AI Customer Service Chatbot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888899"/>
                </a:solidFill>
              </a:rPr>
              <a:t>Embedded bottom-right on all pages · answers FAQs · guides order queries · escalates to human when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097280"/>
            <a:ext cx="60807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097280"/>
            <a:ext cx="6080760" cy="6400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23444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000"/>
                </a:solidFill>
              </a:rPr>
              <a:t>OPEN-SOURCE LLM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6916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6916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Licence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6916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Params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916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Best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16916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2048256"/>
            <a:ext cx="6080760" cy="621792"/>
          </a:xfrm>
          <a:prstGeom prst="rect">
            <a:avLst/>
          </a:prstGeom>
          <a:solidFill>
            <a:srgbClr val="2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221284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Llama 3.3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Meta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70B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1284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Reasoning ·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2128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$0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2706624"/>
            <a:ext cx="60807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287121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Llama 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871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Meta 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871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8B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87121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Fast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87121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$0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3364992"/>
            <a:ext cx="6080760" cy="621792"/>
          </a:xfrm>
          <a:prstGeom prst="rect">
            <a:avLst/>
          </a:prstGeom>
          <a:solidFill>
            <a:srgbClr val="2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52958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Mistral 7B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5295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Apache 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5295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7B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52958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Multilingual · fast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352958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$0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4023360"/>
            <a:ext cx="60807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418795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Mixtral 8×7B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Apache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187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47B MoE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18795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Complex reasoning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18795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$0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4681728"/>
            <a:ext cx="6080760" cy="621792"/>
          </a:xfrm>
          <a:prstGeom prst="rect">
            <a:avLst/>
          </a:prstGeom>
          <a:solidFill>
            <a:srgbClr val="2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0" y="48463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Phi-3 Mini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846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3.8B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48463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Edge / lightweight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4846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B371"/>
                </a:solidFill>
              </a:rPr>
              <a:t>$0 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0" y="5340096"/>
            <a:ext cx="6080760" cy="621792"/>
          </a:xfrm>
          <a:prstGeom prst="rect">
            <a:avLst/>
          </a:prstGeom>
          <a:solidFill>
            <a:srgbClr val="1C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52160" y="5385816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★ Our choice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5385816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385816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7–70B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5385816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552A"/>
                </a:solidFill>
              </a:rPr>
              <a:t>Dify node: Llama 3.1 (8B) default, Llama 3.3 (70B) for complex tasks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5385816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52A"/>
                </a:solidFill>
              </a:rPr>
              <a:t>Self-hosted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Where we sit in the landscape — and why that gap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5A623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3771900"/>
            <a:ext cx="10058400" cy="457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57900" y="1691640"/>
            <a:ext cx="45720" cy="420624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35935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CB371"/>
                </a:solidFill>
              </a:rPr>
              <a:t>Open-Source / Free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6309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Commercial / Retail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99"/>
                </a:solidFill>
              </a:rPr>
              <a:t>Gallery / Premium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5029200"/>
            <a:ext cx="365760" cy="365760"/>
          </a:xfrm>
          <a:prstGeom prst="ellipse">
            <a:avLst/>
          </a:prstGeom>
          <a:solidFill>
            <a:srgbClr val="F16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5440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1641E"/>
                </a:solidFill>
              </a:rPr>
              <a:t>Etsy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0" y="457200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920" y="4983480"/>
            <a:ext cx="1097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chemeClr val="accent3"/>
                </a:solidFill>
              </a:rPr>
              <a:t>Society6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4846320"/>
            <a:ext cx="365760" cy="365760"/>
          </a:xfrm>
          <a:prstGeom prst="ellipse">
            <a:avLst/>
          </a:prstGeom>
          <a:solidFill>
            <a:srgbClr val="E4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52578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41321"/>
                </a:solidFill>
              </a:rPr>
              <a:t>Redbubble</a:t>
            </a:r>
          </a:p>
        </p:txBody>
      </p:sp>
      <p:sp>
        <p:nvSpPr>
          <p:cNvPr id="20" name="Oval 19"/>
          <p:cNvSpPr/>
          <p:nvPr/>
        </p:nvSpPr>
        <p:spPr>
          <a:xfrm>
            <a:off x="3749039" y="182880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83279" y="2240280"/>
            <a:ext cx="1097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chemeClr val="accent3"/>
                </a:solidFill>
              </a:rPr>
              <a:t>Saatchi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2377439"/>
            <a:ext cx="365760" cy="365760"/>
          </a:xfrm>
          <a:prstGeom prst="ellipse">
            <a:avLst/>
          </a:prstGeom>
          <a:solidFill>
            <a:srgbClr val="D0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2788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5A3E"/>
                </a:solidFill>
              </a:rPr>
              <a:t>Artfinder</a:t>
            </a:r>
          </a:p>
        </p:txBody>
      </p:sp>
      <p:sp>
        <p:nvSpPr>
          <p:cNvPr id="24" name="Oval 23"/>
          <p:cNvSpPr/>
          <p:nvPr/>
        </p:nvSpPr>
        <p:spPr>
          <a:xfrm>
            <a:off x="9345168" y="1435608"/>
            <a:ext cx="512064" cy="512064"/>
          </a:xfrm>
          <a:prstGeom prst="ellipse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199339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E8552A"/>
                </a:solidFill>
              </a:rPr>
              <a:t>ArtCanvas</a:t>
            </a:r>
            <a:endParaRPr sz="1100" b="1" i="0" dirty="0">
              <a:solidFill>
                <a:srgbClr val="E8552A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C8523B1-30C3-5BED-E70C-13CAD191C2C3}"/>
              </a:ext>
            </a:extLst>
          </p:cNvPr>
          <p:cNvGrpSpPr/>
          <p:nvPr/>
        </p:nvGrpSpPr>
        <p:grpSpPr>
          <a:xfrm>
            <a:off x="-157734" y="1211580"/>
            <a:ext cx="3474720" cy="5212080"/>
            <a:chOff x="-11430" y="1170432"/>
            <a:chExt cx="3474720" cy="5212080"/>
          </a:xfrm>
        </p:grpSpPr>
        <p:sp>
          <p:nvSpPr>
            <p:cNvPr id="10" name="TextBox 9"/>
            <p:cNvSpPr txBox="1"/>
            <p:nvPr/>
          </p:nvSpPr>
          <p:spPr>
            <a:xfrm>
              <a:off x="80010" y="3593592"/>
              <a:ext cx="2286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888899"/>
                  </a:solidFill>
                </a:rPr>
                <a:t>← Closed / Proprietary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11430" y="1170432"/>
              <a:ext cx="3474720" cy="5212080"/>
            </a:xfrm>
            <a:prstGeom prst="rect">
              <a:avLst/>
            </a:prstGeom>
            <a:solidFill>
              <a:srgbClr val="1621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-11430" y="1170432"/>
              <a:ext cx="3474720" cy="64008"/>
            </a:xfrm>
            <a:prstGeom prst="rect">
              <a:avLst/>
            </a:prstGeom>
            <a:solidFill>
              <a:srgbClr val="E855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1450" y="1261872"/>
              <a:ext cx="32004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E8552A"/>
                  </a:solidFill>
                </a:rPr>
                <a:t>OUR UNIQUE POSITION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1450" y="1719072"/>
              <a:ext cx="3200400" cy="4480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sz="1100" b="1" i="0">
                  <a:solidFill>
                    <a:srgbClr val="F5A623"/>
                  </a:solidFill>
                </a:rPr>
                <a:t>No competitor combines:</a:t>
              </a:r>
            </a:p>
            <a:p>
              <a:pPr algn="l">
                <a:spcBef>
                  <a:spcPts val="0"/>
                </a:spcBef>
              </a:pPr>
              <a:endParaRPr sz="1100" b="1" i="0">
                <a:solidFill>
                  <a:srgbClr val="F5A623"/>
                </a:solidFill>
              </a:endParaRPr>
            </a:p>
            <a:p>
              <a:pPr algn="l">
                <a:spcBef>
                  <a:spcPts val="0"/>
                </a:spcBef>
              </a:pPr>
              <a:r>
                <a:rPr sz="1100" b="0" i="0">
                  <a:solidFill>
                    <a:srgbClr val="F5F5F5"/>
                  </a:solidFill>
                </a:rPr>
                <a:t>✓  Gallery-quality UX</a:t>
              </a:r>
            </a:p>
            <a:p>
              <a:pPr algn="l">
                <a:spcBef>
                  <a:spcPts val="200"/>
                </a:spcBef>
              </a:pPr>
              <a:r>
                <a:rPr sz="1000" b="0" i="0">
                  <a:solidFill>
                    <a:srgbClr val="888899"/>
                  </a:solidFill>
                </a:rPr>
                <a:t>   (masonry · natural ratios)</a:t>
              </a:r>
            </a:p>
            <a:p>
              <a:pPr algn="l">
                <a:spcBef>
                  <a:spcPts val="0"/>
                </a:spcBef>
              </a:pPr>
              <a:endParaRPr sz="1000" b="0" i="0">
                <a:solidFill>
                  <a:srgbClr val="888899"/>
                </a:solidFill>
              </a:endParaRPr>
            </a:p>
            <a:p>
              <a:pPr algn="l">
                <a:spcBef>
                  <a:spcPts val="0"/>
                </a:spcBef>
              </a:pPr>
              <a:r>
                <a:rPr sz="1100" b="0" i="0">
                  <a:solidFill>
                    <a:srgbClr val="F5F5F5"/>
                  </a:solidFill>
                </a:rPr>
                <a:t>✓  Zero cost for users</a:t>
              </a:r>
            </a:p>
            <a:p>
              <a:pPr algn="l">
                <a:spcBef>
                  <a:spcPts val="200"/>
                </a:spcBef>
              </a:pPr>
              <a:r>
                <a:rPr sz="1000" b="0" i="0">
                  <a:solidFill>
                    <a:srgbClr val="888899"/>
                  </a:solidFill>
                </a:rPr>
                <a:t>   (no listing / transaction fees)</a:t>
              </a:r>
            </a:p>
            <a:p>
              <a:pPr algn="l">
                <a:spcBef>
                  <a:spcPts val="0"/>
                </a:spcBef>
              </a:pPr>
              <a:endParaRPr sz="1000" b="0" i="0">
                <a:solidFill>
                  <a:srgbClr val="888899"/>
                </a:solidFill>
              </a:endParaRPr>
            </a:p>
            <a:p>
              <a:pPr algn="l">
                <a:spcBef>
                  <a:spcPts val="0"/>
                </a:spcBef>
              </a:pPr>
              <a:r>
                <a:rPr sz="1100" b="0" i="0">
                  <a:solidFill>
                    <a:srgbClr val="F5F5F5"/>
                  </a:solidFill>
                </a:rPr>
                <a:t>✓  Open-source codebase</a:t>
              </a:r>
            </a:p>
            <a:p>
              <a:pPr algn="l">
                <a:spcBef>
                  <a:spcPts val="200"/>
                </a:spcBef>
              </a:pPr>
              <a:r>
                <a:rPr sz="1000" b="0" i="0">
                  <a:solidFill>
                    <a:srgbClr val="888899"/>
                  </a:solidFill>
                </a:rPr>
                <a:t>   (MIT licence · community)</a:t>
              </a:r>
            </a:p>
            <a:p>
              <a:pPr algn="l">
                <a:spcBef>
                  <a:spcPts val="0"/>
                </a:spcBef>
              </a:pPr>
              <a:endParaRPr sz="1000" b="0" i="0">
                <a:solidFill>
                  <a:srgbClr val="888899"/>
                </a:solidFill>
              </a:endParaRPr>
            </a:p>
            <a:p>
              <a:pPr algn="l">
                <a:spcBef>
                  <a:spcPts val="0"/>
                </a:spcBef>
              </a:pPr>
              <a:r>
                <a:rPr sz="1100" b="0" i="0">
                  <a:solidFill>
                    <a:srgbClr val="F5F5F5"/>
                  </a:solidFill>
                </a:rPr>
                <a:t>✓  AI-first recommendation</a:t>
              </a:r>
            </a:p>
            <a:p>
              <a:pPr algn="l">
                <a:spcBef>
                  <a:spcPts val="200"/>
                </a:spcBef>
              </a:pPr>
              <a:r>
                <a:rPr sz="1000" b="0" i="0">
                  <a:solidFill>
                    <a:srgbClr val="888899"/>
                  </a:solidFill>
                </a:rPr>
                <a:t>   (Dify + Llama, self-hosted)</a:t>
              </a:r>
            </a:p>
            <a:p>
              <a:pPr algn="l">
                <a:spcBef>
                  <a:spcPts val="0"/>
                </a:spcBef>
              </a:pPr>
              <a:endParaRPr sz="1000" b="0" i="0">
                <a:solidFill>
                  <a:srgbClr val="888899"/>
                </a:solidFill>
              </a:endParaRPr>
            </a:p>
            <a:p>
              <a:pPr algn="l">
                <a:spcBef>
                  <a:spcPts val="0"/>
                </a:spcBef>
              </a:pPr>
              <a:r>
                <a:rPr sz="1100" b="0" i="0">
                  <a:solidFill>
                    <a:srgbClr val="F5F5F5"/>
                  </a:solidFill>
                </a:rPr>
                <a:t>✓  Print-on-demand (€0 stock)</a:t>
              </a:r>
            </a:p>
            <a:p>
              <a:pPr algn="l">
                <a:spcBef>
                  <a:spcPts val="200"/>
                </a:spcBef>
              </a:pPr>
              <a:r>
                <a:rPr sz="1000" b="0" i="0">
                  <a:solidFill>
                    <a:srgbClr val="888899"/>
                  </a:solidFill>
                </a:rPr>
                <a:t>   (Gelato / Printful API)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F5F5"/>
                </a:solidFill>
              </a:rPr>
              <a:t>DESIGN SYSTEM — COMPONENT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Every component implemented in Vue 3 + Tailwind CSS · production-ready scaffold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9144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E8552A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64008"/>
          </a:xfrm>
          <a:prstGeom prst="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B883"/>
                </a:solidFill>
              </a:rPr>
              <a:t>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7335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AppHeader.vue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AppFooter.vue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DifyChat.vue (stub)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49039" cy="64008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2527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B371"/>
                </a:solidFill>
              </a:rPr>
              <a:t>Artwork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67335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ArtworkCard.vue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ArtworkFilters.vue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ArtworkGrid (masonry)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3749039" cy="64008"/>
          </a:xfrm>
          <a:prstGeom prst="rect">
            <a:avLst/>
          </a:prstGeom>
          <a:solidFill>
            <a:srgbClr val="3C7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1729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7DD9"/>
                </a:solidFill>
              </a:rPr>
              <a:t>Views /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59359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HomeView.vue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BrowseView.vue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ArtworkDetailView.vue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CartView.vue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6324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3063240"/>
            <a:ext cx="37490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31729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State (Pinia)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59359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cart.js store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artworks.js store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cart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983480"/>
            <a:ext cx="3749039" cy="6400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5093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000"/>
                </a:solidFill>
              </a:rPr>
              <a:t>API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51383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artworks.js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orders.js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axios + /api proxy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983480"/>
            <a:ext cx="3749039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80" y="4983480"/>
            <a:ext cx="3749039" cy="64008"/>
          </a:xfrm>
          <a:prstGeom prst="rect">
            <a:avLst/>
          </a:prstGeom>
          <a:solidFill>
            <a:srgbClr val="745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5093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45EE4"/>
                </a:solidFill>
              </a:rPr>
              <a:t>AI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51383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DifyChat.vue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VITE_DIFY_TOKEN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#dify-chat-root anchor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5F5F5"/>
                </a:solidFill>
              </a:rPr>
              <a:t>· Workflow 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143000"/>
            <a:ext cx="36576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114300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123444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accent3"/>
                </a:solidFill>
              </a:rPr>
              <a:t>KEY TECHNICAL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737360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chemeClr val="accent3"/>
                </a:solidFill>
              </a:rPr>
              <a:t>Tailwind @tailwindcss/vite plugin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011679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No PostCSS config needed — fastest build 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350008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2414015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CSS columns masonry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88335"/>
            <a:ext cx="32918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No JS library (e.g. Masonry.js) needed — pure CSS, zero runtime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026663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3090672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Pinia over Vuex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364991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Simpler API, native TypeScript support, smaller bundle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703320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3767327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Axios with /api proxy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041647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Vite dev proxy to :8000 — no CORS issues in development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379975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4443983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Lazy-loaded routes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718303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() =&gt; import() on all views — initial bundle stays minimal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5056631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0" y="5120640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Natural img aspect-ratio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394959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img { height: auto } — browser handles ratio, no JS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5733288"/>
            <a:ext cx="3291840" cy="27432"/>
          </a:xfrm>
          <a:prstGeom prst="rect">
            <a:avLst/>
          </a:prstGeom>
          <a:solidFill>
            <a:srgbClr val="DD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03920" y="5797296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accent3"/>
                </a:solidFill>
              </a:rPr>
              <a:t>Dify embed via script 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6071616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accent3"/>
                </a:solidFill>
              </a:rPr>
              <a:t>Zero Vue dependency — widget injected by Dify's own 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834640"/>
            <a:ext cx="11914632" cy="54864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5"/>
                </a:solidFill>
              </a:rPr>
              <a:t>DIGITAL ART PAINTINGS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623"/>
                </a:solidFill>
              </a:rPr>
              <a:t>AI-Powered  ·  Open-Source  ·  Free to Use  ·  Print-on-Demand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552A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159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5F5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888899"/>
                </a:solidFill>
              </a:rPr>
              <a:t>Vue 3 + Tailwind CSS   ·   FastAPI   ·   Dify (Apache 2.0)   ·   Llama 3 / Mistral (Open-Source LLMs)</a:t>
            </a:r>
          </a:p>
          <a:p>
            <a:pPr algn="ctr">
              <a:spcBef>
                <a:spcPts val="1000"/>
              </a:spcBef>
            </a:pPr>
            <a:r>
              <a:rPr sz="1100" b="0" i="0">
                <a:solidFill>
                  <a:srgbClr val="888899"/>
                </a:solidFill>
              </a:rPr>
              <a:t>Yuhao Huang  ·  Yinghui Ren  ·  Nelson Kamteu  ·  Lena Makri  ·  Berena Malio  ·  Junior Mevi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1862</Words>
  <Application>Microsoft Office PowerPoint</Application>
  <PresentationFormat>自定义</PresentationFormat>
  <Paragraphs>351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黄禹豪</dc:creator>
  <cp:keywords/>
  <dc:description>generated using python-pptx</dc:description>
  <cp:lastModifiedBy>禹豪 黄</cp:lastModifiedBy>
  <cp:revision>3</cp:revision>
  <dcterms:created xsi:type="dcterms:W3CDTF">2013-01-27T09:14:16Z</dcterms:created>
  <dcterms:modified xsi:type="dcterms:W3CDTF">2026-05-06T06:39:39Z</dcterms:modified>
  <cp:category/>
</cp:coreProperties>
</file>