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snapToObjects="1">
      <p:cViewPr varScale="1">
        <p:scale>
          <a:sx n="149" d="100"/>
          <a:sy n="149" d="100"/>
        </p:scale>
        <p:origin x="684" y="1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601200" y="1097280"/>
            <a:ext cx="2011680" cy="2011680"/>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058400" y="1554480"/>
            <a:ext cx="2011680" cy="2011680"/>
          </a:xfrm>
          <a:prstGeom prst="rect">
            <a:avLst/>
          </a:prstGeom>
          <a:solidFill>
            <a:srgbClr val="1A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0"/>
            <a:ext cx="5486400" cy="1280160"/>
          </a:xfrm>
          <a:prstGeom prst="rect">
            <a:avLst/>
          </a:prstGeom>
          <a:noFill/>
        </p:spPr>
        <p:txBody>
          <a:bodyPr wrap="square">
            <a:spAutoFit/>
          </a:bodyPr>
          <a:lstStyle/>
          <a:p>
            <a:pPr algn="l"/>
            <a:r>
              <a:rPr sz="8000" b="1" i="1">
                <a:solidFill>
                  <a:srgbClr val="FFFFFF"/>
                </a:solidFill>
              </a:rPr>
              <a:t>ArtEx</a:t>
            </a:r>
          </a:p>
        </p:txBody>
      </p:sp>
      <p:sp>
        <p:nvSpPr>
          <p:cNvPr id="6" name="TextBox 5"/>
          <p:cNvSpPr txBox="1"/>
          <p:nvPr/>
        </p:nvSpPr>
        <p:spPr>
          <a:xfrm>
            <a:off x="548640" y="2286000"/>
            <a:ext cx="8229600" cy="731520"/>
          </a:xfrm>
          <a:prstGeom prst="rect">
            <a:avLst/>
          </a:prstGeom>
          <a:noFill/>
        </p:spPr>
        <p:txBody>
          <a:bodyPr wrap="square">
            <a:spAutoFit/>
          </a:bodyPr>
          <a:lstStyle/>
          <a:p>
            <a:pPr algn="l"/>
            <a:r>
              <a:rPr sz="3600" b="0" i="0">
                <a:solidFill>
                  <a:srgbClr val="CCCCDD"/>
                </a:solidFill>
              </a:rPr>
              <a:t>Competitor Analysis</a:t>
            </a:r>
          </a:p>
        </p:txBody>
      </p:sp>
      <p:cxnSp>
        <p:nvCxnSpPr>
          <p:cNvPr id="7" name="Connector 6"/>
          <p:cNvCxnSpPr/>
          <p:nvPr/>
        </p:nvCxnSpPr>
        <p:spPr>
          <a:xfrm>
            <a:off x="548640" y="3063240"/>
            <a:ext cx="4572000" cy="0"/>
          </a:xfrm>
          <a:prstGeom prst="line">
            <a:avLst/>
          </a:prstGeom>
          <a:ln w="25400">
            <a:solidFill>
              <a:srgbClr val="E8552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3200400"/>
            <a:ext cx="8229600" cy="457200"/>
          </a:xfrm>
          <a:prstGeom prst="rect">
            <a:avLst/>
          </a:prstGeom>
          <a:noFill/>
        </p:spPr>
        <p:txBody>
          <a:bodyPr wrap="square">
            <a:spAutoFit/>
          </a:bodyPr>
          <a:lstStyle/>
          <a:p>
            <a:pPr algn="l"/>
            <a:r>
              <a:rPr sz="1400" b="0" i="1">
                <a:solidFill>
                  <a:srgbClr val="888899"/>
                </a:solidFill>
              </a:rPr>
              <a:t>Positioning · Strengths · Weaknesses · Differentiation</a:t>
            </a:r>
          </a:p>
        </p:txBody>
      </p:sp>
      <p:sp>
        <p:nvSpPr>
          <p:cNvPr id="9" name="TextBox 8"/>
          <p:cNvSpPr txBox="1"/>
          <p:nvPr/>
        </p:nvSpPr>
        <p:spPr>
          <a:xfrm>
            <a:off x="548640" y="5943600"/>
            <a:ext cx="7315200" cy="365760"/>
          </a:xfrm>
          <a:prstGeom prst="rect">
            <a:avLst/>
          </a:prstGeom>
          <a:noFill/>
        </p:spPr>
        <p:txBody>
          <a:bodyPr wrap="square">
            <a:spAutoFit/>
          </a:bodyPr>
          <a:lstStyle/>
          <a:p>
            <a:pPr algn="l"/>
            <a:r>
              <a:rPr sz="1000" b="0" i="0" dirty="0">
                <a:solidFill>
                  <a:srgbClr val="888899"/>
                </a:solidFill>
              </a:rPr>
              <a:t>EFREI Paris — Innovation Project 2025–2026</a:t>
            </a:r>
          </a:p>
        </p:txBody>
      </p:sp>
      <p:sp>
        <p:nvSpPr>
          <p:cNvPr id="10" name="TextBox 9"/>
          <p:cNvSpPr txBox="1"/>
          <p:nvPr/>
        </p:nvSpPr>
        <p:spPr>
          <a:xfrm>
            <a:off x="548640" y="6263640"/>
            <a:ext cx="10972800" cy="365760"/>
          </a:xfrm>
          <a:prstGeom prst="rect">
            <a:avLst/>
          </a:prstGeom>
          <a:noFill/>
        </p:spPr>
        <p:txBody>
          <a:bodyPr wrap="square">
            <a:spAutoFit/>
          </a:bodyPr>
          <a:lstStyle/>
          <a:p>
            <a:pPr algn="l"/>
            <a:r>
              <a:rPr sz="900" b="0" i="0" dirty="0">
                <a:solidFill>
                  <a:srgbClr val="555566"/>
                </a:solidFill>
              </a:rPr>
              <a:t>Team: Yuhao Huang · </a:t>
            </a:r>
            <a:r>
              <a:rPr sz="900" b="0" i="0" dirty="0" err="1">
                <a:solidFill>
                  <a:srgbClr val="555566"/>
                </a:solidFill>
              </a:rPr>
              <a:t>Yinghui</a:t>
            </a:r>
            <a:r>
              <a:rPr sz="900" b="0" i="0" dirty="0">
                <a:solidFill>
                  <a:srgbClr val="555566"/>
                </a:solidFill>
              </a:rPr>
              <a:t> Ren · Lena Makri · Berena-Jackie · Nelson-Harold · Junior Mevi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OVERVIEW</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Agenda</a:t>
            </a:r>
          </a:p>
        </p:txBody>
      </p:sp>
      <p:sp>
        <p:nvSpPr>
          <p:cNvPr id="5" name="Rectangle 4"/>
          <p:cNvSpPr/>
          <p:nvPr/>
        </p:nvSpPr>
        <p:spPr>
          <a:xfrm>
            <a:off x="548640" y="1828800"/>
            <a:ext cx="502920" cy="502920"/>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01952"/>
            <a:ext cx="502920" cy="365760"/>
          </a:xfrm>
          <a:prstGeom prst="rect">
            <a:avLst/>
          </a:prstGeom>
          <a:noFill/>
        </p:spPr>
        <p:txBody>
          <a:bodyPr wrap="square">
            <a:spAutoFit/>
          </a:bodyPr>
          <a:lstStyle/>
          <a:p>
            <a:pPr algn="ctr"/>
            <a:r>
              <a:rPr sz="1300" b="1" i="0">
                <a:solidFill>
                  <a:srgbClr val="FFFFFF"/>
                </a:solidFill>
              </a:rPr>
              <a:t>01</a:t>
            </a:r>
          </a:p>
        </p:txBody>
      </p:sp>
      <p:sp>
        <p:nvSpPr>
          <p:cNvPr id="7" name="TextBox 6"/>
          <p:cNvSpPr txBox="1"/>
          <p:nvPr/>
        </p:nvSpPr>
        <p:spPr>
          <a:xfrm>
            <a:off x="1234440" y="1847088"/>
            <a:ext cx="5486400" cy="320040"/>
          </a:xfrm>
          <a:prstGeom prst="rect">
            <a:avLst/>
          </a:prstGeom>
          <a:noFill/>
        </p:spPr>
        <p:txBody>
          <a:bodyPr wrap="square">
            <a:spAutoFit/>
          </a:bodyPr>
          <a:lstStyle/>
          <a:p>
            <a:pPr algn="l"/>
            <a:r>
              <a:rPr sz="1400" b="1" i="0">
                <a:solidFill>
                  <a:srgbClr val="FFFFFF"/>
                </a:solidFill>
              </a:rPr>
              <a:t>Competitor 1 — Artsy</a:t>
            </a:r>
          </a:p>
        </p:txBody>
      </p:sp>
      <p:sp>
        <p:nvSpPr>
          <p:cNvPr id="8" name="TextBox 7"/>
          <p:cNvSpPr txBox="1"/>
          <p:nvPr/>
        </p:nvSpPr>
        <p:spPr>
          <a:xfrm>
            <a:off x="1234440" y="2130552"/>
            <a:ext cx="5486400" cy="228600"/>
          </a:xfrm>
          <a:prstGeom prst="rect">
            <a:avLst/>
          </a:prstGeom>
          <a:noFill/>
        </p:spPr>
        <p:txBody>
          <a:bodyPr wrap="square">
            <a:spAutoFit/>
          </a:bodyPr>
          <a:lstStyle/>
          <a:p>
            <a:pPr algn="l"/>
            <a:r>
              <a:rPr sz="1000" b="0" i="1">
                <a:solidFill>
                  <a:srgbClr val="888899"/>
                </a:solidFill>
              </a:rPr>
              <a:t>Online Art Marketplace</a:t>
            </a:r>
          </a:p>
        </p:txBody>
      </p:sp>
      <p:sp>
        <p:nvSpPr>
          <p:cNvPr id="9" name="Rectangle 8"/>
          <p:cNvSpPr/>
          <p:nvPr/>
        </p:nvSpPr>
        <p:spPr>
          <a:xfrm>
            <a:off x="548640" y="2542032"/>
            <a:ext cx="502920" cy="502920"/>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615184"/>
            <a:ext cx="502920" cy="365760"/>
          </a:xfrm>
          <a:prstGeom prst="rect">
            <a:avLst/>
          </a:prstGeom>
          <a:noFill/>
        </p:spPr>
        <p:txBody>
          <a:bodyPr wrap="square">
            <a:spAutoFit/>
          </a:bodyPr>
          <a:lstStyle/>
          <a:p>
            <a:pPr algn="ctr"/>
            <a:r>
              <a:rPr sz="1300" b="1" i="0">
                <a:solidFill>
                  <a:srgbClr val="FFFFFF"/>
                </a:solidFill>
              </a:rPr>
              <a:t>02</a:t>
            </a:r>
          </a:p>
        </p:txBody>
      </p:sp>
      <p:sp>
        <p:nvSpPr>
          <p:cNvPr id="11" name="TextBox 10"/>
          <p:cNvSpPr txBox="1"/>
          <p:nvPr/>
        </p:nvSpPr>
        <p:spPr>
          <a:xfrm>
            <a:off x="1234440" y="2560320"/>
            <a:ext cx="5486400" cy="320040"/>
          </a:xfrm>
          <a:prstGeom prst="rect">
            <a:avLst/>
          </a:prstGeom>
          <a:noFill/>
        </p:spPr>
        <p:txBody>
          <a:bodyPr wrap="square">
            <a:spAutoFit/>
          </a:bodyPr>
          <a:lstStyle/>
          <a:p>
            <a:pPr algn="l"/>
            <a:r>
              <a:rPr sz="1400" b="1" i="0">
                <a:solidFill>
                  <a:srgbClr val="FFFFFF"/>
                </a:solidFill>
              </a:rPr>
              <a:t>Competitor 2 — OpenSea</a:t>
            </a:r>
          </a:p>
        </p:txBody>
      </p:sp>
      <p:sp>
        <p:nvSpPr>
          <p:cNvPr id="12" name="TextBox 11"/>
          <p:cNvSpPr txBox="1"/>
          <p:nvPr/>
        </p:nvSpPr>
        <p:spPr>
          <a:xfrm>
            <a:off x="1234440" y="2843784"/>
            <a:ext cx="5486400" cy="228600"/>
          </a:xfrm>
          <a:prstGeom prst="rect">
            <a:avLst/>
          </a:prstGeom>
          <a:noFill/>
        </p:spPr>
        <p:txBody>
          <a:bodyPr wrap="square">
            <a:spAutoFit/>
          </a:bodyPr>
          <a:lstStyle/>
          <a:p>
            <a:pPr algn="l"/>
            <a:r>
              <a:rPr sz="1000" b="0" i="1">
                <a:solidFill>
                  <a:srgbClr val="888899"/>
                </a:solidFill>
              </a:rPr>
              <a:t>NFT Trading Platform</a:t>
            </a:r>
          </a:p>
        </p:txBody>
      </p:sp>
      <p:sp>
        <p:nvSpPr>
          <p:cNvPr id="13" name="Rectangle 12"/>
          <p:cNvSpPr/>
          <p:nvPr/>
        </p:nvSpPr>
        <p:spPr>
          <a:xfrm>
            <a:off x="548640" y="3255264"/>
            <a:ext cx="502920" cy="502920"/>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328416"/>
            <a:ext cx="502920" cy="365760"/>
          </a:xfrm>
          <a:prstGeom prst="rect">
            <a:avLst/>
          </a:prstGeom>
          <a:noFill/>
        </p:spPr>
        <p:txBody>
          <a:bodyPr wrap="square">
            <a:spAutoFit/>
          </a:bodyPr>
          <a:lstStyle/>
          <a:p>
            <a:pPr algn="ctr"/>
            <a:r>
              <a:rPr sz="1300" b="1" i="0">
                <a:solidFill>
                  <a:srgbClr val="FFFFFF"/>
                </a:solidFill>
              </a:rPr>
              <a:t>03</a:t>
            </a:r>
          </a:p>
        </p:txBody>
      </p:sp>
      <p:sp>
        <p:nvSpPr>
          <p:cNvPr id="15" name="TextBox 14"/>
          <p:cNvSpPr txBox="1"/>
          <p:nvPr/>
        </p:nvSpPr>
        <p:spPr>
          <a:xfrm>
            <a:off x="1234440" y="3273552"/>
            <a:ext cx="5486400" cy="320040"/>
          </a:xfrm>
          <a:prstGeom prst="rect">
            <a:avLst/>
          </a:prstGeom>
          <a:noFill/>
        </p:spPr>
        <p:txBody>
          <a:bodyPr wrap="square">
            <a:spAutoFit/>
          </a:bodyPr>
          <a:lstStyle/>
          <a:p>
            <a:pPr algn="l"/>
            <a:r>
              <a:rPr sz="1400" b="1" i="0">
                <a:solidFill>
                  <a:srgbClr val="FFFFFF"/>
                </a:solidFill>
              </a:rPr>
              <a:t>Market Positioning</a:t>
            </a:r>
          </a:p>
        </p:txBody>
      </p:sp>
      <p:sp>
        <p:nvSpPr>
          <p:cNvPr id="16" name="TextBox 15"/>
          <p:cNvSpPr txBox="1"/>
          <p:nvPr/>
        </p:nvSpPr>
        <p:spPr>
          <a:xfrm>
            <a:off x="1234440" y="3557016"/>
            <a:ext cx="5486400" cy="228600"/>
          </a:xfrm>
          <a:prstGeom prst="rect">
            <a:avLst/>
          </a:prstGeom>
          <a:noFill/>
        </p:spPr>
        <p:txBody>
          <a:bodyPr wrap="square">
            <a:spAutoFit/>
          </a:bodyPr>
          <a:lstStyle/>
          <a:p>
            <a:pPr algn="l"/>
            <a:r>
              <a:rPr sz="1000" b="0" i="1">
                <a:solidFill>
                  <a:srgbClr val="888899"/>
                </a:solidFill>
              </a:rPr>
              <a:t>Trading Platform vs. Art Marketplace</a:t>
            </a:r>
          </a:p>
        </p:txBody>
      </p:sp>
      <p:sp>
        <p:nvSpPr>
          <p:cNvPr id="17" name="Rectangle 16"/>
          <p:cNvSpPr/>
          <p:nvPr/>
        </p:nvSpPr>
        <p:spPr>
          <a:xfrm>
            <a:off x="548640" y="3968496"/>
            <a:ext cx="502920" cy="502920"/>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4041648"/>
            <a:ext cx="502920" cy="365760"/>
          </a:xfrm>
          <a:prstGeom prst="rect">
            <a:avLst/>
          </a:prstGeom>
          <a:noFill/>
        </p:spPr>
        <p:txBody>
          <a:bodyPr wrap="square">
            <a:spAutoFit/>
          </a:bodyPr>
          <a:lstStyle/>
          <a:p>
            <a:pPr algn="ctr"/>
            <a:r>
              <a:rPr sz="1300" b="1" i="0">
                <a:solidFill>
                  <a:srgbClr val="FFFFFF"/>
                </a:solidFill>
              </a:rPr>
              <a:t>04</a:t>
            </a:r>
          </a:p>
        </p:txBody>
      </p:sp>
      <p:sp>
        <p:nvSpPr>
          <p:cNvPr id="19" name="TextBox 18"/>
          <p:cNvSpPr txBox="1"/>
          <p:nvPr/>
        </p:nvSpPr>
        <p:spPr>
          <a:xfrm>
            <a:off x="1234440" y="3986783"/>
            <a:ext cx="5486400" cy="320040"/>
          </a:xfrm>
          <a:prstGeom prst="rect">
            <a:avLst/>
          </a:prstGeom>
          <a:noFill/>
        </p:spPr>
        <p:txBody>
          <a:bodyPr wrap="square">
            <a:spAutoFit/>
          </a:bodyPr>
          <a:lstStyle/>
          <a:p>
            <a:pPr algn="l"/>
            <a:r>
              <a:rPr sz="1400" b="1" i="0">
                <a:solidFill>
                  <a:srgbClr val="FFFFFF"/>
                </a:solidFill>
              </a:rPr>
              <a:t>Regulatory Framework</a:t>
            </a:r>
          </a:p>
        </p:txBody>
      </p:sp>
      <p:sp>
        <p:nvSpPr>
          <p:cNvPr id="20" name="TextBox 19"/>
          <p:cNvSpPr txBox="1"/>
          <p:nvPr/>
        </p:nvSpPr>
        <p:spPr>
          <a:xfrm>
            <a:off x="1234440" y="4270248"/>
            <a:ext cx="5486400" cy="228600"/>
          </a:xfrm>
          <a:prstGeom prst="rect">
            <a:avLst/>
          </a:prstGeom>
          <a:noFill/>
        </p:spPr>
        <p:txBody>
          <a:bodyPr wrap="square">
            <a:spAutoFit/>
          </a:bodyPr>
          <a:lstStyle/>
          <a:p>
            <a:pPr algn="l"/>
            <a:r>
              <a:rPr sz="1000" b="0" i="1">
                <a:solidFill>
                  <a:srgbClr val="888899"/>
                </a:solidFill>
              </a:rPr>
              <a:t>Finance Platform vs. Art Merchant</a:t>
            </a:r>
          </a:p>
        </p:txBody>
      </p:sp>
      <p:sp>
        <p:nvSpPr>
          <p:cNvPr id="21" name="Rectangle 20"/>
          <p:cNvSpPr/>
          <p:nvPr/>
        </p:nvSpPr>
        <p:spPr>
          <a:xfrm>
            <a:off x="548640" y="4681728"/>
            <a:ext cx="502920" cy="502920"/>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4754880"/>
            <a:ext cx="502920" cy="365760"/>
          </a:xfrm>
          <a:prstGeom prst="rect">
            <a:avLst/>
          </a:prstGeom>
          <a:noFill/>
        </p:spPr>
        <p:txBody>
          <a:bodyPr wrap="square">
            <a:spAutoFit/>
          </a:bodyPr>
          <a:lstStyle/>
          <a:p>
            <a:pPr algn="ctr"/>
            <a:r>
              <a:rPr sz="1300" b="1" i="0">
                <a:solidFill>
                  <a:srgbClr val="FFFFFF"/>
                </a:solidFill>
              </a:rPr>
              <a:t>05</a:t>
            </a:r>
          </a:p>
        </p:txBody>
      </p:sp>
      <p:sp>
        <p:nvSpPr>
          <p:cNvPr id="23" name="TextBox 22"/>
          <p:cNvSpPr txBox="1"/>
          <p:nvPr/>
        </p:nvSpPr>
        <p:spPr>
          <a:xfrm>
            <a:off x="1234440" y="4700016"/>
            <a:ext cx="5486400" cy="320040"/>
          </a:xfrm>
          <a:prstGeom prst="rect">
            <a:avLst/>
          </a:prstGeom>
          <a:noFill/>
        </p:spPr>
        <p:txBody>
          <a:bodyPr wrap="square">
            <a:spAutoFit/>
          </a:bodyPr>
          <a:lstStyle/>
          <a:p>
            <a:pPr algn="l"/>
            <a:r>
              <a:rPr sz="1400" b="1" i="0">
                <a:solidFill>
                  <a:srgbClr val="FFFFFF"/>
                </a:solidFill>
              </a:rPr>
              <a:t>ArtEx Differentiation</a:t>
            </a:r>
          </a:p>
        </p:txBody>
      </p:sp>
      <p:sp>
        <p:nvSpPr>
          <p:cNvPr id="24" name="TextBox 23"/>
          <p:cNvSpPr txBox="1"/>
          <p:nvPr/>
        </p:nvSpPr>
        <p:spPr>
          <a:xfrm>
            <a:off x="1234440" y="4983480"/>
            <a:ext cx="5486400" cy="228600"/>
          </a:xfrm>
          <a:prstGeom prst="rect">
            <a:avLst/>
          </a:prstGeom>
          <a:noFill/>
        </p:spPr>
        <p:txBody>
          <a:bodyPr wrap="square">
            <a:spAutoFit/>
          </a:bodyPr>
          <a:lstStyle/>
          <a:p>
            <a:pPr algn="l"/>
            <a:r>
              <a:rPr sz="1000" b="0" i="1">
                <a:solidFill>
                  <a:srgbClr val="888899"/>
                </a:solidFill>
              </a:rPr>
              <a:t>Unique Features &amp; Value Proposition</a:t>
            </a:r>
          </a:p>
        </p:txBody>
      </p:sp>
      <p:sp>
        <p:nvSpPr>
          <p:cNvPr id="25" name="Rectangle 24"/>
          <p:cNvSpPr/>
          <p:nvPr/>
        </p:nvSpPr>
        <p:spPr>
          <a:xfrm>
            <a:off x="548640" y="5394960"/>
            <a:ext cx="502920" cy="502920"/>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5468112"/>
            <a:ext cx="502920" cy="365760"/>
          </a:xfrm>
          <a:prstGeom prst="rect">
            <a:avLst/>
          </a:prstGeom>
          <a:noFill/>
        </p:spPr>
        <p:txBody>
          <a:bodyPr wrap="square">
            <a:spAutoFit/>
          </a:bodyPr>
          <a:lstStyle/>
          <a:p>
            <a:pPr algn="ctr"/>
            <a:r>
              <a:rPr sz="1300" b="1" i="0">
                <a:solidFill>
                  <a:srgbClr val="FFFFFF"/>
                </a:solidFill>
              </a:rPr>
              <a:t>06</a:t>
            </a:r>
          </a:p>
        </p:txBody>
      </p:sp>
      <p:sp>
        <p:nvSpPr>
          <p:cNvPr id="27" name="TextBox 26"/>
          <p:cNvSpPr txBox="1"/>
          <p:nvPr/>
        </p:nvSpPr>
        <p:spPr>
          <a:xfrm>
            <a:off x="1234440" y="5413248"/>
            <a:ext cx="5486400" cy="320040"/>
          </a:xfrm>
          <a:prstGeom prst="rect">
            <a:avLst/>
          </a:prstGeom>
          <a:noFill/>
        </p:spPr>
        <p:txBody>
          <a:bodyPr wrap="square">
            <a:spAutoFit/>
          </a:bodyPr>
          <a:lstStyle/>
          <a:p>
            <a:pPr algn="l"/>
            <a:r>
              <a:rPr sz="1400" b="1" i="0">
                <a:solidFill>
                  <a:srgbClr val="FFFFFF"/>
                </a:solidFill>
              </a:rPr>
              <a:t>Competitive Positioning Map</a:t>
            </a:r>
          </a:p>
        </p:txBody>
      </p:sp>
      <p:sp>
        <p:nvSpPr>
          <p:cNvPr id="28" name="TextBox 27"/>
          <p:cNvSpPr txBox="1"/>
          <p:nvPr/>
        </p:nvSpPr>
        <p:spPr>
          <a:xfrm>
            <a:off x="1234440" y="5696712"/>
            <a:ext cx="5486400" cy="228600"/>
          </a:xfrm>
          <a:prstGeom prst="rect">
            <a:avLst/>
          </a:prstGeom>
          <a:noFill/>
        </p:spPr>
        <p:txBody>
          <a:bodyPr wrap="square">
            <a:spAutoFit/>
          </a:bodyPr>
          <a:lstStyle/>
          <a:p>
            <a:pPr algn="l"/>
            <a:r>
              <a:rPr sz="1000" b="0" i="1" dirty="0">
                <a:solidFill>
                  <a:srgbClr val="888899"/>
                </a:solidFill>
              </a:rPr>
              <a:t>Where </a:t>
            </a:r>
            <a:r>
              <a:rPr sz="1000" b="0" i="1" dirty="0" err="1">
                <a:solidFill>
                  <a:srgbClr val="888899"/>
                </a:solidFill>
              </a:rPr>
              <a:t>ArtEx</a:t>
            </a:r>
            <a:r>
              <a:rPr sz="1000" b="0" i="1" dirty="0">
                <a:solidFill>
                  <a:srgbClr val="888899"/>
                </a:solidFill>
              </a:rPr>
              <a:t> Stands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COMPETITOR 01 / ARTSY</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dirty="0">
                <a:solidFill>
                  <a:srgbClr val="FFFFFF"/>
                </a:solidFill>
              </a:rPr>
              <a:t>The World's Largest Online Art Marketplace</a:t>
            </a:r>
          </a:p>
        </p:txBody>
      </p:sp>
      <p:sp>
        <p:nvSpPr>
          <p:cNvPr id="5" name="Rectangle 4"/>
          <p:cNvSpPr/>
          <p:nvPr/>
        </p:nvSpPr>
        <p:spPr>
          <a:xfrm>
            <a:off x="457200" y="1828800"/>
            <a:ext cx="2148840" cy="868680"/>
          </a:xfrm>
          <a:prstGeom prst="rect">
            <a:avLst/>
          </a:prstGeom>
          <a:solidFill>
            <a:srgbClr val="161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74519"/>
            <a:ext cx="2148840" cy="457200"/>
          </a:xfrm>
          <a:prstGeom prst="rect">
            <a:avLst/>
          </a:prstGeom>
          <a:noFill/>
        </p:spPr>
        <p:txBody>
          <a:bodyPr wrap="square">
            <a:spAutoFit/>
          </a:bodyPr>
          <a:lstStyle/>
          <a:p>
            <a:pPr algn="ctr"/>
            <a:r>
              <a:rPr sz="2200" b="1" i="0">
                <a:solidFill>
                  <a:srgbClr val="E8552A"/>
                </a:solidFill>
              </a:rPr>
              <a:t>1.3M</a:t>
            </a:r>
          </a:p>
        </p:txBody>
      </p:sp>
      <p:sp>
        <p:nvSpPr>
          <p:cNvPr id="7" name="TextBox 6"/>
          <p:cNvSpPr txBox="1"/>
          <p:nvPr/>
        </p:nvSpPr>
        <p:spPr>
          <a:xfrm>
            <a:off x="457200" y="2304288"/>
            <a:ext cx="2148840" cy="320040"/>
          </a:xfrm>
          <a:prstGeom prst="rect">
            <a:avLst/>
          </a:prstGeom>
          <a:noFill/>
        </p:spPr>
        <p:txBody>
          <a:bodyPr wrap="square">
            <a:spAutoFit/>
          </a:bodyPr>
          <a:lstStyle/>
          <a:p>
            <a:pPr algn="ctr"/>
            <a:r>
              <a:rPr sz="900" b="0" i="0">
                <a:solidFill>
                  <a:srgbClr val="888899"/>
                </a:solidFill>
              </a:rPr>
              <a:t>Artworks Listed</a:t>
            </a:r>
          </a:p>
        </p:txBody>
      </p:sp>
      <p:sp>
        <p:nvSpPr>
          <p:cNvPr id="8" name="Rectangle 7"/>
          <p:cNvSpPr/>
          <p:nvPr/>
        </p:nvSpPr>
        <p:spPr>
          <a:xfrm>
            <a:off x="2761488" y="1828800"/>
            <a:ext cx="2148840" cy="868680"/>
          </a:xfrm>
          <a:prstGeom prst="rect">
            <a:avLst/>
          </a:prstGeom>
          <a:solidFill>
            <a:srgbClr val="161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61488" y="1874519"/>
            <a:ext cx="2148840" cy="457200"/>
          </a:xfrm>
          <a:prstGeom prst="rect">
            <a:avLst/>
          </a:prstGeom>
          <a:noFill/>
        </p:spPr>
        <p:txBody>
          <a:bodyPr wrap="square">
            <a:spAutoFit/>
          </a:bodyPr>
          <a:lstStyle/>
          <a:p>
            <a:pPr algn="ctr"/>
            <a:r>
              <a:rPr sz="2200" b="1" i="0">
                <a:solidFill>
                  <a:srgbClr val="E8552A"/>
                </a:solidFill>
              </a:rPr>
              <a:t>4,000+</a:t>
            </a:r>
          </a:p>
        </p:txBody>
      </p:sp>
      <p:sp>
        <p:nvSpPr>
          <p:cNvPr id="10" name="TextBox 9"/>
          <p:cNvSpPr txBox="1"/>
          <p:nvPr/>
        </p:nvSpPr>
        <p:spPr>
          <a:xfrm>
            <a:off x="2761488" y="2304288"/>
            <a:ext cx="2148840" cy="320040"/>
          </a:xfrm>
          <a:prstGeom prst="rect">
            <a:avLst/>
          </a:prstGeom>
          <a:noFill/>
        </p:spPr>
        <p:txBody>
          <a:bodyPr wrap="square">
            <a:spAutoFit/>
          </a:bodyPr>
          <a:lstStyle/>
          <a:p>
            <a:pPr algn="ctr"/>
            <a:r>
              <a:rPr sz="900" b="0" i="0">
                <a:solidFill>
                  <a:srgbClr val="888899"/>
                </a:solidFill>
              </a:rPr>
              <a:t>Partner Galleries</a:t>
            </a:r>
          </a:p>
        </p:txBody>
      </p:sp>
      <p:sp>
        <p:nvSpPr>
          <p:cNvPr id="11" name="Rectangle 10"/>
          <p:cNvSpPr/>
          <p:nvPr/>
        </p:nvSpPr>
        <p:spPr>
          <a:xfrm>
            <a:off x="5065776" y="1828800"/>
            <a:ext cx="2148840" cy="868680"/>
          </a:xfrm>
          <a:prstGeom prst="rect">
            <a:avLst/>
          </a:prstGeom>
          <a:solidFill>
            <a:srgbClr val="161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65776" y="1874519"/>
            <a:ext cx="2148840" cy="457200"/>
          </a:xfrm>
          <a:prstGeom prst="rect">
            <a:avLst/>
          </a:prstGeom>
          <a:noFill/>
        </p:spPr>
        <p:txBody>
          <a:bodyPr wrap="square">
            <a:spAutoFit/>
          </a:bodyPr>
          <a:lstStyle/>
          <a:p>
            <a:pPr algn="ctr"/>
            <a:r>
              <a:rPr sz="2200" b="1" i="0">
                <a:solidFill>
                  <a:srgbClr val="E8552A"/>
                </a:solidFill>
              </a:rPr>
              <a:t>7M</a:t>
            </a:r>
          </a:p>
        </p:txBody>
      </p:sp>
      <p:sp>
        <p:nvSpPr>
          <p:cNvPr id="13" name="TextBox 12"/>
          <p:cNvSpPr txBox="1"/>
          <p:nvPr/>
        </p:nvSpPr>
        <p:spPr>
          <a:xfrm>
            <a:off x="5065776" y="2304288"/>
            <a:ext cx="2148840" cy="320040"/>
          </a:xfrm>
          <a:prstGeom prst="rect">
            <a:avLst/>
          </a:prstGeom>
          <a:noFill/>
        </p:spPr>
        <p:txBody>
          <a:bodyPr wrap="square">
            <a:spAutoFit/>
          </a:bodyPr>
          <a:lstStyle/>
          <a:p>
            <a:pPr algn="ctr"/>
            <a:r>
              <a:rPr sz="900" b="0" i="0">
                <a:solidFill>
                  <a:srgbClr val="888899"/>
                </a:solidFill>
              </a:rPr>
              <a:t>Monthly Visitors</a:t>
            </a:r>
          </a:p>
        </p:txBody>
      </p:sp>
      <p:sp>
        <p:nvSpPr>
          <p:cNvPr id="14" name="Rectangle 13"/>
          <p:cNvSpPr/>
          <p:nvPr/>
        </p:nvSpPr>
        <p:spPr>
          <a:xfrm>
            <a:off x="7370064" y="1828800"/>
            <a:ext cx="2148840" cy="868680"/>
          </a:xfrm>
          <a:prstGeom prst="rect">
            <a:avLst/>
          </a:prstGeom>
          <a:solidFill>
            <a:srgbClr val="161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70064" y="1874519"/>
            <a:ext cx="2148840" cy="457200"/>
          </a:xfrm>
          <a:prstGeom prst="rect">
            <a:avLst/>
          </a:prstGeom>
          <a:noFill/>
        </p:spPr>
        <p:txBody>
          <a:bodyPr wrap="square">
            <a:spAutoFit/>
          </a:bodyPr>
          <a:lstStyle/>
          <a:p>
            <a:pPr algn="ctr"/>
            <a:r>
              <a:rPr sz="2200" b="1" i="0">
                <a:solidFill>
                  <a:srgbClr val="E8552A"/>
                </a:solidFill>
              </a:rPr>
              <a:t>$275M</a:t>
            </a:r>
          </a:p>
        </p:txBody>
      </p:sp>
      <p:sp>
        <p:nvSpPr>
          <p:cNvPr id="16" name="TextBox 15"/>
          <p:cNvSpPr txBox="1"/>
          <p:nvPr/>
        </p:nvSpPr>
        <p:spPr>
          <a:xfrm>
            <a:off x="7370064" y="2304288"/>
            <a:ext cx="2148840" cy="320040"/>
          </a:xfrm>
          <a:prstGeom prst="rect">
            <a:avLst/>
          </a:prstGeom>
          <a:noFill/>
        </p:spPr>
        <p:txBody>
          <a:bodyPr wrap="square">
            <a:spAutoFit/>
          </a:bodyPr>
          <a:lstStyle/>
          <a:p>
            <a:pPr algn="ctr"/>
            <a:r>
              <a:rPr sz="900" b="0" i="0">
                <a:solidFill>
                  <a:srgbClr val="888899"/>
                </a:solidFill>
              </a:rPr>
              <a:t>Last Valuation</a:t>
            </a:r>
          </a:p>
        </p:txBody>
      </p:sp>
      <p:sp>
        <p:nvSpPr>
          <p:cNvPr id="17" name="Rectangle 16"/>
          <p:cNvSpPr/>
          <p:nvPr/>
        </p:nvSpPr>
        <p:spPr>
          <a:xfrm>
            <a:off x="9674352" y="1828800"/>
            <a:ext cx="2148840" cy="868680"/>
          </a:xfrm>
          <a:prstGeom prst="rect">
            <a:avLst/>
          </a:prstGeom>
          <a:solidFill>
            <a:srgbClr val="161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74352" y="1874519"/>
            <a:ext cx="2148840" cy="457200"/>
          </a:xfrm>
          <a:prstGeom prst="rect">
            <a:avLst/>
          </a:prstGeom>
          <a:noFill/>
        </p:spPr>
        <p:txBody>
          <a:bodyPr wrap="square">
            <a:spAutoFit/>
          </a:bodyPr>
          <a:lstStyle/>
          <a:p>
            <a:pPr algn="ctr"/>
            <a:r>
              <a:rPr sz="2200" b="1" i="0">
                <a:solidFill>
                  <a:srgbClr val="E8552A"/>
                </a:solidFill>
              </a:rPr>
              <a:t>Est. 2009</a:t>
            </a:r>
          </a:p>
        </p:txBody>
      </p:sp>
      <p:sp>
        <p:nvSpPr>
          <p:cNvPr id="19" name="TextBox 18"/>
          <p:cNvSpPr txBox="1"/>
          <p:nvPr/>
        </p:nvSpPr>
        <p:spPr>
          <a:xfrm>
            <a:off x="9674352" y="2304288"/>
            <a:ext cx="2148840" cy="320040"/>
          </a:xfrm>
          <a:prstGeom prst="rect">
            <a:avLst/>
          </a:prstGeom>
          <a:noFill/>
        </p:spPr>
        <p:txBody>
          <a:bodyPr wrap="square">
            <a:spAutoFit/>
          </a:bodyPr>
          <a:lstStyle/>
          <a:p>
            <a:pPr algn="ctr"/>
            <a:r>
              <a:rPr sz="900" b="0" i="0">
                <a:solidFill>
                  <a:srgbClr val="888899"/>
                </a:solidFill>
              </a:rPr>
              <a:t>New York, USA</a:t>
            </a:r>
          </a:p>
        </p:txBody>
      </p:sp>
      <p:sp>
        <p:nvSpPr>
          <p:cNvPr id="20" name="TextBox 19"/>
          <p:cNvSpPr txBox="1"/>
          <p:nvPr/>
        </p:nvSpPr>
        <p:spPr>
          <a:xfrm>
            <a:off x="457200" y="2880360"/>
            <a:ext cx="4572000" cy="320040"/>
          </a:xfrm>
          <a:prstGeom prst="rect">
            <a:avLst/>
          </a:prstGeom>
          <a:noFill/>
        </p:spPr>
        <p:txBody>
          <a:bodyPr wrap="square">
            <a:spAutoFit/>
          </a:bodyPr>
          <a:lstStyle/>
          <a:p>
            <a:pPr algn="l"/>
            <a:r>
              <a:rPr sz="1100" b="1" i="0">
                <a:solidFill>
                  <a:srgbClr val="E8552A"/>
                </a:solidFill>
              </a:rPr>
              <a:t>Business Model</a:t>
            </a:r>
          </a:p>
        </p:txBody>
      </p:sp>
      <p:cxnSp>
        <p:nvCxnSpPr>
          <p:cNvPr id="21" name="Connector 20"/>
          <p:cNvCxnSpPr/>
          <p:nvPr/>
        </p:nvCxnSpPr>
        <p:spPr>
          <a:xfrm>
            <a:off x="457200" y="3182112"/>
            <a:ext cx="5303520" cy="0"/>
          </a:xfrm>
          <a:prstGeom prst="line">
            <a:avLst/>
          </a:prstGeom>
          <a:ln w="12700">
            <a:solidFill>
              <a:srgbClr val="33334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57200" y="3291839"/>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3246120"/>
            <a:ext cx="5230368" cy="292608"/>
          </a:xfrm>
          <a:prstGeom prst="rect">
            <a:avLst/>
          </a:prstGeom>
          <a:noFill/>
        </p:spPr>
        <p:txBody>
          <a:bodyPr wrap="square">
            <a:spAutoFit/>
          </a:bodyPr>
          <a:lstStyle/>
          <a:p>
            <a:pPr algn="l"/>
            <a:r>
              <a:rPr sz="1000" b="0" i="0">
                <a:solidFill>
                  <a:srgbClr val="CCCCDD"/>
                </a:solidFill>
              </a:rPr>
              <a:t>Gallery subscriptions: $385–$1,000 / month</a:t>
            </a:r>
          </a:p>
        </p:txBody>
      </p:sp>
      <p:sp>
        <p:nvSpPr>
          <p:cNvPr id="24" name="Oval 23"/>
          <p:cNvSpPr/>
          <p:nvPr/>
        </p:nvSpPr>
        <p:spPr>
          <a:xfrm>
            <a:off x="457200" y="3584447"/>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3538727"/>
            <a:ext cx="5230368" cy="292608"/>
          </a:xfrm>
          <a:prstGeom prst="rect">
            <a:avLst/>
          </a:prstGeom>
          <a:noFill/>
        </p:spPr>
        <p:txBody>
          <a:bodyPr wrap="square">
            <a:spAutoFit/>
          </a:bodyPr>
          <a:lstStyle/>
          <a:p>
            <a:pPr algn="l"/>
            <a:r>
              <a:rPr sz="1000" b="0" i="0">
                <a:solidFill>
                  <a:srgbClr val="CCCCDD"/>
                </a:solidFill>
              </a:rPr>
              <a:t>Commission on sales: 5–19% depending on tier</a:t>
            </a:r>
          </a:p>
        </p:txBody>
      </p:sp>
      <p:sp>
        <p:nvSpPr>
          <p:cNvPr id="26" name="Oval 25"/>
          <p:cNvSpPr/>
          <p:nvPr/>
        </p:nvSpPr>
        <p:spPr>
          <a:xfrm>
            <a:off x="457200" y="3877055"/>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 y="3831335"/>
            <a:ext cx="5230368" cy="292608"/>
          </a:xfrm>
          <a:prstGeom prst="rect">
            <a:avLst/>
          </a:prstGeom>
          <a:noFill/>
        </p:spPr>
        <p:txBody>
          <a:bodyPr wrap="square">
            <a:spAutoFit/>
          </a:bodyPr>
          <a:lstStyle/>
          <a:p>
            <a:pPr algn="l"/>
            <a:r>
              <a:rPr sz="1000" b="0" i="0">
                <a:solidFill>
                  <a:srgbClr val="CCCCDD"/>
                </a:solidFill>
              </a:rPr>
              <a:t>Content &amp; data partnerships (art analytics)</a:t>
            </a:r>
          </a:p>
        </p:txBody>
      </p:sp>
      <p:sp>
        <p:nvSpPr>
          <p:cNvPr id="28" name="Oval 27"/>
          <p:cNvSpPr/>
          <p:nvPr/>
        </p:nvSpPr>
        <p:spPr>
          <a:xfrm>
            <a:off x="457200" y="4169663"/>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 y="4123944"/>
            <a:ext cx="5230368" cy="292608"/>
          </a:xfrm>
          <a:prstGeom prst="rect">
            <a:avLst/>
          </a:prstGeom>
          <a:noFill/>
        </p:spPr>
        <p:txBody>
          <a:bodyPr wrap="square">
            <a:spAutoFit/>
          </a:bodyPr>
          <a:lstStyle/>
          <a:p>
            <a:pPr algn="l"/>
            <a:r>
              <a:rPr sz="1000" b="0" i="0">
                <a:solidFill>
                  <a:srgbClr val="CCCCDD"/>
                </a:solidFill>
              </a:rPr>
              <a:t>Auction house partnerships for online-only sales</a:t>
            </a:r>
          </a:p>
        </p:txBody>
      </p:sp>
      <p:sp>
        <p:nvSpPr>
          <p:cNvPr id="30" name="Rectangle 29"/>
          <p:cNvSpPr/>
          <p:nvPr/>
        </p:nvSpPr>
        <p:spPr>
          <a:xfrm>
            <a:off x="457200" y="5660135"/>
            <a:ext cx="5394960" cy="685800"/>
          </a:xfrm>
          <a:prstGeom prst="rect">
            <a:avLst/>
          </a:prstGeom>
          <a:solidFill>
            <a:srgbClr val="1A1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5751575"/>
            <a:ext cx="5212080" cy="594360"/>
          </a:xfrm>
          <a:prstGeom prst="rect">
            <a:avLst/>
          </a:prstGeom>
          <a:noFill/>
        </p:spPr>
        <p:txBody>
          <a:bodyPr wrap="square">
            <a:spAutoFit/>
          </a:bodyPr>
          <a:lstStyle/>
          <a:p>
            <a:pPr algn="l"/>
            <a:r>
              <a:rPr sz="900" b="0" i="0" dirty="0">
                <a:solidFill>
                  <a:srgbClr val="F59E0B"/>
                </a:solidFill>
              </a:rPr>
              <a:t>⚡  April 2026: Artsy + Artnet merged under </a:t>
            </a:r>
            <a:r>
              <a:rPr sz="900" b="0" i="0" dirty="0" err="1">
                <a:solidFill>
                  <a:srgbClr val="F59E0B"/>
                </a:solidFill>
              </a:rPr>
              <a:t>Beowolff</a:t>
            </a:r>
            <a:r>
              <a:rPr sz="900" b="0" i="0" dirty="0">
                <a:solidFill>
                  <a:srgbClr val="F59E0B"/>
                </a:solidFill>
              </a:rPr>
              <a:t> Capital (PE firm). Goal: Bloomberg for Art combining marketplace + price data + AI analytics. Confirms institutional appetite for </a:t>
            </a:r>
            <a:r>
              <a:rPr sz="900" b="0" i="0" dirty="0" err="1">
                <a:solidFill>
                  <a:srgbClr val="F59E0B"/>
                </a:solidFill>
              </a:rPr>
              <a:t>financialising</a:t>
            </a:r>
            <a:r>
              <a:rPr sz="900" b="0" i="0" dirty="0">
                <a:solidFill>
                  <a:srgbClr val="F59E0B"/>
                </a:solidFill>
              </a:rPr>
              <a:t> the art market.</a:t>
            </a:r>
          </a:p>
        </p:txBody>
      </p:sp>
      <p:sp>
        <p:nvSpPr>
          <p:cNvPr id="32" name="TextBox 31"/>
          <p:cNvSpPr txBox="1"/>
          <p:nvPr/>
        </p:nvSpPr>
        <p:spPr>
          <a:xfrm>
            <a:off x="6217920" y="2880360"/>
            <a:ext cx="5486400" cy="320040"/>
          </a:xfrm>
          <a:prstGeom prst="rect">
            <a:avLst/>
          </a:prstGeom>
          <a:noFill/>
        </p:spPr>
        <p:txBody>
          <a:bodyPr wrap="square">
            <a:spAutoFit/>
          </a:bodyPr>
          <a:lstStyle/>
          <a:p>
            <a:pPr algn="l"/>
            <a:r>
              <a:rPr sz="1100" b="1" i="0">
                <a:solidFill>
                  <a:srgbClr val="E8552A"/>
                </a:solidFill>
              </a:rPr>
              <a:t>Gallery Subscription Tiers</a:t>
            </a:r>
          </a:p>
        </p:txBody>
      </p:sp>
      <p:cxnSp>
        <p:nvCxnSpPr>
          <p:cNvPr id="33" name="Connector 32"/>
          <p:cNvCxnSpPr/>
          <p:nvPr/>
        </p:nvCxnSpPr>
        <p:spPr>
          <a:xfrm>
            <a:off x="6217920" y="3182112"/>
            <a:ext cx="5394960" cy="0"/>
          </a:xfrm>
          <a:prstGeom prst="line">
            <a:avLst/>
          </a:prstGeom>
          <a:ln w="12700">
            <a:solidFill>
              <a:srgbClr val="333344"/>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217920" y="3291840"/>
            <a:ext cx="5394960" cy="338328"/>
          </a:xfrm>
          <a:prstGeom prst="rect">
            <a:avLst/>
          </a:prstGeom>
          <a:solidFill>
            <a:srgbClr val="1E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63640" y="3337560"/>
            <a:ext cx="2011680" cy="274320"/>
          </a:xfrm>
          <a:prstGeom prst="rect">
            <a:avLst/>
          </a:prstGeom>
          <a:noFill/>
        </p:spPr>
        <p:txBody>
          <a:bodyPr wrap="square">
            <a:spAutoFit/>
          </a:bodyPr>
          <a:lstStyle/>
          <a:p>
            <a:pPr algn="l"/>
            <a:r>
              <a:rPr sz="1000" b="1" i="0">
                <a:solidFill>
                  <a:srgbClr val="888899"/>
                </a:solidFill>
              </a:rPr>
              <a:t>Tier</a:t>
            </a:r>
          </a:p>
        </p:txBody>
      </p:sp>
      <p:sp>
        <p:nvSpPr>
          <p:cNvPr id="36" name="TextBox 35"/>
          <p:cNvSpPr txBox="1"/>
          <p:nvPr/>
        </p:nvSpPr>
        <p:spPr>
          <a:xfrm>
            <a:off x="8275320" y="3337560"/>
            <a:ext cx="1645920" cy="274320"/>
          </a:xfrm>
          <a:prstGeom prst="rect">
            <a:avLst/>
          </a:prstGeom>
          <a:noFill/>
        </p:spPr>
        <p:txBody>
          <a:bodyPr wrap="square">
            <a:spAutoFit/>
          </a:bodyPr>
          <a:lstStyle/>
          <a:p>
            <a:pPr algn="l"/>
            <a:r>
              <a:rPr sz="1000" b="1" i="0">
                <a:solidFill>
                  <a:srgbClr val="888899"/>
                </a:solidFill>
              </a:rPr>
              <a:t>Monthly Fee</a:t>
            </a:r>
          </a:p>
        </p:txBody>
      </p:sp>
      <p:sp>
        <p:nvSpPr>
          <p:cNvPr id="37" name="TextBox 36"/>
          <p:cNvSpPr txBox="1"/>
          <p:nvPr/>
        </p:nvSpPr>
        <p:spPr>
          <a:xfrm>
            <a:off x="9921240" y="3337560"/>
            <a:ext cx="1645920" cy="274320"/>
          </a:xfrm>
          <a:prstGeom prst="rect">
            <a:avLst/>
          </a:prstGeom>
          <a:noFill/>
        </p:spPr>
        <p:txBody>
          <a:bodyPr wrap="square">
            <a:spAutoFit/>
          </a:bodyPr>
          <a:lstStyle/>
          <a:p>
            <a:pPr algn="l"/>
            <a:r>
              <a:rPr sz="1000" b="1" i="0">
                <a:solidFill>
                  <a:srgbClr val="888899"/>
                </a:solidFill>
              </a:rPr>
              <a:t>Commission</a:t>
            </a:r>
          </a:p>
        </p:txBody>
      </p:sp>
      <p:sp>
        <p:nvSpPr>
          <p:cNvPr id="38" name="Rectangle 37"/>
          <p:cNvSpPr/>
          <p:nvPr/>
        </p:nvSpPr>
        <p:spPr>
          <a:xfrm>
            <a:off x="6217920" y="3639312"/>
            <a:ext cx="5394960" cy="338328"/>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63640" y="3685032"/>
            <a:ext cx="2011680" cy="274320"/>
          </a:xfrm>
          <a:prstGeom prst="rect">
            <a:avLst/>
          </a:prstGeom>
          <a:noFill/>
        </p:spPr>
        <p:txBody>
          <a:bodyPr wrap="square">
            <a:spAutoFit/>
          </a:bodyPr>
          <a:lstStyle/>
          <a:p>
            <a:pPr algn="l"/>
            <a:r>
              <a:rPr sz="1000" b="0" i="0">
                <a:solidFill>
                  <a:srgbClr val="CCCCDD"/>
                </a:solidFill>
              </a:rPr>
              <a:t>Essentials</a:t>
            </a:r>
          </a:p>
        </p:txBody>
      </p:sp>
      <p:sp>
        <p:nvSpPr>
          <p:cNvPr id="40" name="TextBox 39"/>
          <p:cNvSpPr txBox="1"/>
          <p:nvPr/>
        </p:nvSpPr>
        <p:spPr>
          <a:xfrm>
            <a:off x="8275320" y="3685032"/>
            <a:ext cx="1645920" cy="274320"/>
          </a:xfrm>
          <a:prstGeom prst="rect">
            <a:avLst/>
          </a:prstGeom>
          <a:noFill/>
        </p:spPr>
        <p:txBody>
          <a:bodyPr wrap="square">
            <a:spAutoFit/>
          </a:bodyPr>
          <a:lstStyle/>
          <a:p>
            <a:pPr algn="l"/>
            <a:r>
              <a:rPr sz="1000" b="0" i="0">
                <a:solidFill>
                  <a:srgbClr val="CCCCDD"/>
                </a:solidFill>
              </a:rPr>
              <a:t>$385 / mo</a:t>
            </a:r>
          </a:p>
        </p:txBody>
      </p:sp>
      <p:sp>
        <p:nvSpPr>
          <p:cNvPr id="41" name="TextBox 40"/>
          <p:cNvSpPr txBox="1"/>
          <p:nvPr/>
        </p:nvSpPr>
        <p:spPr>
          <a:xfrm>
            <a:off x="9921240" y="3685032"/>
            <a:ext cx="1645920" cy="274320"/>
          </a:xfrm>
          <a:prstGeom prst="rect">
            <a:avLst/>
          </a:prstGeom>
          <a:noFill/>
        </p:spPr>
        <p:txBody>
          <a:bodyPr wrap="square">
            <a:spAutoFit/>
          </a:bodyPr>
          <a:lstStyle/>
          <a:p>
            <a:pPr algn="l"/>
            <a:r>
              <a:rPr sz="1000" b="0" i="0">
                <a:solidFill>
                  <a:srgbClr val="E8552A"/>
                </a:solidFill>
              </a:rPr>
              <a:t>19%</a:t>
            </a:r>
          </a:p>
        </p:txBody>
      </p:sp>
      <p:sp>
        <p:nvSpPr>
          <p:cNvPr id="42" name="Rectangle 41"/>
          <p:cNvSpPr/>
          <p:nvPr/>
        </p:nvSpPr>
        <p:spPr>
          <a:xfrm>
            <a:off x="6217920" y="3986784"/>
            <a:ext cx="5394960" cy="338328"/>
          </a:xfrm>
          <a:prstGeom prst="rect">
            <a:avLst/>
          </a:prstGeom>
          <a:solidFill>
            <a:srgbClr val="181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63640" y="4032504"/>
            <a:ext cx="2011680" cy="274320"/>
          </a:xfrm>
          <a:prstGeom prst="rect">
            <a:avLst/>
          </a:prstGeom>
          <a:noFill/>
        </p:spPr>
        <p:txBody>
          <a:bodyPr wrap="square">
            <a:spAutoFit/>
          </a:bodyPr>
          <a:lstStyle/>
          <a:p>
            <a:pPr algn="l"/>
            <a:r>
              <a:rPr sz="1000" b="0" i="0">
                <a:solidFill>
                  <a:srgbClr val="CCCCDD"/>
                </a:solidFill>
              </a:rPr>
              <a:t>Plus</a:t>
            </a:r>
          </a:p>
        </p:txBody>
      </p:sp>
      <p:sp>
        <p:nvSpPr>
          <p:cNvPr id="44" name="TextBox 43"/>
          <p:cNvSpPr txBox="1"/>
          <p:nvPr/>
        </p:nvSpPr>
        <p:spPr>
          <a:xfrm>
            <a:off x="8275320" y="4032504"/>
            <a:ext cx="1645920" cy="274320"/>
          </a:xfrm>
          <a:prstGeom prst="rect">
            <a:avLst/>
          </a:prstGeom>
          <a:noFill/>
        </p:spPr>
        <p:txBody>
          <a:bodyPr wrap="square">
            <a:spAutoFit/>
          </a:bodyPr>
          <a:lstStyle/>
          <a:p>
            <a:pPr algn="l"/>
            <a:r>
              <a:rPr sz="1000" b="0" i="0">
                <a:solidFill>
                  <a:srgbClr val="CCCCDD"/>
                </a:solidFill>
              </a:rPr>
              <a:t>$600 / mo</a:t>
            </a:r>
          </a:p>
        </p:txBody>
      </p:sp>
      <p:sp>
        <p:nvSpPr>
          <p:cNvPr id="45" name="TextBox 44"/>
          <p:cNvSpPr txBox="1"/>
          <p:nvPr/>
        </p:nvSpPr>
        <p:spPr>
          <a:xfrm>
            <a:off x="9921240" y="4032504"/>
            <a:ext cx="1645920" cy="274320"/>
          </a:xfrm>
          <a:prstGeom prst="rect">
            <a:avLst/>
          </a:prstGeom>
          <a:noFill/>
        </p:spPr>
        <p:txBody>
          <a:bodyPr wrap="square">
            <a:spAutoFit/>
          </a:bodyPr>
          <a:lstStyle/>
          <a:p>
            <a:pPr algn="l"/>
            <a:r>
              <a:rPr sz="1000" b="0" i="0">
                <a:solidFill>
                  <a:srgbClr val="E8552A"/>
                </a:solidFill>
              </a:rPr>
              <a:t>10%</a:t>
            </a:r>
          </a:p>
        </p:txBody>
      </p:sp>
      <p:sp>
        <p:nvSpPr>
          <p:cNvPr id="46" name="Rectangle 45"/>
          <p:cNvSpPr/>
          <p:nvPr/>
        </p:nvSpPr>
        <p:spPr>
          <a:xfrm>
            <a:off x="6217920" y="4334256"/>
            <a:ext cx="5394960" cy="338328"/>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63640" y="4379976"/>
            <a:ext cx="2011680" cy="274320"/>
          </a:xfrm>
          <a:prstGeom prst="rect">
            <a:avLst/>
          </a:prstGeom>
          <a:noFill/>
        </p:spPr>
        <p:txBody>
          <a:bodyPr wrap="square">
            <a:spAutoFit/>
          </a:bodyPr>
          <a:lstStyle/>
          <a:p>
            <a:pPr algn="l"/>
            <a:r>
              <a:rPr sz="1000" b="0" i="0">
                <a:solidFill>
                  <a:srgbClr val="CCCCDD"/>
                </a:solidFill>
              </a:rPr>
              <a:t>Premier</a:t>
            </a:r>
          </a:p>
        </p:txBody>
      </p:sp>
      <p:sp>
        <p:nvSpPr>
          <p:cNvPr id="48" name="TextBox 47"/>
          <p:cNvSpPr txBox="1"/>
          <p:nvPr/>
        </p:nvSpPr>
        <p:spPr>
          <a:xfrm>
            <a:off x="8275320" y="4379976"/>
            <a:ext cx="1645920" cy="274320"/>
          </a:xfrm>
          <a:prstGeom prst="rect">
            <a:avLst/>
          </a:prstGeom>
          <a:noFill/>
        </p:spPr>
        <p:txBody>
          <a:bodyPr wrap="square">
            <a:spAutoFit/>
          </a:bodyPr>
          <a:lstStyle/>
          <a:p>
            <a:pPr algn="l"/>
            <a:r>
              <a:rPr sz="1000" b="0" i="0">
                <a:solidFill>
                  <a:srgbClr val="CCCCDD"/>
                </a:solidFill>
              </a:rPr>
              <a:t>$1,000 / mo</a:t>
            </a:r>
          </a:p>
        </p:txBody>
      </p:sp>
      <p:sp>
        <p:nvSpPr>
          <p:cNvPr id="49" name="TextBox 48"/>
          <p:cNvSpPr txBox="1"/>
          <p:nvPr/>
        </p:nvSpPr>
        <p:spPr>
          <a:xfrm>
            <a:off x="9921240" y="4379976"/>
            <a:ext cx="1645920" cy="274320"/>
          </a:xfrm>
          <a:prstGeom prst="rect">
            <a:avLst/>
          </a:prstGeom>
          <a:noFill/>
        </p:spPr>
        <p:txBody>
          <a:bodyPr wrap="square">
            <a:spAutoFit/>
          </a:bodyPr>
          <a:lstStyle/>
          <a:p>
            <a:pPr algn="l"/>
            <a:r>
              <a:rPr sz="1000" b="0" i="0">
                <a:solidFill>
                  <a:srgbClr val="E8552A"/>
                </a:solidFill>
              </a:rPr>
              <a:t>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COMPETITOR 01 / ARTSY</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Strengths &amp; Weaknesses</a:t>
            </a:r>
          </a:p>
        </p:txBody>
      </p:sp>
      <p:sp>
        <p:nvSpPr>
          <p:cNvPr id="5" name="Rectangle 4"/>
          <p:cNvSpPr/>
          <p:nvPr/>
        </p:nvSpPr>
        <p:spPr>
          <a:xfrm>
            <a:off x="457200" y="1828800"/>
            <a:ext cx="5394960" cy="4389120"/>
          </a:xfrm>
          <a:prstGeom prst="rect">
            <a:avLst/>
          </a:prstGeom>
          <a:solidFill>
            <a:srgbClr val="0A1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920240"/>
            <a:ext cx="5120640" cy="365760"/>
          </a:xfrm>
          <a:prstGeom prst="rect">
            <a:avLst/>
          </a:prstGeom>
          <a:noFill/>
        </p:spPr>
        <p:txBody>
          <a:bodyPr wrap="square">
            <a:spAutoFit/>
          </a:bodyPr>
          <a:lstStyle/>
          <a:p>
            <a:pPr algn="l"/>
            <a:r>
              <a:rPr sz="1300" b="1" i="0">
                <a:solidFill>
                  <a:srgbClr val="22C55E"/>
                </a:solidFill>
              </a:rPr>
              <a:t>✓  Strengths</a:t>
            </a:r>
          </a:p>
        </p:txBody>
      </p:sp>
      <p:cxnSp>
        <p:nvCxnSpPr>
          <p:cNvPr id="7" name="Connector 6"/>
          <p:cNvCxnSpPr/>
          <p:nvPr/>
        </p:nvCxnSpPr>
        <p:spPr>
          <a:xfrm>
            <a:off x="594360" y="2267712"/>
            <a:ext cx="5120640" cy="0"/>
          </a:xfrm>
          <a:prstGeom prst="line">
            <a:avLst/>
          </a:prstGeom>
          <a:ln w="12700">
            <a:solidFill>
              <a:srgbClr val="225533"/>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94360" y="2377439"/>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2331720"/>
            <a:ext cx="4956048" cy="292608"/>
          </a:xfrm>
          <a:prstGeom prst="rect">
            <a:avLst/>
          </a:prstGeom>
          <a:noFill/>
        </p:spPr>
        <p:txBody>
          <a:bodyPr wrap="square">
            <a:spAutoFit/>
          </a:bodyPr>
          <a:lstStyle/>
          <a:p>
            <a:pPr algn="l"/>
            <a:r>
              <a:rPr sz="1000" b="0" i="0">
                <a:solidFill>
                  <a:srgbClr val="CCCCDD"/>
                </a:solidFill>
              </a:rPr>
              <a:t>Largest online art marketplace globally (1.3M artworks)</a:t>
            </a:r>
          </a:p>
        </p:txBody>
      </p:sp>
      <p:sp>
        <p:nvSpPr>
          <p:cNvPr id="10" name="Oval 9"/>
          <p:cNvSpPr/>
          <p:nvPr/>
        </p:nvSpPr>
        <p:spPr>
          <a:xfrm>
            <a:off x="594360" y="2670047"/>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624327"/>
            <a:ext cx="4956048" cy="292608"/>
          </a:xfrm>
          <a:prstGeom prst="rect">
            <a:avLst/>
          </a:prstGeom>
          <a:noFill/>
        </p:spPr>
        <p:txBody>
          <a:bodyPr wrap="square">
            <a:spAutoFit/>
          </a:bodyPr>
          <a:lstStyle/>
          <a:p>
            <a:pPr algn="l"/>
            <a:r>
              <a:rPr sz="1000" b="0" i="0">
                <a:solidFill>
                  <a:srgbClr val="CCCCDD"/>
                </a:solidFill>
              </a:rPr>
              <a:t>4,000+ gallery network = unmatched inventory &amp; discovery</a:t>
            </a:r>
          </a:p>
        </p:txBody>
      </p:sp>
      <p:sp>
        <p:nvSpPr>
          <p:cNvPr id="12" name="Oval 11"/>
          <p:cNvSpPr/>
          <p:nvPr/>
        </p:nvSpPr>
        <p:spPr>
          <a:xfrm>
            <a:off x="594360" y="2962656"/>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2916936"/>
            <a:ext cx="4956048" cy="292608"/>
          </a:xfrm>
          <a:prstGeom prst="rect">
            <a:avLst/>
          </a:prstGeom>
          <a:noFill/>
        </p:spPr>
        <p:txBody>
          <a:bodyPr wrap="square">
            <a:spAutoFit/>
          </a:bodyPr>
          <a:lstStyle/>
          <a:p>
            <a:pPr algn="l"/>
            <a:r>
              <a:rPr sz="1000" b="0" i="0">
                <a:solidFill>
                  <a:srgbClr val="CCCCDD"/>
                </a:solidFill>
              </a:rPr>
              <a:t>Strong editorial &amp; SEO driving 7M monthly organic visitors</a:t>
            </a:r>
          </a:p>
        </p:txBody>
      </p:sp>
      <p:sp>
        <p:nvSpPr>
          <p:cNvPr id="14" name="Oval 13"/>
          <p:cNvSpPr/>
          <p:nvPr/>
        </p:nvSpPr>
        <p:spPr>
          <a:xfrm>
            <a:off x="594360" y="3255263"/>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3209544"/>
            <a:ext cx="4956048" cy="292608"/>
          </a:xfrm>
          <a:prstGeom prst="rect">
            <a:avLst/>
          </a:prstGeom>
          <a:noFill/>
        </p:spPr>
        <p:txBody>
          <a:bodyPr wrap="square">
            <a:spAutoFit/>
          </a:bodyPr>
          <a:lstStyle/>
          <a:p>
            <a:pPr algn="l"/>
            <a:r>
              <a:rPr sz="1000" b="0" i="0">
                <a:solidFill>
                  <a:srgbClr val="CCCCDD"/>
                </a:solidFill>
              </a:rPr>
              <a:t>Multi-channel sales (primary market + auctions + private sales)</a:t>
            </a:r>
          </a:p>
        </p:txBody>
      </p:sp>
      <p:sp>
        <p:nvSpPr>
          <p:cNvPr id="16" name="Oval 15"/>
          <p:cNvSpPr/>
          <p:nvPr/>
        </p:nvSpPr>
        <p:spPr>
          <a:xfrm>
            <a:off x="594360" y="3547872"/>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3502152"/>
            <a:ext cx="4956048" cy="292608"/>
          </a:xfrm>
          <a:prstGeom prst="rect">
            <a:avLst/>
          </a:prstGeom>
          <a:noFill/>
        </p:spPr>
        <p:txBody>
          <a:bodyPr wrap="square">
            <a:spAutoFit/>
          </a:bodyPr>
          <a:lstStyle/>
          <a:p>
            <a:pPr algn="l"/>
            <a:r>
              <a:rPr sz="1000" b="0" i="0">
                <a:solidFill>
                  <a:srgbClr val="CCCCDD"/>
                </a:solidFill>
              </a:rPr>
              <a:t>Gallery analytics &amp; CRM tools create deep platform stickiness</a:t>
            </a:r>
          </a:p>
        </p:txBody>
      </p:sp>
      <p:sp>
        <p:nvSpPr>
          <p:cNvPr id="18" name="Oval 17"/>
          <p:cNvSpPr/>
          <p:nvPr/>
        </p:nvSpPr>
        <p:spPr>
          <a:xfrm>
            <a:off x="594360" y="3840480"/>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3794760"/>
            <a:ext cx="4956048" cy="292608"/>
          </a:xfrm>
          <a:prstGeom prst="rect">
            <a:avLst/>
          </a:prstGeom>
          <a:noFill/>
        </p:spPr>
        <p:txBody>
          <a:bodyPr wrap="square">
            <a:spAutoFit/>
          </a:bodyPr>
          <a:lstStyle/>
          <a:p>
            <a:pPr algn="l"/>
            <a:r>
              <a:rPr sz="1000" b="0" i="0">
                <a:solidFill>
                  <a:srgbClr val="CCCCDD"/>
                </a:solidFill>
              </a:rPr>
              <a:t>Brand trust with established collectors and institutions</a:t>
            </a:r>
          </a:p>
        </p:txBody>
      </p:sp>
      <p:sp>
        <p:nvSpPr>
          <p:cNvPr id="20" name="Oval 19"/>
          <p:cNvSpPr/>
          <p:nvPr/>
        </p:nvSpPr>
        <p:spPr>
          <a:xfrm>
            <a:off x="594360" y="4133087"/>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4087368"/>
            <a:ext cx="4956048" cy="292608"/>
          </a:xfrm>
          <a:prstGeom prst="rect">
            <a:avLst/>
          </a:prstGeom>
          <a:noFill/>
        </p:spPr>
        <p:txBody>
          <a:bodyPr wrap="square">
            <a:spAutoFit/>
          </a:bodyPr>
          <a:lstStyle/>
          <a:p>
            <a:pPr algn="l"/>
            <a:r>
              <a:rPr sz="1000" b="0" i="0">
                <a:solidFill>
                  <a:srgbClr val="CCCCDD"/>
                </a:solidFill>
              </a:rPr>
              <a:t>Newly merged with Artnet = combined marketplace + price data</a:t>
            </a:r>
          </a:p>
        </p:txBody>
      </p:sp>
      <p:sp>
        <p:nvSpPr>
          <p:cNvPr id="22" name="Rectangle 21"/>
          <p:cNvSpPr/>
          <p:nvPr/>
        </p:nvSpPr>
        <p:spPr>
          <a:xfrm>
            <a:off x="6309360" y="1828800"/>
            <a:ext cx="5394960" cy="4389120"/>
          </a:xfrm>
          <a:prstGeom prst="rect">
            <a:avLst/>
          </a:prstGeom>
          <a:solidFill>
            <a:srgbClr val="18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20240"/>
            <a:ext cx="5120640" cy="365760"/>
          </a:xfrm>
          <a:prstGeom prst="rect">
            <a:avLst/>
          </a:prstGeom>
          <a:noFill/>
        </p:spPr>
        <p:txBody>
          <a:bodyPr wrap="square">
            <a:spAutoFit/>
          </a:bodyPr>
          <a:lstStyle/>
          <a:p>
            <a:pPr algn="l"/>
            <a:r>
              <a:rPr sz="1300" b="1" i="0">
                <a:solidFill>
                  <a:srgbClr val="EF4444"/>
                </a:solidFill>
              </a:rPr>
              <a:t>✗  Weaknesses</a:t>
            </a:r>
          </a:p>
        </p:txBody>
      </p:sp>
      <p:cxnSp>
        <p:nvCxnSpPr>
          <p:cNvPr id="24" name="Connector 23"/>
          <p:cNvCxnSpPr/>
          <p:nvPr/>
        </p:nvCxnSpPr>
        <p:spPr>
          <a:xfrm>
            <a:off x="6446520" y="2267712"/>
            <a:ext cx="5120639" cy="0"/>
          </a:xfrm>
          <a:prstGeom prst="line">
            <a:avLst/>
          </a:prstGeom>
          <a:ln w="12700">
            <a:solidFill>
              <a:srgbClr val="552222"/>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46520" y="2377439"/>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11112" y="2331720"/>
            <a:ext cx="4956048" cy="292608"/>
          </a:xfrm>
          <a:prstGeom prst="rect">
            <a:avLst/>
          </a:prstGeom>
          <a:noFill/>
        </p:spPr>
        <p:txBody>
          <a:bodyPr wrap="square">
            <a:spAutoFit/>
          </a:bodyPr>
          <a:lstStyle/>
          <a:p>
            <a:pPr algn="l"/>
            <a:r>
              <a:rPr sz="1000" b="0" i="0">
                <a:solidFill>
                  <a:srgbClr val="CCCCDD"/>
                </a:solidFill>
              </a:rPr>
              <a:t>Never profitable despite $130M raised (325+ staff overhead)</a:t>
            </a:r>
          </a:p>
        </p:txBody>
      </p:sp>
      <p:sp>
        <p:nvSpPr>
          <p:cNvPr id="27" name="Oval 26"/>
          <p:cNvSpPr/>
          <p:nvPr/>
        </p:nvSpPr>
        <p:spPr>
          <a:xfrm>
            <a:off x="6446520" y="2670047"/>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11112" y="2624327"/>
            <a:ext cx="4956048" cy="292608"/>
          </a:xfrm>
          <a:prstGeom prst="rect">
            <a:avLst/>
          </a:prstGeom>
          <a:noFill/>
        </p:spPr>
        <p:txBody>
          <a:bodyPr wrap="square">
            <a:spAutoFit/>
          </a:bodyPr>
          <a:lstStyle/>
          <a:p>
            <a:pPr algn="l"/>
            <a:r>
              <a:rPr sz="1000" b="0" i="0">
                <a:solidFill>
                  <a:srgbClr val="CCCCDD"/>
                </a:solidFill>
              </a:rPr>
              <a:t>Pay-for-play editorial damages collector trust</a:t>
            </a:r>
          </a:p>
        </p:txBody>
      </p:sp>
      <p:sp>
        <p:nvSpPr>
          <p:cNvPr id="29" name="Oval 28"/>
          <p:cNvSpPr/>
          <p:nvPr/>
        </p:nvSpPr>
        <p:spPr>
          <a:xfrm>
            <a:off x="6446520" y="2962656"/>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11112" y="2916936"/>
            <a:ext cx="4956048" cy="292608"/>
          </a:xfrm>
          <a:prstGeom prst="rect">
            <a:avLst/>
          </a:prstGeom>
          <a:noFill/>
        </p:spPr>
        <p:txBody>
          <a:bodyPr wrap="square">
            <a:spAutoFit/>
          </a:bodyPr>
          <a:lstStyle/>
          <a:p>
            <a:pPr algn="l"/>
            <a:r>
              <a:rPr sz="1000" b="0" i="0">
                <a:solidFill>
                  <a:srgbClr val="CCCCDD"/>
                </a:solidFill>
              </a:rPr>
              <a:t>Documented fraud cases — counterfeit works not vetted</a:t>
            </a:r>
          </a:p>
        </p:txBody>
      </p:sp>
      <p:sp>
        <p:nvSpPr>
          <p:cNvPr id="31" name="Oval 30"/>
          <p:cNvSpPr/>
          <p:nvPr/>
        </p:nvSpPr>
        <p:spPr>
          <a:xfrm>
            <a:off x="6446520" y="3255263"/>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11112" y="3209544"/>
            <a:ext cx="4956048" cy="292608"/>
          </a:xfrm>
          <a:prstGeom prst="rect">
            <a:avLst/>
          </a:prstGeom>
          <a:noFill/>
        </p:spPr>
        <p:txBody>
          <a:bodyPr wrap="square">
            <a:spAutoFit/>
          </a:bodyPr>
          <a:lstStyle/>
          <a:p>
            <a:pPr algn="l"/>
            <a:r>
              <a:rPr sz="1000" b="0" i="0">
                <a:solidFill>
                  <a:srgbClr val="CCCCDD"/>
                </a:solidFill>
              </a:rPr>
              <a:t>Art Basel publicly rebuked Artsy for misleading practices</a:t>
            </a:r>
          </a:p>
        </p:txBody>
      </p:sp>
      <p:sp>
        <p:nvSpPr>
          <p:cNvPr id="33" name="Oval 32"/>
          <p:cNvSpPr/>
          <p:nvPr/>
        </p:nvSpPr>
        <p:spPr>
          <a:xfrm>
            <a:off x="6446520" y="3547872"/>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11112" y="3502152"/>
            <a:ext cx="4956048" cy="292608"/>
          </a:xfrm>
          <a:prstGeom prst="rect">
            <a:avLst/>
          </a:prstGeom>
          <a:noFill/>
        </p:spPr>
        <p:txBody>
          <a:bodyPr wrap="square">
            <a:spAutoFit/>
          </a:bodyPr>
          <a:lstStyle/>
          <a:p>
            <a:pPr algn="l"/>
            <a:r>
              <a:rPr sz="1000" b="0" i="0">
                <a:solidFill>
                  <a:srgbClr val="CCCCDD"/>
                </a:solidFill>
              </a:rPr>
              <a:t>High cost for small galleries ($385–$1,000/mo prohibitive)</a:t>
            </a:r>
          </a:p>
        </p:txBody>
      </p:sp>
      <p:sp>
        <p:nvSpPr>
          <p:cNvPr id="35" name="Oval 34"/>
          <p:cNvSpPr/>
          <p:nvPr/>
        </p:nvSpPr>
        <p:spPr>
          <a:xfrm>
            <a:off x="6446520" y="3840480"/>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11112" y="3794760"/>
            <a:ext cx="4956048" cy="292608"/>
          </a:xfrm>
          <a:prstGeom prst="rect">
            <a:avLst/>
          </a:prstGeom>
          <a:noFill/>
        </p:spPr>
        <p:txBody>
          <a:bodyPr wrap="square">
            <a:spAutoFit/>
          </a:bodyPr>
          <a:lstStyle/>
          <a:p>
            <a:pPr algn="l"/>
            <a:r>
              <a:rPr sz="1000" b="0" i="0">
                <a:solidFill>
                  <a:srgbClr val="CCCCDD"/>
                </a:solidFill>
              </a:rPr>
              <a:t>Completely illiquid — no resale mechanism once purchased</a:t>
            </a:r>
          </a:p>
        </p:txBody>
      </p:sp>
      <p:sp>
        <p:nvSpPr>
          <p:cNvPr id="37" name="Oval 36"/>
          <p:cNvSpPr/>
          <p:nvPr/>
        </p:nvSpPr>
        <p:spPr>
          <a:xfrm>
            <a:off x="6446520" y="4133087"/>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11112" y="4087368"/>
            <a:ext cx="4956048" cy="292608"/>
          </a:xfrm>
          <a:prstGeom prst="rect">
            <a:avLst/>
          </a:prstGeom>
          <a:noFill/>
        </p:spPr>
        <p:txBody>
          <a:bodyPr wrap="square">
            <a:spAutoFit/>
          </a:bodyPr>
          <a:lstStyle/>
          <a:p>
            <a:pPr algn="l"/>
            <a:r>
              <a:rPr sz="1000" b="0" i="0">
                <a:solidFill>
                  <a:srgbClr val="CCCCDD"/>
                </a:solidFill>
              </a:rPr>
              <a:t>No fractional ownership, no leverage, no financial instruments</a:t>
            </a:r>
          </a:p>
        </p:txBody>
      </p:sp>
      <p:sp>
        <p:nvSpPr>
          <p:cNvPr id="39" name="Oval 38"/>
          <p:cNvSpPr/>
          <p:nvPr/>
        </p:nvSpPr>
        <p:spPr>
          <a:xfrm>
            <a:off x="6446520" y="4425696"/>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11112" y="4379976"/>
            <a:ext cx="4956048" cy="292608"/>
          </a:xfrm>
          <a:prstGeom prst="rect">
            <a:avLst/>
          </a:prstGeom>
          <a:noFill/>
        </p:spPr>
        <p:txBody>
          <a:bodyPr wrap="square">
            <a:spAutoFit/>
          </a:bodyPr>
          <a:lstStyle/>
          <a:p>
            <a:pPr algn="l"/>
            <a:r>
              <a:rPr sz="1000" b="0" i="0">
                <a:solidFill>
                  <a:srgbClr val="CCCCDD"/>
                </a:solidFill>
              </a:rPr>
              <a:t>Traditional art only — not designed for digital-native assets</a:t>
            </a:r>
          </a:p>
        </p:txBody>
      </p:sp>
      <p:cxnSp>
        <p:nvCxnSpPr>
          <p:cNvPr id="41" name="Connector 40"/>
          <p:cNvCxnSpPr/>
          <p:nvPr/>
        </p:nvCxnSpPr>
        <p:spPr>
          <a:xfrm>
            <a:off x="5852160" y="1828800"/>
            <a:ext cx="18288" cy="0"/>
          </a:xfrm>
          <a:prstGeom prst="line">
            <a:avLst/>
          </a:prstGeom>
          <a:ln w="38100">
            <a:solidFill>
              <a:srgbClr val="33334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COMPETITOR 02 / OPENSEA</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The World's Largest NFT Marketplace</a:t>
            </a:r>
          </a:p>
        </p:txBody>
      </p:sp>
      <p:sp>
        <p:nvSpPr>
          <p:cNvPr id="5" name="Rectangle 4"/>
          <p:cNvSpPr/>
          <p:nvPr/>
        </p:nvSpPr>
        <p:spPr>
          <a:xfrm>
            <a:off x="457200" y="1828800"/>
            <a:ext cx="2148840" cy="868680"/>
          </a:xfrm>
          <a:prstGeom prst="rect">
            <a:avLst/>
          </a:prstGeom>
          <a:solidFill>
            <a:srgbClr val="10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74519"/>
            <a:ext cx="2148840" cy="457200"/>
          </a:xfrm>
          <a:prstGeom prst="rect">
            <a:avLst/>
          </a:prstGeom>
          <a:noFill/>
        </p:spPr>
        <p:txBody>
          <a:bodyPr wrap="square">
            <a:spAutoFit/>
          </a:bodyPr>
          <a:lstStyle/>
          <a:p>
            <a:pPr algn="ctr"/>
            <a:r>
              <a:rPr sz="2200" b="1" i="0">
                <a:solidFill>
                  <a:srgbClr val="3B82F6"/>
                </a:solidFill>
              </a:rPr>
              <a:t>$2.6B</a:t>
            </a:r>
          </a:p>
        </p:txBody>
      </p:sp>
      <p:sp>
        <p:nvSpPr>
          <p:cNvPr id="7" name="TextBox 6"/>
          <p:cNvSpPr txBox="1"/>
          <p:nvPr/>
        </p:nvSpPr>
        <p:spPr>
          <a:xfrm>
            <a:off x="457200" y="2304288"/>
            <a:ext cx="2148840" cy="320040"/>
          </a:xfrm>
          <a:prstGeom prst="rect">
            <a:avLst/>
          </a:prstGeom>
          <a:noFill/>
        </p:spPr>
        <p:txBody>
          <a:bodyPr wrap="square">
            <a:spAutoFit/>
          </a:bodyPr>
          <a:lstStyle/>
          <a:p>
            <a:pPr algn="ctr"/>
            <a:r>
              <a:rPr sz="900" b="0" i="0">
                <a:solidFill>
                  <a:srgbClr val="888899"/>
                </a:solidFill>
              </a:rPr>
              <a:t>Monthly Volume (Oct 2025)</a:t>
            </a:r>
          </a:p>
        </p:txBody>
      </p:sp>
      <p:sp>
        <p:nvSpPr>
          <p:cNvPr id="8" name="Rectangle 7"/>
          <p:cNvSpPr/>
          <p:nvPr/>
        </p:nvSpPr>
        <p:spPr>
          <a:xfrm>
            <a:off x="2761488" y="1828800"/>
            <a:ext cx="2148840" cy="868680"/>
          </a:xfrm>
          <a:prstGeom prst="rect">
            <a:avLst/>
          </a:prstGeom>
          <a:solidFill>
            <a:srgbClr val="10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61488" y="1874519"/>
            <a:ext cx="2148840" cy="457200"/>
          </a:xfrm>
          <a:prstGeom prst="rect">
            <a:avLst/>
          </a:prstGeom>
          <a:noFill/>
        </p:spPr>
        <p:txBody>
          <a:bodyPr wrap="square">
            <a:spAutoFit/>
          </a:bodyPr>
          <a:lstStyle/>
          <a:p>
            <a:pPr algn="ctr"/>
            <a:r>
              <a:rPr sz="2200" b="1" i="0">
                <a:solidFill>
                  <a:srgbClr val="3B82F6"/>
                </a:solidFill>
              </a:rPr>
              <a:t>467K</a:t>
            </a:r>
          </a:p>
        </p:txBody>
      </p:sp>
      <p:sp>
        <p:nvSpPr>
          <p:cNvPr id="10" name="TextBox 9"/>
          <p:cNvSpPr txBox="1"/>
          <p:nvPr/>
        </p:nvSpPr>
        <p:spPr>
          <a:xfrm>
            <a:off x="2761488" y="2304288"/>
            <a:ext cx="2148840" cy="320040"/>
          </a:xfrm>
          <a:prstGeom prst="rect">
            <a:avLst/>
          </a:prstGeom>
          <a:noFill/>
        </p:spPr>
        <p:txBody>
          <a:bodyPr wrap="square">
            <a:spAutoFit/>
          </a:bodyPr>
          <a:lstStyle/>
          <a:p>
            <a:pPr algn="ctr"/>
            <a:r>
              <a:rPr sz="900" b="0" i="0">
                <a:solidFill>
                  <a:srgbClr val="888899"/>
                </a:solidFill>
              </a:rPr>
              <a:t>Monthly Active Users</a:t>
            </a:r>
          </a:p>
        </p:txBody>
      </p:sp>
      <p:sp>
        <p:nvSpPr>
          <p:cNvPr id="11" name="Rectangle 10"/>
          <p:cNvSpPr/>
          <p:nvPr/>
        </p:nvSpPr>
        <p:spPr>
          <a:xfrm>
            <a:off x="5065776" y="1828800"/>
            <a:ext cx="2148840" cy="868680"/>
          </a:xfrm>
          <a:prstGeom prst="rect">
            <a:avLst/>
          </a:prstGeom>
          <a:solidFill>
            <a:srgbClr val="10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65776" y="1874519"/>
            <a:ext cx="2148840" cy="457200"/>
          </a:xfrm>
          <a:prstGeom prst="rect">
            <a:avLst/>
          </a:prstGeom>
          <a:noFill/>
        </p:spPr>
        <p:txBody>
          <a:bodyPr wrap="square">
            <a:spAutoFit/>
          </a:bodyPr>
          <a:lstStyle/>
          <a:p>
            <a:pPr algn="ctr"/>
            <a:r>
              <a:rPr sz="2200" b="1" i="0">
                <a:solidFill>
                  <a:srgbClr val="3B82F6"/>
                </a:solidFill>
              </a:rPr>
              <a:t>22</a:t>
            </a:r>
          </a:p>
        </p:txBody>
      </p:sp>
      <p:sp>
        <p:nvSpPr>
          <p:cNvPr id="13" name="TextBox 12"/>
          <p:cNvSpPr txBox="1"/>
          <p:nvPr/>
        </p:nvSpPr>
        <p:spPr>
          <a:xfrm>
            <a:off x="5065776" y="2304288"/>
            <a:ext cx="2148840" cy="320040"/>
          </a:xfrm>
          <a:prstGeom prst="rect">
            <a:avLst/>
          </a:prstGeom>
          <a:noFill/>
        </p:spPr>
        <p:txBody>
          <a:bodyPr wrap="square">
            <a:spAutoFit/>
          </a:bodyPr>
          <a:lstStyle/>
          <a:p>
            <a:pPr algn="ctr"/>
            <a:r>
              <a:rPr sz="900" b="0" i="0">
                <a:solidFill>
                  <a:srgbClr val="888899"/>
                </a:solidFill>
              </a:rPr>
              <a:t>Blockchains Supported</a:t>
            </a:r>
          </a:p>
        </p:txBody>
      </p:sp>
      <p:sp>
        <p:nvSpPr>
          <p:cNvPr id="14" name="Rectangle 13"/>
          <p:cNvSpPr/>
          <p:nvPr/>
        </p:nvSpPr>
        <p:spPr>
          <a:xfrm>
            <a:off x="7370064" y="1828800"/>
            <a:ext cx="2148840" cy="868680"/>
          </a:xfrm>
          <a:prstGeom prst="rect">
            <a:avLst/>
          </a:prstGeom>
          <a:solidFill>
            <a:srgbClr val="10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70064" y="1874519"/>
            <a:ext cx="2148840" cy="457200"/>
          </a:xfrm>
          <a:prstGeom prst="rect">
            <a:avLst/>
          </a:prstGeom>
          <a:noFill/>
        </p:spPr>
        <p:txBody>
          <a:bodyPr wrap="square">
            <a:spAutoFit/>
          </a:bodyPr>
          <a:lstStyle/>
          <a:p>
            <a:pPr algn="ctr"/>
            <a:r>
              <a:rPr sz="2200" b="1" i="0">
                <a:solidFill>
                  <a:srgbClr val="3B82F6"/>
                </a:solidFill>
              </a:rPr>
              <a:t>$13.3B</a:t>
            </a:r>
          </a:p>
        </p:txBody>
      </p:sp>
      <p:sp>
        <p:nvSpPr>
          <p:cNvPr id="16" name="TextBox 15"/>
          <p:cNvSpPr txBox="1"/>
          <p:nvPr/>
        </p:nvSpPr>
        <p:spPr>
          <a:xfrm>
            <a:off x="7370064" y="2304288"/>
            <a:ext cx="2148840" cy="320040"/>
          </a:xfrm>
          <a:prstGeom prst="rect">
            <a:avLst/>
          </a:prstGeom>
          <a:noFill/>
        </p:spPr>
        <p:txBody>
          <a:bodyPr wrap="square">
            <a:spAutoFit/>
          </a:bodyPr>
          <a:lstStyle/>
          <a:p>
            <a:pPr algn="ctr"/>
            <a:r>
              <a:rPr sz="900" b="0" i="0">
                <a:solidFill>
                  <a:srgbClr val="888899"/>
                </a:solidFill>
              </a:rPr>
              <a:t>Peak Valuation (2022)</a:t>
            </a:r>
          </a:p>
        </p:txBody>
      </p:sp>
      <p:sp>
        <p:nvSpPr>
          <p:cNvPr id="17" name="Rectangle 16"/>
          <p:cNvSpPr/>
          <p:nvPr/>
        </p:nvSpPr>
        <p:spPr>
          <a:xfrm>
            <a:off x="9674352" y="1828800"/>
            <a:ext cx="2148840" cy="868680"/>
          </a:xfrm>
          <a:prstGeom prst="rect">
            <a:avLst/>
          </a:prstGeom>
          <a:solidFill>
            <a:srgbClr val="10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74352" y="1874519"/>
            <a:ext cx="2148840" cy="457200"/>
          </a:xfrm>
          <a:prstGeom prst="rect">
            <a:avLst/>
          </a:prstGeom>
          <a:noFill/>
        </p:spPr>
        <p:txBody>
          <a:bodyPr wrap="square">
            <a:spAutoFit/>
          </a:bodyPr>
          <a:lstStyle/>
          <a:p>
            <a:pPr algn="ctr"/>
            <a:r>
              <a:rPr sz="2200" b="1" i="0">
                <a:solidFill>
                  <a:srgbClr val="3B82F6"/>
                </a:solidFill>
              </a:rPr>
              <a:t>Est. 2017</a:t>
            </a:r>
          </a:p>
        </p:txBody>
      </p:sp>
      <p:sp>
        <p:nvSpPr>
          <p:cNvPr id="19" name="TextBox 18"/>
          <p:cNvSpPr txBox="1"/>
          <p:nvPr/>
        </p:nvSpPr>
        <p:spPr>
          <a:xfrm>
            <a:off x="9674352" y="2304288"/>
            <a:ext cx="2148840" cy="320040"/>
          </a:xfrm>
          <a:prstGeom prst="rect">
            <a:avLst/>
          </a:prstGeom>
          <a:noFill/>
        </p:spPr>
        <p:txBody>
          <a:bodyPr wrap="square">
            <a:spAutoFit/>
          </a:bodyPr>
          <a:lstStyle/>
          <a:p>
            <a:pPr algn="ctr"/>
            <a:r>
              <a:rPr sz="900" b="0" i="0">
                <a:solidFill>
                  <a:srgbClr val="888899"/>
                </a:solidFill>
              </a:rPr>
              <a:t>New York, USA</a:t>
            </a:r>
          </a:p>
        </p:txBody>
      </p:sp>
      <p:sp>
        <p:nvSpPr>
          <p:cNvPr id="20" name="TextBox 19"/>
          <p:cNvSpPr txBox="1"/>
          <p:nvPr/>
        </p:nvSpPr>
        <p:spPr>
          <a:xfrm>
            <a:off x="457200" y="2880360"/>
            <a:ext cx="5486400" cy="320040"/>
          </a:xfrm>
          <a:prstGeom prst="rect">
            <a:avLst/>
          </a:prstGeom>
          <a:noFill/>
        </p:spPr>
        <p:txBody>
          <a:bodyPr wrap="square">
            <a:spAutoFit/>
          </a:bodyPr>
          <a:lstStyle/>
          <a:p>
            <a:pPr algn="l"/>
            <a:r>
              <a:rPr sz="1100" b="1" i="0">
                <a:solidFill>
                  <a:srgbClr val="3B82F6"/>
                </a:solidFill>
              </a:rPr>
              <a:t>Business Model &amp; Fee Evolution</a:t>
            </a:r>
          </a:p>
        </p:txBody>
      </p:sp>
      <p:cxnSp>
        <p:nvCxnSpPr>
          <p:cNvPr id="21" name="Connector 20"/>
          <p:cNvCxnSpPr/>
          <p:nvPr/>
        </p:nvCxnSpPr>
        <p:spPr>
          <a:xfrm>
            <a:off x="457200" y="3182112"/>
            <a:ext cx="5303520" cy="0"/>
          </a:xfrm>
          <a:prstGeom prst="line">
            <a:avLst/>
          </a:prstGeom>
          <a:ln w="12700">
            <a:solidFill>
              <a:srgbClr val="22224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57200" y="3291839"/>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3246120"/>
            <a:ext cx="5230368" cy="292608"/>
          </a:xfrm>
          <a:prstGeom prst="rect">
            <a:avLst/>
          </a:prstGeom>
          <a:noFill/>
        </p:spPr>
        <p:txBody>
          <a:bodyPr wrap="square">
            <a:spAutoFit/>
          </a:bodyPr>
          <a:lstStyle/>
          <a:p>
            <a:pPr algn="l"/>
            <a:r>
              <a:rPr sz="1000" b="0" i="0">
                <a:solidFill>
                  <a:srgbClr val="CCCCDD"/>
                </a:solidFill>
              </a:rPr>
              <a:t>Non-custodial marketplace — never holds user assets</a:t>
            </a:r>
          </a:p>
        </p:txBody>
      </p:sp>
      <p:sp>
        <p:nvSpPr>
          <p:cNvPr id="24" name="Oval 23"/>
          <p:cNvSpPr/>
          <p:nvPr/>
        </p:nvSpPr>
        <p:spPr>
          <a:xfrm>
            <a:off x="457200" y="3584447"/>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3538727"/>
            <a:ext cx="5230368" cy="292608"/>
          </a:xfrm>
          <a:prstGeom prst="rect">
            <a:avLst/>
          </a:prstGeom>
          <a:noFill/>
        </p:spPr>
        <p:txBody>
          <a:bodyPr wrap="square">
            <a:spAutoFit/>
          </a:bodyPr>
          <a:lstStyle/>
          <a:p>
            <a:pPr algn="l"/>
            <a:r>
              <a:rPr sz="1000" b="0" i="0">
                <a:solidFill>
                  <a:srgbClr val="CCCCDD"/>
                </a:solidFill>
              </a:rPr>
              <a:t>Pure transaction-volume revenue model (no subscriptions)</a:t>
            </a:r>
          </a:p>
        </p:txBody>
      </p:sp>
      <p:sp>
        <p:nvSpPr>
          <p:cNvPr id="26" name="Oval 25"/>
          <p:cNvSpPr/>
          <p:nvPr/>
        </p:nvSpPr>
        <p:spPr>
          <a:xfrm>
            <a:off x="457200" y="3877055"/>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 y="3831335"/>
            <a:ext cx="5230368" cy="292608"/>
          </a:xfrm>
          <a:prstGeom prst="rect">
            <a:avLst/>
          </a:prstGeom>
          <a:noFill/>
        </p:spPr>
        <p:txBody>
          <a:bodyPr wrap="square">
            <a:spAutoFit/>
          </a:bodyPr>
          <a:lstStyle/>
          <a:p>
            <a:pPr algn="l"/>
            <a:r>
              <a:rPr sz="1000" b="0" i="0">
                <a:solidFill>
                  <a:srgbClr val="CCCCDD"/>
                </a:solidFill>
              </a:rPr>
              <a:t>Historically 2.5% marketplace fee (highest in NFT space)</a:t>
            </a:r>
          </a:p>
        </p:txBody>
      </p:sp>
      <p:sp>
        <p:nvSpPr>
          <p:cNvPr id="28" name="Oval 27"/>
          <p:cNvSpPr/>
          <p:nvPr/>
        </p:nvSpPr>
        <p:spPr>
          <a:xfrm>
            <a:off x="457200" y="4169663"/>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 y="4123944"/>
            <a:ext cx="5230368" cy="292608"/>
          </a:xfrm>
          <a:prstGeom prst="rect">
            <a:avLst/>
          </a:prstGeom>
          <a:noFill/>
        </p:spPr>
        <p:txBody>
          <a:bodyPr wrap="square">
            <a:spAutoFit/>
          </a:bodyPr>
          <a:lstStyle/>
          <a:p>
            <a:pPr algn="l"/>
            <a:r>
              <a:rPr sz="1000" b="0" i="0">
                <a:solidFill>
                  <a:srgbClr val="CCCCDD"/>
                </a:solidFill>
              </a:rPr>
              <a:t>OS2 launched May 2025: fees cut to 0.5% (response to Blur)</a:t>
            </a:r>
          </a:p>
        </p:txBody>
      </p:sp>
      <p:sp>
        <p:nvSpPr>
          <p:cNvPr id="30" name="Oval 29"/>
          <p:cNvSpPr/>
          <p:nvPr/>
        </p:nvSpPr>
        <p:spPr>
          <a:xfrm>
            <a:off x="457200" y="4462272"/>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1792" y="4416552"/>
            <a:ext cx="5230368" cy="292608"/>
          </a:xfrm>
          <a:prstGeom prst="rect">
            <a:avLst/>
          </a:prstGeom>
          <a:noFill/>
        </p:spPr>
        <p:txBody>
          <a:bodyPr wrap="square">
            <a:spAutoFit/>
          </a:bodyPr>
          <a:lstStyle/>
          <a:p>
            <a:pPr algn="l"/>
            <a:r>
              <a:rPr sz="1000" b="0" i="0">
                <a:solidFill>
                  <a:srgbClr val="CCCCDD"/>
                </a:solidFill>
              </a:rPr>
              <a:t>October 2025: 90%+ of volume now from TOKEN trading, not NFTs</a:t>
            </a:r>
          </a:p>
        </p:txBody>
      </p:sp>
      <p:sp>
        <p:nvSpPr>
          <p:cNvPr id="32" name="TextBox 31"/>
          <p:cNvSpPr txBox="1"/>
          <p:nvPr/>
        </p:nvSpPr>
        <p:spPr>
          <a:xfrm>
            <a:off x="6217920" y="2880360"/>
            <a:ext cx="5486400" cy="320040"/>
          </a:xfrm>
          <a:prstGeom prst="rect">
            <a:avLst/>
          </a:prstGeom>
          <a:noFill/>
        </p:spPr>
        <p:txBody>
          <a:bodyPr wrap="square">
            <a:spAutoFit/>
          </a:bodyPr>
          <a:lstStyle/>
          <a:p>
            <a:pPr algn="l"/>
            <a:r>
              <a:rPr sz="1100" b="1" i="0">
                <a:solidFill>
                  <a:srgbClr val="3B82F6"/>
                </a:solidFill>
              </a:rPr>
              <a:t>Key Timeline</a:t>
            </a:r>
          </a:p>
        </p:txBody>
      </p:sp>
      <p:cxnSp>
        <p:nvCxnSpPr>
          <p:cNvPr id="33" name="Connector 32"/>
          <p:cNvCxnSpPr/>
          <p:nvPr/>
        </p:nvCxnSpPr>
        <p:spPr>
          <a:xfrm>
            <a:off x="6217920" y="3182112"/>
            <a:ext cx="5394960" cy="0"/>
          </a:xfrm>
          <a:prstGeom prst="line">
            <a:avLst/>
          </a:prstGeom>
          <a:ln w="12700">
            <a:solidFill>
              <a:srgbClr val="222244"/>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217920" y="3383280"/>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3291840"/>
            <a:ext cx="1188720" cy="347472"/>
          </a:xfrm>
          <a:prstGeom prst="rect">
            <a:avLst/>
          </a:prstGeom>
          <a:noFill/>
        </p:spPr>
        <p:txBody>
          <a:bodyPr wrap="square">
            <a:spAutoFit/>
          </a:bodyPr>
          <a:lstStyle/>
          <a:p>
            <a:pPr algn="l"/>
            <a:r>
              <a:rPr sz="900" b="1" i="0">
                <a:solidFill>
                  <a:srgbClr val="3B82F6"/>
                </a:solidFill>
              </a:rPr>
              <a:t>Jan 2022</a:t>
            </a:r>
          </a:p>
        </p:txBody>
      </p:sp>
      <p:sp>
        <p:nvSpPr>
          <p:cNvPr id="36" name="TextBox 35"/>
          <p:cNvSpPr txBox="1"/>
          <p:nvPr/>
        </p:nvSpPr>
        <p:spPr>
          <a:xfrm>
            <a:off x="7635240" y="3291840"/>
            <a:ext cx="3931920" cy="347472"/>
          </a:xfrm>
          <a:prstGeom prst="rect">
            <a:avLst/>
          </a:prstGeom>
          <a:noFill/>
        </p:spPr>
        <p:txBody>
          <a:bodyPr wrap="square">
            <a:spAutoFit/>
          </a:bodyPr>
          <a:lstStyle/>
          <a:p>
            <a:pPr algn="l"/>
            <a:r>
              <a:rPr sz="900" b="0" i="0">
                <a:solidFill>
                  <a:srgbClr val="CCCCDD"/>
                </a:solidFill>
              </a:rPr>
              <a:t>$13.3B valuation — peak of NFT boom</a:t>
            </a:r>
          </a:p>
        </p:txBody>
      </p:sp>
      <p:sp>
        <p:nvSpPr>
          <p:cNvPr id="37" name="Oval 36"/>
          <p:cNvSpPr/>
          <p:nvPr/>
        </p:nvSpPr>
        <p:spPr>
          <a:xfrm>
            <a:off x="6217920" y="3767328"/>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0" y="3675888"/>
            <a:ext cx="1188720" cy="347472"/>
          </a:xfrm>
          <a:prstGeom prst="rect">
            <a:avLst/>
          </a:prstGeom>
          <a:noFill/>
        </p:spPr>
        <p:txBody>
          <a:bodyPr wrap="square">
            <a:spAutoFit/>
          </a:bodyPr>
          <a:lstStyle/>
          <a:p>
            <a:pPr algn="l"/>
            <a:r>
              <a:rPr sz="900" b="1" i="0">
                <a:solidFill>
                  <a:srgbClr val="EF4444"/>
                </a:solidFill>
              </a:rPr>
              <a:t>Mid 2024</a:t>
            </a:r>
          </a:p>
        </p:txBody>
      </p:sp>
      <p:sp>
        <p:nvSpPr>
          <p:cNvPr id="39" name="TextBox 38"/>
          <p:cNvSpPr txBox="1"/>
          <p:nvPr/>
        </p:nvSpPr>
        <p:spPr>
          <a:xfrm>
            <a:off x="7635240" y="3675888"/>
            <a:ext cx="3931920" cy="347472"/>
          </a:xfrm>
          <a:prstGeom prst="rect">
            <a:avLst/>
          </a:prstGeom>
          <a:noFill/>
        </p:spPr>
        <p:txBody>
          <a:bodyPr wrap="square">
            <a:spAutoFit/>
          </a:bodyPr>
          <a:lstStyle/>
          <a:p>
            <a:pPr algn="l"/>
            <a:r>
              <a:rPr sz="900" b="0" i="0">
                <a:solidFill>
                  <a:srgbClr val="CCCCDD"/>
                </a:solidFill>
              </a:rPr>
              <a:t>Market share fell from 97% → 13% (Blur competition)</a:t>
            </a:r>
          </a:p>
        </p:txBody>
      </p:sp>
      <p:sp>
        <p:nvSpPr>
          <p:cNvPr id="40" name="Oval 39"/>
          <p:cNvSpPr/>
          <p:nvPr/>
        </p:nvSpPr>
        <p:spPr>
          <a:xfrm>
            <a:off x="6217920" y="4151376"/>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4059936"/>
            <a:ext cx="1188720" cy="347472"/>
          </a:xfrm>
          <a:prstGeom prst="rect">
            <a:avLst/>
          </a:prstGeom>
          <a:noFill/>
        </p:spPr>
        <p:txBody>
          <a:bodyPr wrap="square">
            <a:spAutoFit/>
          </a:bodyPr>
          <a:lstStyle/>
          <a:p>
            <a:pPr algn="l"/>
            <a:r>
              <a:rPr sz="900" b="1" i="0">
                <a:solidFill>
                  <a:srgbClr val="F59E0B"/>
                </a:solidFill>
              </a:rPr>
              <a:t>Aug 2024</a:t>
            </a:r>
          </a:p>
        </p:txBody>
      </p:sp>
      <p:sp>
        <p:nvSpPr>
          <p:cNvPr id="42" name="TextBox 41"/>
          <p:cNvSpPr txBox="1"/>
          <p:nvPr/>
        </p:nvSpPr>
        <p:spPr>
          <a:xfrm>
            <a:off x="7635240" y="4059936"/>
            <a:ext cx="3931920" cy="347472"/>
          </a:xfrm>
          <a:prstGeom prst="rect">
            <a:avLst/>
          </a:prstGeom>
          <a:noFill/>
        </p:spPr>
        <p:txBody>
          <a:bodyPr wrap="square">
            <a:spAutoFit/>
          </a:bodyPr>
          <a:lstStyle/>
          <a:p>
            <a:pPr algn="l"/>
            <a:r>
              <a:rPr sz="900" b="0" i="0">
                <a:solidFill>
                  <a:srgbClr val="CCCCDD"/>
                </a:solidFill>
              </a:rPr>
              <a:t>SEC Wells notice — potential unregistered securities</a:t>
            </a:r>
          </a:p>
        </p:txBody>
      </p:sp>
      <p:sp>
        <p:nvSpPr>
          <p:cNvPr id="43" name="Oval 42"/>
          <p:cNvSpPr/>
          <p:nvPr/>
        </p:nvSpPr>
        <p:spPr>
          <a:xfrm>
            <a:off x="6217920" y="4535424"/>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0" y="4443984"/>
            <a:ext cx="1188720" cy="347472"/>
          </a:xfrm>
          <a:prstGeom prst="rect">
            <a:avLst/>
          </a:prstGeom>
          <a:noFill/>
        </p:spPr>
        <p:txBody>
          <a:bodyPr wrap="square">
            <a:spAutoFit/>
          </a:bodyPr>
          <a:lstStyle/>
          <a:p>
            <a:pPr algn="l"/>
            <a:r>
              <a:rPr sz="900" b="1" i="0">
                <a:solidFill>
                  <a:srgbClr val="22C55E"/>
                </a:solidFill>
              </a:rPr>
              <a:t>Feb 2025</a:t>
            </a:r>
          </a:p>
        </p:txBody>
      </p:sp>
      <p:sp>
        <p:nvSpPr>
          <p:cNvPr id="45" name="TextBox 44"/>
          <p:cNvSpPr txBox="1"/>
          <p:nvPr/>
        </p:nvSpPr>
        <p:spPr>
          <a:xfrm>
            <a:off x="7635240" y="4443984"/>
            <a:ext cx="3931920" cy="347472"/>
          </a:xfrm>
          <a:prstGeom prst="rect">
            <a:avLst/>
          </a:prstGeom>
          <a:noFill/>
        </p:spPr>
        <p:txBody>
          <a:bodyPr wrap="square">
            <a:spAutoFit/>
          </a:bodyPr>
          <a:lstStyle/>
          <a:p>
            <a:pPr algn="l"/>
            <a:r>
              <a:rPr sz="900" b="0" i="0">
                <a:solidFill>
                  <a:srgbClr val="CCCCDD"/>
                </a:solidFill>
              </a:rPr>
              <a:t>SEC closed investigation — no charges filed</a:t>
            </a:r>
          </a:p>
        </p:txBody>
      </p:sp>
      <p:sp>
        <p:nvSpPr>
          <p:cNvPr id="46" name="Oval 45"/>
          <p:cNvSpPr/>
          <p:nvPr/>
        </p:nvSpPr>
        <p:spPr>
          <a:xfrm>
            <a:off x="6217920" y="4919472"/>
            <a:ext cx="73152" cy="7315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00800" y="4828032"/>
            <a:ext cx="1188720" cy="347472"/>
          </a:xfrm>
          <a:prstGeom prst="rect">
            <a:avLst/>
          </a:prstGeom>
          <a:noFill/>
        </p:spPr>
        <p:txBody>
          <a:bodyPr wrap="square">
            <a:spAutoFit/>
          </a:bodyPr>
          <a:lstStyle/>
          <a:p>
            <a:pPr algn="l"/>
            <a:r>
              <a:rPr sz="900" b="1" i="0">
                <a:solidFill>
                  <a:srgbClr val="3B82F6"/>
                </a:solidFill>
              </a:rPr>
              <a:t>May 2025</a:t>
            </a:r>
          </a:p>
        </p:txBody>
      </p:sp>
      <p:sp>
        <p:nvSpPr>
          <p:cNvPr id="48" name="TextBox 47"/>
          <p:cNvSpPr txBox="1"/>
          <p:nvPr/>
        </p:nvSpPr>
        <p:spPr>
          <a:xfrm>
            <a:off x="7635240" y="4828032"/>
            <a:ext cx="3931920" cy="347472"/>
          </a:xfrm>
          <a:prstGeom prst="rect">
            <a:avLst/>
          </a:prstGeom>
          <a:noFill/>
        </p:spPr>
        <p:txBody>
          <a:bodyPr wrap="square">
            <a:spAutoFit/>
          </a:bodyPr>
          <a:lstStyle/>
          <a:p>
            <a:pPr algn="l"/>
            <a:r>
              <a:rPr sz="900" b="0" i="0">
                <a:solidFill>
                  <a:srgbClr val="CCCCDD"/>
                </a:solidFill>
              </a:rPr>
              <a:t>OS2 launched: 0.5% fees, rebuilt from scratch</a:t>
            </a:r>
          </a:p>
        </p:txBody>
      </p:sp>
      <p:sp>
        <p:nvSpPr>
          <p:cNvPr id="49" name="Oval 48"/>
          <p:cNvSpPr/>
          <p:nvPr/>
        </p:nvSpPr>
        <p:spPr>
          <a:xfrm>
            <a:off x="6217920" y="5303520"/>
            <a:ext cx="73152" cy="73152"/>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0" y="5212080"/>
            <a:ext cx="1188720" cy="347472"/>
          </a:xfrm>
          <a:prstGeom prst="rect">
            <a:avLst/>
          </a:prstGeom>
          <a:noFill/>
        </p:spPr>
        <p:txBody>
          <a:bodyPr wrap="square">
            <a:spAutoFit/>
          </a:bodyPr>
          <a:lstStyle/>
          <a:p>
            <a:pPr algn="l"/>
            <a:r>
              <a:rPr sz="900" b="1" i="0">
                <a:solidFill>
                  <a:srgbClr val="A855F7"/>
                </a:solidFill>
              </a:rPr>
              <a:t>Oct 2025</a:t>
            </a:r>
          </a:p>
        </p:txBody>
      </p:sp>
      <p:sp>
        <p:nvSpPr>
          <p:cNvPr id="51" name="TextBox 50"/>
          <p:cNvSpPr txBox="1"/>
          <p:nvPr/>
        </p:nvSpPr>
        <p:spPr>
          <a:xfrm>
            <a:off x="7635240" y="5212080"/>
            <a:ext cx="3931920" cy="347472"/>
          </a:xfrm>
          <a:prstGeom prst="rect">
            <a:avLst/>
          </a:prstGeom>
          <a:noFill/>
        </p:spPr>
        <p:txBody>
          <a:bodyPr wrap="square">
            <a:spAutoFit/>
          </a:bodyPr>
          <a:lstStyle/>
          <a:p>
            <a:pPr algn="l"/>
            <a:r>
              <a:rPr sz="900" b="0" i="0">
                <a:solidFill>
                  <a:srgbClr val="CCCCDD"/>
                </a:solidFill>
              </a:rPr>
              <a:t>$2.6B volume; 90% from token trading (NFT pivot)</a:t>
            </a:r>
          </a:p>
        </p:txBody>
      </p:sp>
      <p:sp>
        <p:nvSpPr>
          <p:cNvPr id="52" name="Rectangle 51"/>
          <p:cNvSpPr/>
          <p:nvPr/>
        </p:nvSpPr>
        <p:spPr>
          <a:xfrm>
            <a:off x="457200" y="5934455"/>
            <a:ext cx="11247120" cy="658368"/>
          </a:xfrm>
          <a:prstGeom prst="rect">
            <a:avLst/>
          </a:prstGeom>
          <a:solidFill>
            <a:srgbClr val="1A10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4360" y="6053327"/>
            <a:ext cx="10972800" cy="566928"/>
          </a:xfrm>
          <a:prstGeom prst="rect">
            <a:avLst/>
          </a:prstGeom>
          <a:noFill/>
        </p:spPr>
        <p:txBody>
          <a:bodyPr wrap="square">
            <a:spAutoFit/>
          </a:bodyPr>
          <a:lstStyle/>
          <a:p>
            <a:pPr algn="l"/>
            <a:r>
              <a:rPr sz="900" b="0" i="0" dirty="0">
                <a:solidFill>
                  <a:srgbClr val="F59E0B"/>
                </a:solidFill>
              </a:rPr>
              <a:t>⚡  NFT Market Contraction: Ethereum NFT volume fell 84% in 9 months (Jan → Oct 2024): $868M → $136M. </a:t>
            </a:r>
            <a:r>
              <a:rPr sz="900" b="0" i="0" dirty="0" err="1">
                <a:solidFill>
                  <a:srgbClr val="F59E0B"/>
                </a:solidFill>
              </a:rPr>
              <a:t>OpenSea's</a:t>
            </a:r>
            <a:r>
              <a:rPr sz="900" b="0" i="0" dirty="0">
                <a:solidFill>
                  <a:srgbClr val="F59E0B"/>
                </a:solidFill>
              </a:rPr>
              <a:t> valuation collapsed ~90% from its $13.3B peak. The core NFT market is structurally declining — </a:t>
            </a:r>
            <a:r>
              <a:rPr sz="900" b="0" i="0" dirty="0" err="1">
                <a:solidFill>
                  <a:srgbClr val="F59E0B"/>
                </a:solidFill>
              </a:rPr>
              <a:t>OpenSea</a:t>
            </a:r>
            <a:r>
              <a:rPr sz="900" b="0" i="0" dirty="0">
                <a:solidFill>
                  <a:srgbClr val="F59E0B"/>
                </a:solidFill>
              </a:rPr>
              <a:t> is pivoting to token trading to survive.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COMPETITOR 02 / OPENSEA</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Strengths &amp; Weaknesses</a:t>
            </a:r>
          </a:p>
        </p:txBody>
      </p:sp>
      <p:sp>
        <p:nvSpPr>
          <p:cNvPr id="5" name="Rectangle 4"/>
          <p:cNvSpPr/>
          <p:nvPr/>
        </p:nvSpPr>
        <p:spPr>
          <a:xfrm>
            <a:off x="457200" y="1828800"/>
            <a:ext cx="5394960" cy="4389120"/>
          </a:xfrm>
          <a:prstGeom prst="rect">
            <a:avLst/>
          </a:prstGeom>
          <a:solidFill>
            <a:srgbClr val="08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920240"/>
            <a:ext cx="5120640" cy="365760"/>
          </a:xfrm>
          <a:prstGeom prst="rect">
            <a:avLst/>
          </a:prstGeom>
          <a:noFill/>
        </p:spPr>
        <p:txBody>
          <a:bodyPr wrap="square">
            <a:spAutoFit/>
          </a:bodyPr>
          <a:lstStyle/>
          <a:p>
            <a:pPr algn="l"/>
            <a:r>
              <a:rPr sz="1300" b="1" i="0">
                <a:solidFill>
                  <a:srgbClr val="22C55E"/>
                </a:solidFill>
              </a:rPr>
              <a:t>✓  Strengths</a:t>
            </a:r>
          </a:p>
        </p:txBody>
      </p:sp>
      <p:cxnSp>
        <p:nvCxnSpPr>
          <p:cNvPr id="7" name="Connector 6"/>
          <p:cNvCxnSpPr/>
          <p:nvPr/>
        </p:nvCxnSpPr>
        <p:spPr>
          <a:xfrm>
            <a:off x="594360" y="2267712"/>
            <a:ext cx="5120640" cy="0"/>
          </a:xfrm>
          <a:prstGeom prst="line">
            <a:avLst/>
          </a:prstGeom>
          <a:ln w="12700">
            <a:solidFill>
              <a:srgbClr val="223355"/>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94360" y="2377439"/>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2331720"/>
            <a:ext cx="4956048" cy="292608"/>
          </a:xfrm>
          <a:prstGeom prst="rect">
            <a:avLst/>
          </a:prstGeom>
          <a:noFill/>
        </p:spPr>
        <p:txBody>
          <a:bodyPr wrap="square">
            <a:spAutoFit/>
          </a:bodyPr>
          <a:lstStyle/>
          <a:p>
            <a:pPr algn="l"/>
            <a:r>
              <a:rPr sz="1000" b="0" i="0">
                <a:solidFill>
                  <a:srgbClr val="CCCCDD"/>
                </a:solidFill>
              </a:rPr>
              <a:t>Strongest brand recognition in the NFT space globally</a:t>
            </a:r>
          </a:p>
        </p:txBody>
      </p:sp>
      <p:sp>
        <p:nvSpPr>
          <p:cNvPr id="10" name="Oval 9"/>
          <p:cNvSpPr/>
          <p:nvPr/>
        </p:nvSpPr>
        <p:spPr>
          <a:xfrm>
            <a:off x="594360" y="2670047"/>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624327"/>
            <a:ext cx="4956048" cy="292608"/>
          </a:xfrm>
          <a:prstGeom prst="rect">
            <a:avLst/>
          </a:prstGeom>
          <a:noFill/>
        </p:spPr>
        <p:txBody>
          <a:bodyPr wrap="square">
            <a:spAutoFit/>
          </a:bodyPr>
          <a:lstStyle/>
          <a:p>
            <a:pPr algn="l"/>
            <a:r>
              <a:rPr sz="1000" b="0" i="0">
                <a:solidFill>
                  <a:srgbClr val="CCCCDD"/>
                </a:solidFill>
              </a:rPr>
              <a:t>Multi-chain support across 22 blockchains</a:t>
            </a:r>
          </a:p>
        </p:txBody>
      </p:sp>
      <p:sp>
        <p:nvSpPr>
          <p:cNvPr id="12" name="Oval 11"/>
          <p:cNvSpPr/>
          <p:nvPr/>
        </p:nvSpPr>
        <p:spPr>
          <a:xfrm>
            <a:off x="594360" y="2962656"/>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2916936"/>
            <a:ext cx="4956048" cy="292608"/>
          </a:xfrm>
          <a:prstGeom prst="rect">
            <a:avLst/>
          </a:prstGeom>
          <a:noFill/>
        </p:spPr>
        <p:txBody>
          <a:bodyPr wrap="square">
            <a:spAutoFit/>
          </a:bodyPr>
          <a:lstStyle/>
          <a:p>
            <a:pPr algn="l"/>
            <a:r>
              <a:rPr sz="1000" b="0" i="0">
                <a:solidFill>
                  <a:srgbClr val="CCCCDD"/>
                </a:solidFill>
              </a:rPr>
              <a:t>Largest NFT inventory = deepest liquidity pool</a:t>
            </a:r>
          </a:p>
        </p:txBody>
      </p:sp>
      <p:sp>
        <p:nvSpPr>
          <p:cNvPr id="14" name="Oval 13"/>
          <p:cNvSpPr/>
          <p:nvPr/>
        </p:nvSpPr>
        <p:spPr>
          <a:xfrm>
            <a:off x="594360" y="3255263"/>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3209544"/>
            <a:ext cx="4956048" cy="292608"/>
          </a:xfrm>
          <a:prstGeom prst="rect">
            <a:avLst/>
          </a:prstGeom>
          <a:noFill/>
        </p:spPr>
        <p:txBody>
          <a:bodyPr wrap="square">
            <a:spAutoFit/>
          </a:bodyPr>
          <a:lstStyle/>
          <a:p>
            <a:pPr algn="l"/>
            <a:r>
              <a:rPr sz="1000" b="0" i="0">
                <a:solidFill>
                  <a:srgbClr val="CCCCDD"/>
                </a:solidFill>
              </a:rPr>
              <a:t>OS2 rebuilt from ground up: faster, lower fees (0.5%)</a:t>
            </a:r>
          </a:p>
        </p:txBody>
      </p:sp>
      <p:sp>
        <p:nvSpPr>
          <p:cNvPr id="16" name="Oval 15"/>
          <p:cNvSpPr/>
          <p:nvPr/>
        </p:nvSpPr>
        <p:spPr>
          <a:xfrm>
            <a:off x="594360" y="3547872"/>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3502152"/>
            <a:ext cx="4956048" cy="292608"/>
          </a:xfrm>
          <a:prstGeom prst="rect">
            <a:avLst/>
          </a:prstGeom>
          <a:noFill/>
        </p:spPr>
        <p:txBody>
          <a:bodyPr wrap="square">
            <a:spAutoFit/>
          </a:bodyPr>
          <a:lstStyle/>
          <a:p>
            <a:pPr algn="l"/>
            <a:r>
              <a:rPr sz="1000" b="0" i="0">
                <a:solidFill>
                  <a:srgbClr val="CCCCDD"/>
                </a:solidFill>
              </a:rPr>
              <a:t>SEC cleared (Feb 2025) — positive regulatory signal</a:t>
            </a:r>
          </a:p>
        </p:txBody>
      </p:sp>
      <p:sp>
        <p:nvSpPr>
          <p:cNvPr id="18" name="Oval 17"/>
          <p:cNvSpPr/>
          <p:nvPr/>
        </p:nvSpPr>
        <p:spPr>
          <a:xfrm>
            <a:off x="594360" y="3840480"/>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3794760"/>
            <a:ext cx="4956048" cy="292608"/>
          </a:xfrm>
          <a:prstGeom prst="rect">
            <a:avLst/>
          </a:prstGeom>
          <a:noFill/>
        </p:spPr>
        <p:txBody>
          <a:bodyPr wrap="square">
            <a:spAutoFit/>
          </a:bodyPr>
          <a:lstStyle/>
          <a:p>
            <a:pPr algn="l"/>
            <a:r>
              <a:rPr sz="1000" b="0" i="0">
                <a:solidFill>
                  <a:srgbClr val="CCCCDD"/>
                </a:solidFill>
              </a:rPr>
              <a:t>467K monthly active users at OS2 launch (highest since 2023)</a:t>
            </a:r>
          </a:p>
        </p:txBody>
      </p:sp>
      <p:sp>
        <p:nvSpPr>
          <p:cNvPr id="20" name="Oval 19"/>
          <p:cNvSpPr/>
          <p:nvPr/>
        </p:nvSpPr>
        <p:spPr>
          <a:xfrm>
            <a:off x="594360" y="4133087"/>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4087368"/>
            <a:ext cx="4956048" cy="292608"/>
          </a:xfrm>
          <a:prstGeom prst="rect">
            <a:avLst/>
          </a:prstGeom>
          <a:noFill/>
        </p:spPr>
        <p:txBody>
          <a:bodyPr wrap="square">
            <a:spAutoFit/>
          </a:bodyPr>
          <a:lstStyle/>
          <a:p>
            <a:pPr algn="l"/>
            <a:r>
              <a:rPr sz="1000" b="0" i="0">
                <a:solidFill>
                  <a:srgbClr val="CCCCDD"/>
                </a:solidFill>
              </a:rPr>
              <a:t>Active secondary market with real-time price discovery</a:t>
            </a:r>
          </a:p>
        </p:txBody>
      </p:sp>
      <p:sp>
        <p:nvSpPr>
          <p:cNvPr id="22" name="Rectangle 21"/>
          <p:cNvSpPr/>
          <p:nvPr/>
        </p:nvSpPr>
        <p:spPr>
          <a:xfrm>
            <a:off x="6309360" y="1828800"/>
            <a:ext cx="5394960" cy="4389120"/>
          </a:xfrm>
          <a:prstGeom prst="rect">
            <a:avLst/>
          </a:prstGeom>
          <a:solidFill>
            <a:srgbClr val="18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20240"/>
            <a:ext cx="5120640" cy="365760"/>
          </a:xfrm>
          <a:prstGeom prst="rect">
            <a:avLst/>
          </a:prstGeom>
          <a:noFill/>
        </p:spPr>
        <p:txBody>
          <a:bodyPr wrap="square">
            <a:spAutoFit/>
          </a:bodyPr>
          <a:lstStyle/>
          <a:p>
            <a:pPr algn="l"/>
            <a:r>
              <a:rPr sz="1300" b="1" i="0">
                <a:solidFill>
                  <a:srgbClr val="EF4444"/>
                </a:solidFill>
              </a:rPr>
              <a:t>✗  Weaknesses</a:t>
            </a:r>
          </a:p>
        </p:txBody>
      </p:sp>
      <p:cxnSp>
        <p:nvCxnSpPr>
          <p:cNvPr id="24" name="Connector 23"/>
          <p:cNvCxnSpPr/>
          <p:nvPr/>
        </p:nvCxnSpPr>
        <p:spPr>
          <a:xfrm>
            <a:off x="6446520" y="2267712"/>
            <a:ext cx="5120639" cy="0"/>
          </a:xfrm>
          <a:prstGeom prst="line">
            <a:avLst/>
          </a:prstGeom>
          <a:ln w="12700">
            <a:solidFill>
              <a:srgbClr val="552222"/>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446520" y="2377439"/>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11112" y="2331720"/>
            <a:ext cx="4956048" cy="292608"/>
          </a:xfrm>
          <a:prstGeom prst="rect">
            <a:avLst/>
          </a:prstGeom>
          <a:noFill/>
        </p:spPr>
        <p:txBody>
          <a:bodyPr wrap="square">
            <a:spAutoFit/>
          </a:bodyPr>
          <a:lstStyle/>
          <a:p>
            <a:pPr algn="l"/>
            <a:r>
              <a:rPr sz="1000" b="0" i="0">
                <a:solidFill>
                  <a:srgbClr val="CCCCDD"/>
                </a:solidFill>
              </a:rPr>
              <a:t>Valuation collapsed ~90% from $13.3B peak (viability concern)</a:t>
            </a:r>
          </a:p>
        </p:txBody>
      </p:sp>
      <p:sp>
        <p:nvSpPr>
          <p:cNvPr id="27" name="Oval 26"/>
          <p:cNvSpPr/>
          <p:nvPr/>
        </p:nvSpPr>
        <p:spPr>
          <a:xfrm>
            <a:off x="6446520" y="2670047"/>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11112" y="2624327"/>
            <a:ext cx="4956048" cy="292608"/>
          </a:xfrm>
          <a:prstGeom prst="rect">
            <a:avLst/>
          </a:prstGeom>
          <a:noFill/>
        </p:spPr>
        <p:txBody>
          <a:bodyPr wrap="square">
            <a:spAutoFit/>
          </a:bodyPr>
          <a:lstStyle/>
          <a:p>
            <a:pPr algn="l"/>
            <a:r>
              <a:rPr sz="1000" b="0" i="0">
                <a:solidFill>
                  <a:srgbClr val="CCCCDD"/>
                </a:solidFill>
              </a:rPr>
              <a:t>Lost 80+ market share points to Blur (professional traders left)</a:t>
            </a:r>
          </a:p>
        </p:txBody>
      </p:sp>
      <p:sp>
        <p:nvSpPr>
          <p:cNvPr id="29" name="Oval 28"/>
          <p:cNvSpPr/>
          <p:nvPr/>
        </p:nvSpPr>
        <p:spPr>
          <a:xfrm>
            <a:off x="6446520" y="2962656"/>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11112" y="2916936"/>
            <a:ext cx="4956048" cy="292608"/>
          </a:xfrm>
          <a:prstGeom prst="rect">
            <a:avLst/>
          </a:prstGeom>
          <a:noFill/>
        </p:spPr>
        <p:txBody>
          <a:bodyPr wrap="square">
            <a:spAutoFit/>
          </a:bodyPr>
          <a:lstStyle/>
          <a:p>
            <a:pPr algn="l"/>
            <a:r>
              <a:rPr sz="1000" b="0" i="0">
                <a:solidFill>
                  <a:srgbClr val="CCCCDD"/>
                </a:solidFill>
              </a:rPr>
              <a:t>NFT market structural decline — 84% volume drop in 9 months</a:t>
            </a:r>
          </a:p>
        </p:txBody>
      </p:sp>
      <p:sp>
        <p:nvSpPr>
          <p:cNvPr id="31" name="Oval 30"/>
          <p:cNvSpPr/>
          <p:nvPr/>
        </p:nvSpPr>
        <p:spPr>
          <a:xfrm>
            <a:off x="6446520" y="3255263"/>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11112" y="3209544"/>
            <a:ext cx="4956048" cy="292608"/>
          </a:xfrm>
          <a:prstGeom prst="rect">
            <a:avLst/>
          </a:prstGeom>
          <a:noFill/>
        </p:spPr>
        <p:txBody>
          <a:bodyPr wrap="square">
            <a:spAutoFit/>
          </a:bodyPr>
          <a:lstStyle/>
          <a:p>
            <a:pPr algn="l"/>
            <a:r>
              <a:rPr sz="1000" b="0" i="0">
                <a:solidFill>
                  <a:srgbClr val="CCCCDD"/>
                </a:solidFill>
              </a:rPr>
              <a:t>Brand confusion: NFT art collector vs DeFi token trader</a:t>
            </a:r>
          </a:p>
        </p:txBody>
      </p:sp>
      <p:sp>
        <p:nvSpPr>
          <p:cNvPr id="33" name="Oval 32"/>
          <p:cNvSpPr/>
          <p:nvPr/>
        </p:nvSpPr>
        <p:spPr>
          <a:xfrm>
            <a:off x="6446520" y="3547872"/>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11112" y="3502152"/>
            <a:ext cx="4956048" cy="292608"/>
          </a:xfrm>
          <a:prstGeom prst="rect">
            <a:avLst/>
          </a:prstGeom>
          <a:noFill/>
        </p:spPr>
        <p:txBody>
          <a:bodyPr wrap="square">
            <a:spAutoFit/>
          </a:bodyPr>
          <a:lstStyle/>
          <a:p>
            <a:pPr algn="l"/>
            <a:r>
              <a:rPr sz="1000" b="0" i="0">
                <a:solidFill>
                  <a:srgbClr val="CCCCDD"/>
                </a:solidFill>
              </a:rPr>
              <a:t>No fractional ownership of traditional/digital artworks</a:t>
            </a:r>
          </a:p>
        </p:txBody>
      </p:sp>
      <p:sp>
        <p:nvSpPr>
          <p:cNvPr id="35" name="Oval 34"/>
          <p:cNvSpPr/>
          <p:nvPr/>
        </p:nvSpPr>
        <p:spPr>
          <a:xfrm>
            <a:off x="6446520" y="3840480"/>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11112" y="3794760"/>
            <a:ext cx="4956048" cy="292608"/>
          </a:xfrm>
          <a:prstGeom prst="rect">
            <a:avLst/>
          </a:prstGeom>
          <a:noFill/>
        </p:spPr>
        <p:txBody>
          <a:bodyPr wrap="square">
            <a:spAutoFit/>
          </a:bodyPr>
          <a:lstStyle/>
          <a:p>
            <a:pPr algn="l"/>
            <a:r>
              <a:rPr sz="1000" b="0" i="0">
                <a:solidFill>
                  <a:srgbClr val="CCCCDD"/>
                </a:solidFill>
              </a:rPr>
              <a:t>No leverage mechanisms for retail investors</a:t>
            </a:r>
          </a:p>
        </p:txBody>
      </p:sp>
      <p:sp>
        <p:nvSpPr>
          <p:cNvPr id="37" name="Oval 36"/>
          <p:cNvSpPr/>
          <p:nvPr/>
        </p:nvSpPr>
        <p:spPr>
          <a:xfrm>
            <a:off x="6446520" y="4133087"/>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11112" y="4087368"/>
            <a:ext cx="4956048" cy="292608"/>
          </a:xfrm>
          <a:prstGeom prst="rect">
            <a:avLst/>
          </a:prstGeom>
          <a:noFill/>
        </p:spPr>
        <p:txBody>
          <a:bodyPr wrap="square">
            <a:spAutoFit/>
          </a:bodyPr>
          <a:lstStyle/>
          <a:p>
            <a:pPr algn="l"/>
            <a:r>
              <a:rPr sz="1000" b="0" i="0">
                <a:solidFill>
                  <a:srgbClr val="CCCCDD"/>
                </a:solidFill>
              </a:rPr>
              <a:t>Crypto-native only — intimidating for art collectors</a:t>
            </a:r>
          </a:p>
        </p:txBody>
      </p:sp>
      <p:sp>
        <p:nvSpPr>
          <p:cNvPr id="39" name="Oval 38"/>
          <p:cNvSpPr/>
          <p:nvPr/>
        </p:nvSpPr>
        <p:spPr>
          <a:xfrm>
            <a:off x="6446520" y="4425696"/>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11112" y="4379976"/>
            <a:ext cx="4956048" cy="292608"/>
          </a:xfrm>
          <a:prstGeom prst="rect">
            <a:avLst/>
          </a:prstGeom>
          <a:noFill/>
        </p:spPr>
        <p:txBody>
          <a:bodyPr wrap="square">
            <a:spAutoFit/>
          </a:bodyPr>
          <a:lstStyle/>
          <a:p>
            <a:pPr algn="l"/>
            <a:r>
              <a:rPr sz="1000" b="0" i="0">
                <a:solidFill>
                  <a:srgbClr val="CCCCDD"/>
                </a:solidFill>
              </a:rPr>
              <a:t>No curation — low-quality or fraudulent NFTs abundant</a:t>
            </a:r>
          </a:p>
        </p:txBody>
      </p:sp>
      <p:sp>
        <p:nvSpPr>
          <p:cNvPr id="41" name="Oval 40"/>
          <p:cNvSpPr/>
          <p:nvPr/>
        </p:nvSpPr>
        <p:spPr>
          <a:xfrm>
            <a:off x="6446520" y="4718303"/>
            <a:ext cx="73152" cy="7315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11112" y="4672583"/>
            <a:ext cx="4956048" cy="292608"/>
          </a:xfrm>
          <a:prstGeom prst="rect">
            <a:avLst/>
          </a:prstGeom>
          <a:noFill/>
        </p:spPr>
        <p:txBody>
          <a:bodyPr wrap="square">
            <a:spAutoFit/>
          </a:bodyPr>
          <a:lstStyle/>
          <a:p>
            <a:pPr algn="l"/>
            <a:r>
              <a:rPr sz="1000" b="0" i="0">
                <a:solidFill>
                  <a:srgbClr val="CCCCDD"/>
                </a:solidFill>
              </a:rPr>
              <a:t>No art market credibility (provenance, valuation, advisory)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MARKET POSITIONING</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Where Do the Players Sit?</a:t>
            </a:r>
          </a:p>
        </p:txBody>
      </p:sp>
      <p:sp>
        <p:nvSpPr>
          <p:cNvPr id="5" name="Rectangle 4"/>
          <p:cNvSpPr/>
          <p:nvPr/>
        </p:nvSpPr>
        <p:spPr>
          <a:xfrm>
            <a:off x="457200" y="1828800"/>
            <a:ext cx="11247120" cy="4754880"/>
          </a:xfrm>
          <a:prstGeom prst="rect">
            <a:avLst/>
          </a:prstGeom>
          <a:solidFill>
            <a:srgbClr val="0C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640080" y="3657600"/>
            <a:ext cx="10972800" cy="0"/>
          </a:xfrm>
          <a:prstGeom prst="line">
            <a:avLst/>
          </a:prstGeom>
          <a:ln w="12700">
            <a:solidFill>
              <a:srgbClr val="33334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9048" y="1920240"/>
            <a:ext cx="0" cy="4572000"/>
          </a:xfrm>
          <a:prstGeom prst="line">
            <a:avLst/>
          </a:prstGeom>
          <a:ln>
            <a:solidFill>
              <a:srgbClr val="33334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3266236"/>
            <a:ext cx="2286000" cy="457200"/>
          </a:xfrm>
          <a:prstGeom prst="rect">
            <a:avLst/>
          </a:prstGeom>
          <a:noFill/>
        </p:spPr>
        <p:txBody>
          <a:bodyPr wrap="square">
            <a:spAutoFit/>
          </a:bodyPr>
          <a:lstStyle/>
          <a:p>
            <a:pPr algn="l"/>
            <a:r>
              <a:rPr sz="900" b="0" i="1" dirty="0">
                <a:solidFill>
                  <a:srgbClr val="888899"/>
                </a:solidFill>
              </a:rPr>
              <a:t>ART MARKETPLACE
(Low financial complexity)</a:t>
            </a:r>
          </a:p>
        </p:txBody>
      </p:sp>
      <p:sp>
        <p:nvSpPr>
          <p:cNvPr id="9" name="TextBox 8"/>
          <p:cNvSpPr txBox="1"/>
          <p:nvPr/>
        </p:nvSpPr>
        <p:spPr>
          <a:xfrm>
            <a:off x="10314305" y="3266236"/>
            <a:ext cx="2834640" cy="457200"/>
          </a:xfrm>
          <a:prstGeom prst="rect">
            <a:avLst/>
          </a:prstGeom>
          <a:noFill/>
        </p:spPr>
        <p:txBody>
          <a:bodyPr wrap="square">
            <a:spAutoFit/>
          </a:bodyPr>
          <a:lstStyle/>
          <a:p>
            <a:pPr algn="l"/>
            <a:r>
              <a:rPr sz="900" b="0" i="1" dirty="0">
                <a:solidFill>
                  <a:srgbClr val="888899"/>
                </a:solidFill>
              </a:rPr>
              <a:t>TRADING PLATFORM
(High financial complexity)</a:t>
            </a:r>
          </a:p>
        </p:txBody>
      </p:sp>
      <p:sp>
        <p:nvSpPr>
          <p:cNvPr id="10" name="TextBox 9"/>
          <p:cNvSpPr txBox="1"/>
          <p:nvPr/>
        </p:nvSpPr>
        <p:spPr>
          <a:xfrm>
            <a:off x="6126480" y="6217920"/>
            <a:ext cx="2743200" cy="369332"/>
          </a:xfrm>
          <a:prstGeom prst="rect">
            <a:avLst/>
          </a:prstGeom>
          <a:noFill/>
        </p:spPr>
        <p:txBody>
          <a:bodyPr wrap="square">
            <a:spAutoFit/>
          </a:bodyPr>
          <a:lstStyle/>
          <a:p>
            <a:pPr algn="l"/>
            <a:r>
              <a:rPr sz="900" b="0" i="1" dirty="0">
                <a:solidFill>
                  <a:srgbClr val="888899"/>
                </a:solidFill>
              </a:rPr>
              <a:t>WHOLE ASSET</a:t>
            </a:r>
            <a:r>
              <a:rPr lang="en-US" sz="900" b="0" i="1" dirty="0">
                <a:solidFill>
                  <a:srgbClr val="888899"/>
                </a:solidFill>
              </a:rPr>
              <a:t>/ TRADITIONAL MARKET PLACE</a:t>
            </a:r>
            <a:r>
              <a:rPr sz="900" b="0" i="1" dirty="0">
                <a:solidFill>
                  <a:srgbClr val="888899"/>
                </a:solidFill>
              </a:rPr>
              <a:t>
(Illiquid)</a:t>
            </a:r>
          </a:p>
        </p:txBody>
      </p:sp>
      <p:sp>
        <p:nvSpPr>
          <p:cNvPr id="11" name="TextBox 10"/>
          <p:cNvSpPr txBox="1"/>
          <p:nvPr/>
        </p:nvSpPr>
        <p:spPr>
          <a:xfrm>
            <a:off x="6089777" y="1690968"/>
            <a:ext cx="1682273" cy="369332"/>
          </a:xfrm>
          <a:prstGeom prst="rect">
            <a:avLst/>
          </a:prstGeom>
          <a:noFill/>
        </p:spPr>
        <p:txBody>
          <a:bodyPr wrap="square">
            <a:spAutoFit/>
          </a:bodyPr>
          <a:lstStyle/>
          <a:p>
            <a:pPr algn="l"/>
            <a:r>
              <a:rPr sz="900" b="0" i="1" dirty="0">
                <a:solidFill>
                  <a:srgbClr val="888899"/>
                </a:solidFill>
              </a:rPr>
              <a:t>FRACTIONAL</a:t>
            </a:r>
            <a:r>
              <a:rPr lang="en-US" sz="900" b="0" i="1" dirty="0">
                <a:solidFill>
                  <a:srgbClr val="888899"/>
                </a:solidFill>
              </a:rPr>
              <a:t> MARKETPLACE</a:t>
            </a:r>
          </a:p>
          <a:p>
            <a:pPr algn="l"/>
            <a:r>
              <a:rPr sz="900" b="0" i="1" dirty="0">
                <a:solidFill>
                  <a:srgbClr val="888899"/>
                </a:solidFill>
              </a:rPr>
              <a:t> + LIQUID</a:t>
            </a:r>
          </a:p>
        </p:txBody>
      </p:sp>
      <p:sp>
        <p:nvSpPr>
          <p:cNvPr id="12" name="Oval 11"/>
          <p:cNvSpPr/>
          <p:nvPr/>
        </p:nvSpPr>
        <p:spPr>
          <a:xfrm>
            <a:off x="1837944" y="5678424"/>
            <a:ext cx="128016" cy="128016"/>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0" y="5605272"/>
            <a:ext cx="1828800" cy="274320"/>
          </a:xfrm>
          <a:prstGeom prst="rect">
            <a:avLst/>
          </a:prstGeom>
          <a:noFill/>
        </p:spPr>
        <p:txBody>
          <a:bodyPr wrap="square">
            <a:spAutoFit/>
          </a:bodyPr>
          <a:lstStyle/>
          <a:p>
            <a:pPr algn="l"/>
            <a:r>
              <a:rPr sz="900" b="0" i="0">
                <a:solidFill>
                  <a:srgbClr val="E8552A"/>
                </a:solidFill>
              </a:rPr>
              <a:t>Artsy</a:t>
            </a:r>
          </a:p>
        </p:txBody>
      </p:sp>
      <p:sp>
        <p:nvSpPr>
          <p:cNvPr id="14" name="Oval 13"/>
          <p:cNvSpPr/>
          <p:nvPr/>
        </p:nvSpPr>
        <p:spPr>
          <a:xfrm>
            <a:off x="1622145" y="5810097"/>
            <a:ext cx="128016" cy="128016"/>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95881" y="5736945"/>
            <a:ext cx="1828800" cy="274320"/>
          </a:xfrm>
          <a:prstGeom prst="rect">
            <a:avLst/>
          </a:prstGeom>
          <a:noFill/>
        </p:spPr>
        <p:txBody>
          <a:bodyPr wrap="square">
            <a:spAutoFit/>
          </a:bodyPr>
          <a:lstStyle/>
          <a:p>
            <a:pPr algn="l"/>
            <a:r>
              <a:rPr sz="900" b="0" i="0">
                <a:solidFill>
                  <a:srgbClr val="888899"/>
                </a:solidFill>
              </a:rPr>
              <a:t>Saatchi Art</a:t>
            </a:r>
          </a:p>
        </p:txBody>
      </p:sp>
      <p:sp>
        <p:nvSpPr>
          <p:cNvPr id="16" name="Oval 15"/>
          <p:cNvSpPr/>
          <p:nvPr/>
        </p:nvSpPr>
        <p:spPr>
          <a:xfrm>
            <a:off x="9930384" y="4361688"/>
            <a:ext cx="128016" cy="128016"/>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04120" y="4288536"/>
            <a:ext cx="1828800" cy="274320"/>
          </a:xfrm>
          <a:prstGeom prst="rect">
            <a:avLst/>
          </a:prstGeom>
          <a:noFill/>
        </p:spPr>
        <p:txBody>
          <a:bodyPr wrap="square">
            <a:spAutoFit/>
          </a:bodyPr>
          <a:lstStyle/>
          <a:p>
            <a:pPr algn="l"/>
            <a:r>
              <a:rPr sz="900" b="0" i="0">
                <a:solidFill>
                  <a:srgbClr val="3B82F6"/>
                </a:solidFill>
              </a:rPr>
              <a:t>OpenSea</a:t>
            </a:r>
          </a:p>
        </p:txBody>
      </p:sp>
      <p:sp>
        <p:nvSpPr>
          <p:cNvPr id="18" name="Oval 17"/>
          <p:cNvSpPr/>
          <p:nvPr/>
        </p:nvSpPr>
        <p:spPr>
          <a:xfrm>
            <a:off x="10685678" y="4142231"/>
            <a:ext cx="128016" cy="128016"/>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59414" y="4069079"/>
            <a:ext cx="1828800" cy="274320"/>
          </a:xfrm>
          <a:prstGeom prst="rect">
            <a:avLst/>
          </a:prstGeom>
          <a:noFill/>
        </p:spPr>
        <p:txBody>
          <a:bodyPr wrap="square">
            <a:spAutoFit/>
          </a:bodyPr>
          <a:lstStyle/>
          <a:p>
            <a:pPr algn="l"/>
            <a:r>
              <a:rPr sz="900" b="0" i="0">
                <a:solidFill>
                  <a:srgbClr val="A855F7"/>
                </a:solidFill>
              </a:rPr>
              <a:t>Blur</a:t>
            </a:r>
          </a:p>
        </p:txBody>
      </p:sp>
      <p:sp>
        <p:nvSpPr>
          <p:cNvPr id="20" name="Oval 19"/>
          <p:cNvSpPr/>
          <p:nvPr/>
        </p:nvSpPr>
        <p:spPr>
          <a:xfrm>
            <a:off x="6693408" y="2606040"/>
            <a:ext cx="128016" cy="12801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67144" y="2532888"/>
            <a:ext cx="1828800" cy="274320"/>
          </a:xfrm>
          <a:prstGeom prst="rect">
            <a:avLst/>
          </a:prstGeom>
          <a:noFill/>
        </p:spPr>
        <p:txBody>
          <a:bodyPr wrap="square">
            <a:spAutoFit/>
          </a:bodyPr>
          <a:lstStyle/>
          <a:p>
            <a:pPr algn="l"/>
            <a:r>
              <a:rPr sz="900" b="0" i="0">
                <a:solidFill>
                  <a:srgbClr val="22C55E"/>
                </a:solidFill>
              </a:rPr>
              <a:t>Masterworks</a:t>
            </a:r>
          </a:p>
        </p:txBody>
      </p:sp>
      <p:sp>
        <p:nvSpPr>
          <p:cNvPr id="22" name="Oval 21"/>
          <p:cNvSpPr/>
          <p:nvPr/>
        </p:nvSpPr>
        <p:spPr>
          <a:xfrm>
            <a:off x="9175089" y="2474366"/>
            <a:ext cx="128016" cy="128016"/>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48825" y="2401214"/>
            <a:ext cx="1828800" cy="274320"/>
          </a:xfrm>
          <a:prstGeom prst="rect">
            <a:avLst/>
          </a:prstGeom>
          <a:noFill/>
        </p:spPr>
        <p:txBody>
          <a:bodyPr wrap="square">
            <a:spAutoFit/>
          </a:bodyPr>
          <a:lstStyle/>
          <a:p>
            <a:pPr algn="l"/>
            <a:r>
              <a:rPr sz="1000" b="1" i="0">
                <a:solidFill>
                  <a:srgbClr val="E8552A"/>
                </a:solidFill>
              </a:rPr>
              <a:t>ArtEx ★</a:t>
            </a:r>
          </a:p>
        </p:txBody>
      </p:sp>
      <p:sp>
        <p:nvSpPr>
          <p:cNvPr id="24" name="TextBox 23"/>
          <p:cNvSpPr txBox="1"/>
          <p:nvPr/>
        </p:nvSpPr>
        <p:spPr>
          <a:xfrm>
            <a:off x="9348825" y="2648102"/>
            <a:ext cx="2011680" cy="320040"/>
          </a:xfrm>
          <a:prstGeom prst="rect">
            <a:avLst/>
          </a:prstGeom>
          <a:noFill/>
        </p:spPr>
        <p:txBody>
          <a:bodyPr wrap="square">
            <a:spAutoFit/>
          </a:bodyPr>
          <a:lstStyle/>
          <a:p>
            <a:pPr algn="l"/>
            <a:r>
              <a:rPr sz="800" b="0" i="1">
                <a:solidFill>
                  <a:srgbClr val="888899"/>
                </a:solidFill>
              </a:rPr>
              <a:t>Fractional digital art
+ Leverage</a:t>
            </a:r>
          </a:p>
        </p:txBody>
      </p:sp>
      <p:sp>
        <p:nvSpPr>
          <p:cNvPr id="25" name="Oval 24"/>
          <p:cNvSpPr/>
          <p:nvPr/>
        </p:nvSpPr>
        <p:spPr>
          <a:xfrm>
            <a:off x="9056217" y="2355494"/>
            <a:ext cx="365760" cy="365760"/>
          </a:xfrm>
          <a:prstGeom prst="ellipse">
            <a:avLst/>
          </a:prstGeom>
          <a:noFill/>
          <a:ln w="19050">
            <a:solidFill>
              <a:srgbClr val="E85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2011680"/>
            <a:ext cx="2560320" cy="548640"/>
          </a:xfrm>
          <a:prstGeom prst="rect">
            <a:avLst/>
          </a:prstGeom>
          <a:noFill/>
        </p:spPr>
        <p:txBody>
          <a:bodyPr wrap="square">
            <a:spAutoFit/>
          </a:bodyPr>
          <a:lstStyle/>
          <a:p>
            <a:pPr algn="ctr"/>
            <a:r>
              <a:rPr sz="1000" b="1" i="1">
                <a:solidFill>
                  <a:srgbClr val="E8552A"/>
                </a:solidFill>
              </a:rPr>
              <a:t>OPPORTUNITY
ZONE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REGULATORY FRAMEWORK</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Art Merchant vs. Finance Platform — What Are the Rules?</a:t>
            </a:r>
          </a:p>
        </p:txBody>
      </p:sp>
      <p:sp>
        <p:nvSpPr>
          <p:cNvPr id="5" name="Rectangle 4"/>
          <p:cNvSpPr/>
          <p:nvPr/>
        </p:nvSpPr>
        <p:spPr>
          <a:xfrm>
            <a:off x="457200" y="1828800"/>
            <a:ext cx="5669280" cy="4434840"/>
          </a:xfrm>
          <a:prstGeom prst="rect">
            <a:avLst/>
          </a:prstGeom>
          <a:solidFill>
            <a:srgbClr val="0814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901952"/>
            <a:ext cx="5394960" cy="502920"/>
          </a:xfrm>
          <a:prstGeom prst="rect">
            <a:avLst/>
          </a:prstGeom>
          <a:noFill/>
        </p:spPr>
        <p:txBody>
          <a:bodyPr wrap="square">
            <a:spAutoFit/>
          </a:bodyPr>
          <a:lstStyle/>
          <a:p>
            <a:pPr algn="l"/>
            <a:r>
              <a:rPr sz="1300" b="1" i="0">
                <a:solidFill>
                  <a:srgbClr val="22C55E"/>
                </a:solidFill>
              </a:rPr>
              <a:t>Art Marketplace
(Marchand de Biens)</a:t>
            </a:r>
          </a:p>
        </p:txBody>
      </p:sp>
      <p:cxnSp>
        <p:nvCxnSpPr>
          <p:cNvPr id="7" name="Connector 6"/>
          <p:cNvCxnSpPr/>
          <p:nvPr/>
        </p:nvCxnSpPr>
        <p:spPr>
          <a:xfrm>
            <a:off x="594360" y="2377440"/>
            <a:ext cx="5303520" cy="0"/>
          </a:xfrm>
          <a:prstGeom prst="line">
            <a:avLst/>
          </a:prstGeom>
          <a:ln w="12700">
            <a:solidFill>
              <a:srgbClr val="22C55E"/>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94360" y="2496312"/>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2450592"/>
            <a:ext cx="5184648" cy="347472"/>
          </a:xfrm>
          <a:prstGeom prst="rect">
            <a:avLst/>
          </a:prstGeom>
          <a:noFill/>
        </p:spPr>
        <p:txBody>
          <a:bodyPr wrap="square">
            <a:spAutoFit/>
          </a:bodyPr>
          <a:lstStyle/>
          <a:p>
            <a:pPr algn="l"/>
            <a:r>
              <a:rPr sz="1000" b="0" i="0">
                <a:solidFill>
                  <a:srgbClr val="CCCCDD"/>
                </a:solidFill>
              </a:rPr>
              <a:t>No financial license required to sell art</a:t>
            </a:r>
          </a:p>
        </p:txBody>
      </p:sp>
      <p:sp>
        <p:nvSpPr>
          <p:cNvPr id="10" name="Oval 9"/>
          <p:cNvSpPr/>
          <p:nvPr/>
        </p:nvSpPr>
        <p:spPr>
          <a:xfrm>
            <a:off x="594360" y="2843784"/>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798064"/>
            <a:ext cx="5184648" cy="347472"/>
          </a:xfrm>
          <a:prstGeom prst="rect">
            <a:avLst/>
          </a:prstGeom>
          <a:noFill/>
        </p:spPr>
        <p:txBody>
          <a:bodyPr wrap="square">
            <a:spAutoFit/>
          </a:bodyPr>
          <a:lstStyle/>
          <a:p>
            <a:pPr algn="l"/>
            <a:r>
              <a:rPr sz="1000" b="0" i="0">
                <a:solidFill>
                  <a:srgbClr val="CCCCDD"/>
                </a:solidFill>
              </a:rPr>
              <a:t>Register as Art Market Participant (AMP)</a:t>
            </a:r>
          </a:p>
        </p:txBody>
      </p:sp>
      <p:sp>
        <p:nvSpPr>
          <p:cNvPr id="12" name="Oval 11"/>
          <p:cNvSpPr/>
          <p:nvPr/>
        </p:nvSpPr>
        <p:spPr>
          <a:xfrm>
            <a:off x="594360" y="3191256"/>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3145536"/>
            <a:ext cx="5184648" cy="347472"/>
          </a:xfrm>
          <a:prstGeom prst="rect">
            <a:avLst/>
          </a:prstGeom>
          <a:noFill/>
        </p:spPr>
        <p:txBody>
          <a:bodyPr wrap="square">
            <a:spAutoFit/>
          </a:bodyPr>
          <a:lstStyle/>
          <a:p>
            <a:pPr algn="l"/>
            <a:r>
              <a:rPr sz="1000" b="0" i="0">
                <a:solidFill>
                  <a:srgbClr val="CCCCDD"/>
                </a:solidFill>
              </a:rPr>
              <a:t>Tracfin (French FIU) registration mandatory</a:t>
            </a:r>
          </a:p>
        </p:txBody>
      </p:sp>
      <p:sp>
        <p:nvSpPr>
          <p:cNvPr id="14" name="Oval 13"/>
          <p:cNvSpPr/>
          <p:nvPr/>
        </p:nvSpPr>
        <p:spPr>
          <a:xfrm>
            <a:off x="594360" y="3538728"/>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3493008"/>
            <a:ext cx="5184648" cy="347472"/>
          </a:xfrm>
          <a:prstGeom prst="rect">
            <a:avLst/>
          </a:prstGeom>
          <a:noFill/>
        </p:spPr>
        <p:txBody>
          <a:bodyPr wrap="square">
            <a:spAutoFit/>
          </a:bodyPr>
          <a:lstStyle/>
          <a:p>
            <a:pPr algn="l"/>
            <a:r>
              <a:rPr sz="1000" b="0" i="0">
                <a:solidFill>
                  <a:srgbClr val="CCCCDD"/>
                </a:solidFill>
              </a:rPr>
              <a:t>KYC/AML required on transactions &gt; €1,000 (France)</a:t>
            </a:r>
          </a:p>
        </p:txBody>
      </p:sp>
      <p:sp>
        <p:nvSpPr>
          <p:cNvPr id="16" name="Oval 15"/>
          <p:cNvSpPr/>
          <p:nvPr/>
        </p:nvSpPr>
        <p:spPr>
          <a:xfrm>
            <a:off x="594360" y="3886200"/>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3840480"/>
            <a:ext cx="5184648" cy="347472"/>
          </a:xfrm>
          <a:prstGeom prst="rect">
            <a:avLst/>
          </a:prstGeom>
          <a:noFill/>
        </p:spPr>
        <p:txBody>
          <a:bodyPr wrap="square">
            <a:spAutoFit/>
          </a:bodyPr>
          <a:lstStyle/>
          <a:p>
            <a:pPr algn="l"/>
            <a:r>
              <a:rPr sz="1000" b="0" i="0">
                <a:solidFill>
                  <a:srgbClr val="CCCCDD"/>
                </a:solidFill>
              </a:rPr>
              <a:t>Provenance due diligence (EU Reg. 2019/880 — from June 2025)</a:t>
            </a:r>
          </a:p>
        </p:txBody>
      </p:sp>
      <p:sp>
        <p:nvSpPr>
          <p:cNvPr id="18" name="Oval 17"/>
          <p:cNvSpPr/>
          <p:nvPr/>
        </p:nvSpPr>
        <p:spPr>
          <a:xfrm>
            <a:off x="594360" y="4233672"/>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4187952"/>
            <a:ext cx="5184648" cy="347472"/>
          </a:xfrm>
          <a:prstGeom prst="rect">
            <a:avLst/>
          </a:prstGeom>
          <a:noFill/>
        </p:spPr>
        <p:txBody>
          <a:bodyPr wrap="square">
            <a:spAutoFit/>
          </a:bodyPr>
          <a:lstStyle/>
          <a:p>
            <a:pPr algn="l"/>
            <a:r>
              <a:rPr sz="1000" b="0" i="0">
                <a:solidFill>
                  <a:srgbClr val="CCCCDD"/>
                </a:solidFill>
              </a:rPr>
              <a:t>New EU AML Regulation 2024/1624 fully applies from July 2027</a:t>
            </a:r>
          </a:p>
        </p:txBody>
      </p:sp>
      <p:sp>
        <p:nvSpPr>
          <p:cNvPr id="20" name="Oval 19"/>
          <p:cNvSpPr/>
          <p:nvPr/>
        </p:nvSpPr>
        <p:spPr>
          <a:xfrm>
            <a:off x="594360" y="4581144"/>
            <a:ext cx="73152" cy="7315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4535424"/>
            <a:ext cx="5184648" cy="347472"/>
          </a:xfrm>
          <a:prstGeom prst="rect">
            <a:avLst/>
          </a:prstGeom>
          <a:noFill/>
        </p:spPr>
        <p:txBody>
          <a:bodyPr wrap="square">
            <a:spAutoFit/>
          </a:bodyPr>
          <a:lstStyle/>
          <a:p>
            <a:pPr algn="l"/>
            <a:r>
              <a:rPr sz="1000" b="0" i="0">
                <a:solidFill>
                  <a:srgbClr val="CCCCDD"/>
                </a:solidFill>
              </a:rPr>
              <a:t>Suspicious transaction reporting (STR) to Tracfin</a:t>
            </a:r>
          </a:p>
        </p:txBody>
      </p:sp>
      <p:sp>
        <p:nvSpPr>
          <p:cNvPr id="22" name="Rectangle 21"/>
          <p:cNvSpPr/>
          <p:nvPr/>
        </p:nvSpPr>
        <p:spPr>
          <a:xfrm>
            <a:off x="457200" y="5961888"/>
            <a:ext cx="5669280" cy="292608"/>
          </a:xfrm>
          <a:prstGeom prst="rect">
            <a:avLst/>
          </a:prstGeom>
          <a:solidFill>
            <a:srgbClr val="0A0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5989320"/>
            <a:ext cx="5394960" cy="256032"/>
          </a:xfrm>
          <a:prstGeom prst="rect">
            <a:avLst/>
          </a:prstGeom>
          <a:noFill/>
        </p:spPr>
        <p:txBody>
          <a:bodyPr wrap="square">
            <a:spAutoFit/>
          </a:bodyPr>
          <a:lstStyle/>
          <a:p>
            <a:pPr algn="l"/>
            <a:r>
              <a:rPr sz="900" b="1" i="0">
                <a:solidFill>
                  <a:srgbClr val="22C55E"/>
                </a:solidFill>
              </a:rPr>
              <a:t>Timeline: weeks.  Capital: none required.  Burden: LOW–MEDIUM</a:t>
            </a:r>
          </a:p>
        </p:txBody>
      </p:sp>
      <p:sp>
        <p:nvSpPr>
          <p:cNvPr id="24" name="Rectangle 23"/>
          <p:cNvSpPr/>
          <p:nvPr/>
        </p:nvSpPr>
        <p:spPr>
          <a:xfrm>
            <a:off x="6369577" y="1828800"/>
            <a:ext cx="5746223" cy="4434840"/>
          </a:xfrm>
          <a:prstGeom prst="rect">
            <a:avLst/>
          </a:prstGeom>
          <a:solidFill>
            <a:srgbClr val="181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1901952"/>
            <a:ext cx="5394960" cy="502920"/>
          </a:xfrm>
          <a:prstGeom prst="rect">
            <a:avLst/>
          </a:prstGeom>
          <a:noFill/>
        </p:spPr>
        <p:txBody>
          <a:bodyPr wrap="square">
            <a:spAutoFit/>
          </a:bodyPr>
          <a:lstStyle/>
          <a:p>
            <a:pPr algn="l"/>
            <a:r>
              <a:rPr sz="1300" b="1" i="0">
                <a:solidFill>
                  <a:srgbClr val="F59E0B"/>
                </a:solidFill>
              </a:rPr>
              <a:t>Financial Trading Platform
(Plateforme de Finance)</a:t>
            </a:r>
          </a:p>
        </p:txBody>
      </p:sp>
      <p:cxnSp>
        <p:nvCxnSpPr>
          <p:cNvPr id="26" name="Connector 25"/>
          <p:cNvCxnSpPr/>
          <p:nvPr/>
        </p:nvCxnSpPr>
        <p:spPr>
          <a:xfrm>
            <a:off x="6583680" y="2377440"/>
            <a:ext cx="5303520" cy="0"/>
          </a:xfrm>
          <a:prstGeom prst="line">
            <a:avLst/>
          </a:prstGeom>
          <a:ln w="12700">
            <a:solidFill>
              <a:srgbClr val="F59E0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583680" y="2496312"/>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48272" y="2450592"/>
            <a:ext cx="5184648" cy="347472"/>
          </a:xfrm>
          <a:prstGeom prst="rect">
            <a:avLst/>
          </a:prstGeom>
          <a:noFill/>
        </p:spPr>
        <p:txBody>
          <a:bodyPr wrap="square">
            <a:spAutoFit/>
          </a:bodyPr>
          <a:lstStyle/>
          <a:p>
            <a:pPr algn="l"/>
            <a:r>
              <a:rPr sz="1000" b="0" i="0">
                <a:solidFill>
                  <a:srgbClr val="CCCCDD"/>
                </a:solidFill>
              </a:rPr>
              <a:t>Fractional 'shares' → likely classified as financial instruments</a:t>
            </a:r>
          </a:p>
        </p:txBody>
      </p:sp>
      <p:sp>
        <p:nvSpPr>
          <p:cNvPr id="29" name="Oval 28"/>
          <p:cNvSpPr/>
          <p:nvPr/>
        </p:nvSpPr>
        <p:spPr>
          <a:xfrm>
            <a:off x="6583680" y="2843784"/>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48272" y="2798064"/>
            <a:ext cx="5184648" cy="347472"/>
          </a:xfrm>
          <a:prstGeom prst="rect">
            <a:avLst/>
          </a:prstGeom>
          <a:noFill/>
        </p:spPr>
        <p:txBody>
          <a:bodyPr wrap="square">
            <a:spAutoFit/>
          </a:bodyPr>
          <a:lstStyle/>
          <a:p>
            <a:pPr algn="l"/>
            <a:r>
              <a:rPr sz="1000" b="0" i="0">
                <a:solidFill>
                  <a:srgbClr val="CCCCDD"/>
                </a:solidFill>
              </a:rPr>
              <a:t>MiFID II: ISP authorization from AMF required</a:t>
            </a:r>
          </a:p>
        </p:txBody>
      </p:sp>
      <p:sp>
        <p:nvSpPr>
          <p:cNvPr id="31" name="Oval 30"/>
          <p:cNvSpPr/>
          <p:nvPr/>
        </p:nvSpPr>
        <p:spPr>
          <a:xfrm>
            <a:off x="6583680" y="3191256"/>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48272" y="3145536"/>
            <a:ext cx="5184648" cy="347472"/>
          </a:xfrm>
          <a:prstGeom prst="rect">
            <a:avLst/>
          </a:prstGeom>
          <a:noFill/>
        </p:spPr>
        <p:txBody>
          <a:bodyPr wrap="square">
            <a:spAutoFit/>
          </a:bodyPr>
          <a:lstStyle/>
          <a:p>
            <a:pPr algn="l"/>
            <a:r>
              <a:rPr sz="1000" b="0" i="0">
                <a:solidFill>
                  <a:srgbClr val="CCCCDD"/>
                </a:solidFill>
              </a:rPr>
              <a:t>OR MiCA CASP license if classified as crypto-assets (AMF)</a:t>
            </a:r>
          </a:p>
        </p:txBody>
      </p:sp>
      <p:sp>
        <p:nvSpPr>
          <p:cNvPr id="33" name="Oval 32"/>
          <p:cNvSpPr/>
          <p:nvPr/>
        </p:nvSpPr>
        <p:spPr>
          <a:xfrm>
            <a:off x="6583680" y="3538728"/>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48272" y="3493008"/>
            <a:ext cx="5184648" cy="347472"/>
          </a:xfrm>
          <a:prstGeom prst="rect">
            <a:avLst/>
          </a:prstGeom>
          <a:noFill/>
        </p:spPr>
        <p:txBody>
          <a:bodyPr wrap="square">
            <a:spAutoFit/>
          </a:bodyPr>
          <a:lstStyle/>
          <a:p>
            <a:pPr algn="l"/>
            <a:r>
              <a:rPr sz="1000" b="0" i="0">
                <a:solidFill>
                  <a:srgbClr val="CCCCDD"/>
                </a:solidFill>
              </a:rPr>
              <a:t>CASP minimum capital: €50,000–€150,000</a:t>
            </a:r>
          </a:p>
        </p:txBody>
      </p:sp>
      <p:sp>
        <p:nvSpPr>
          <p:cNvPr id="35" name="Oval 34"/>
          <p:cNvSpPr/>
          <p:nvPr/>
        </p:nvSpPr>
        <p:spPr>
          <a:xfrm>
            <a:off x="6583680" y="3886200"/>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48272" y="3840480"/>
            <a:ext cx="5184648" cy="347472"/>
          </a:xfrm>
          <a:prstGeom prst="rect">
            <a:avLst/>
          </a:prstGeom>
          <a:noFill/>
        </p:spPr>
        <p:txBody>
          <a:bodyPr wrap="square">
            <a:spAutoFit/>
          </a:bodyPr>
          <a:lstStyle/>
          <a:p>
            <a:pPr algn="l"/>
            <a:r>
              <a:rPr sz="1000" b="0" i="0">
                <a:solidFill>
                  <a:srgbClr val="CCCCDD"/>
                </a:solidFill>
              </a:rPr>
              <a:t>CASP authorization: 5–6 months (AMF accepting since 2024)</a:t>
            </a:r>
          </a:p>
        </p:txBody>
      </p:sp>
      <p:sp>
        <p:nvSpPr>
          <p:cNvPr id="37" name="Oval 36"/>
          <p:cNvSpPr/>
          <p:nvPr/>
        </p:nvSpPr>
        <p:spPr>
          <a:xfrm>
            <a:off x="6583680" y="4233672"/>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48272" y="4187952"/>
            <a:ext cx="5184648" cy="347472"/>
          </a:xfrm>
          <a:prstGeom prst="rect">
            <a:avLst/>
          </a:prstGeom>
          <a:noFill/>
        </p:spPr>
        <p:txBody>
          <a:bodyPr wrap="square">
            <a:spAutoFit/>
          </a:bodyPr>
          <a:lstStyle/>
          <a:p>
            <a:pPr algn="l"/>
            <a:r>
              <a:rPr sz="1000" b="0" i="0">
                <a:solidFill>
                  <a:srgbClr val="CCCCDD"/>
                </a:solidFill>
              </a:rPr>
              <a:t>Market Abuse Regulation (MAR) applies — strict surveillance</a:t>
            </a:r>
          </a:p>
        </p:txBody>
      </p:sp>
      <p:sp>
        <p:nvSpPr>
          <p:cNvPr id="39" name="Oval 38"/>
          <p:cNvSpPr/>
          <p:nvPr/>
        </p:nvSpPr>
        <p:spPr>
          <a:xfrm>
            <a:off x="6583680" y="4581144"/>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48272" y="4535424"/>
            <a:ext cx="5184648" cy="347472"/>
          </a:xfrm>
          <a:prstGeom prst="rect">
            <a:avLst/>
          </a:prstGeom>
          <a:noFill/>
        </p:spPr>
        <p:txBody>
          <a:bodyPr wrap="square">
            <a:spAutoFit/>
          </a:bodyPr>
          <a:lstStyle/>
          <a:p>
            <a:pPr algn="l"/>
            <a:r>
              <a:rPr sz="1000" b="0" i="0">
                <a:solidFill>
                  <a:srgbClr val="CCCCDD"/>
                </a:solidFill>
              </a:rPr>
              <a:t>ESMA (Apr 2025): fractional shares still unregulated across EU</a:t>
            </a:r>
          </a:p>
        </p:txBody>
      </p:sp>
      <p:sp>
        <p:nvSpPr>
          <p:cNvPr id="41" name="Oval 40"/>
          <p:cNvSpPr/>
          <p:nvPr/>
        </p:nvSpPr>
        <p:spPr>
          <a:xfrm>
            <a:off x="6583680" y="4928616"/>
            <a:ext cx="73152" cy="7315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48272" y="4882896"/>
            <a:ext cx="5184648" cy="347472"/>
          </a:xfrm>
          <a:prstGeom prst="rect">
            <a:avLst/>
          </a:prstGeom>
          <a:noFill/>
        </p:spPr>
        <p:txBody>
          <a:bodyPr wrap="square">
            <a:spAutoFit/>
          </a:bodyPr>
          <a:lstStyle/>
          <a:p>
            <a:pPr algn="l"/>
            <a:r>
              <a:rPr sz="1000" b="0" i="0">
                <a:solidFill>
                  <a:srgbClr val="CCCCDD"/>
                </a:solidFill>
              </a:rPr>
              <a:t>French DASP transitional period ends July 1, 2026</a:t>
            </a:r>
          </a:p>
        </p:txBody>
      </p:sp>
      <p:sp>
        <p:nvSpPr>
          <p:cNvPr id="43" name="Rectangle 42"/>
          <p:cNvSpPr/>
          <p:nvPr/>
        </p:nvSpPr>
        <p:spPr>
          <a:xfrm>
            <a:off x="6446520" y="5961888"/>
            <a:ext cx="5669280" cy="292608"/>
          </a:xfrm>
          <a:prstGeom prst="rect">
            <a:avLst/>
          </a:prstGeom>
          <a:solidFill>
            <a:srgbClr val="0A0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56248" y="5989320"/>
            <a:ext cx="5394960" cy="256032"/>
          </a:xfrm>
          <a:prstGeom prst="rect">
            <a:avLst/>
          </a:prstGeom>
          <a:noFill/>
        </p:spPr>
        <p:txBody>
          <a:bodyPr wrap="square">
            <a:spAutoFit/>
          </a:bodyPr>
          <a:lstStyle/>
          <a:p>
            <a:pPr algn="l"/>
            <a:r>
              <a:rPr sz="900" b="1" i="0">
                <a:solidFill>
                  <a:srgbClr val="F59E0B"/>
                </a:solidFill>
              </a:rPr>
              <a:t>Timeline: 5–18 months.  Capital: €50K–€150K.  Burden: HIGH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ARTEX DIFFERENTIATION</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How We Stand Out — Unique User Features</a:t>
            </a:r>
          </a:p>
        </p:txBody>
      </p:sp>
      <p:sp>
        <p:nvSpPr>
          <p:cNvPr id="5" name="TextBox 4"/>
          <p:cNvSpPr txBox="1"/>
          <p:nvPr/>
        </p:nvSpPr>
        <p:spPr>
          <a:xfrm>
            <a:off x="457200" y="1691640"/>
            <a:ext cx="11247120" cy="502920"/>
          </a:xfrm>
          <a:prstGeom prst="rect">
            <a:avLst/>
          </a:prstGeom>
          <a:noFill/>
        </p:spPr>
        <p:txBody>
          <a:bodyPr wrap="square">
            <a:spAutoFit/>
          </a:bodyPr>
          <a:lstStyle/>
          <a:p>
            <a:pPr algn="l"/>
            <a:r>
              <a:rPr sz="1100" b="0" i="1">
                <a:solidFill>
                  <a:srgbClr val="888899"/>
                </a:solidFill>
              </a:rPr>
              <a:t>ArtEx occupies a white space no existing platform serves: curated digital art + fractional ownership + active secondary trading + leverage</a:t>
            </a:r>
          </a:p>
        </p:txBody>
      </p:sp>
      <p:cxnSp>
        <p:nvCxnSpPr>
          <p:cNvPr id="6" name="Connector 5"/>
          <p:cNvCxnSpPr/>
          <p:nvPr/>
        </p:nvCxnSpPr>
        <p:spPr>
          <a:xfrm>
            <a:off x="457200" y="2176272"/>
            <a:ext cx="11247120" cy="0"/>
          </a:xfrm>
          <a:prstGeom prst="line">
            <a:avLst/>
          </a:prstGeom>
          <a:ln w="12700">
            <a:solidFill>
              <a:srgbClr val="333344"/>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2331720"/>
            <a:ext cx="5669280" cy="1783080"/>
          </a:xfrm>
          <a:prstGeom prst="rect">
            <a:avLst/>
          </a:prstGeom>
          <a:solidFill>
            <a:srgbClr val="11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441448"/>
            <a:ext cx="5303520" cy="365760"/>
          </a:xfrm>
          <a:prstGeom prst="rect">
            <a:avLst/>
          </a:prstGeom>
          <a:noFill/>
        </p:spPr>
        <p:txBody>
          <a:bodyPr wrap="square">
            <a:spAutoFit/>
          </a:bodyPr>
          <a:lstStyle/>
          <a:p>
            <a:pPr algn="l"/>
            <a:r>
              <a:rPr sz="1400" b="1" i="0">
                <a:solidFill>
                  <a:srgbClr val="A855F7"/>
                </a:solidFill>
              </a:rPr>
              <a:t>🎨  AI Buy Suggestions</a:t>
            </a:r>
          </a:p>
        </p:txBody>
      </p:sp>
      <p:sp>
        <p:nvSpPr>
          <p:cNvPr id="9" name="TextBox 8"/>
          <p:cNvSpPr txBox="1"/>
          <p:nvPr/>
        </p:nvSpPr>
        <p:spPr>
          <a:xfrm>
            <a:off x="640080" y="2807208"/>
            <a:ext cx="5303520" cy="731520"/>
          </a:xfrm>
          <a:prstGeom prst="rect">
            <a:avLst/>
          </a:prstGeom>
          <a:noFill/>
        </p:spPr>
        <p:txBody>
          <a:bodyPr wrap="square">
            <a:spAutoFit/>
          </a:bodyPr>
          <a:lstStyle/>
          <a:p>
            <a:pPr algn="l"/>
            <a:r>
              <a:rPr sz="950" b="0" i="0">
                <a:solidFill>
                  <a:srgbClr val="CCCCDD"/>
                </a:solidFill>
              </a:rPr>
              <a:t>Platform analyses user portfolio, market trends, and artwork performance to suggest optimal buys — personalised, data-driven investment recommendations unavailable on Artsy or OpenSea.</a:t>
            </a:r>
          </a:p>
        </p:txBody>
      </p:sp>
      <p:sp>
        <p:nvSpPr>
          <p:cNvPr id="10" name="Rectangle 9"/>
          <p:cNvSpPr/>
          <p:nvPr/>
        </p:nvSpPr>
        <p:spPr>
          <a:xfrm>
            <a:off x="640080" y="3749039"/>
            <a:ext cx="5212080" cy="2286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3776472"/>
            <a:ext cx="5029200" cy="201168"/>
          </a:xfrm>
          <a:prstGeom prst="rect">
            <a:avLst/>
          </a:prstGeom>
          <a:noFill/>
        </p:spPr>
        <p:txBody>
          <a:bodyPr wrap="square">
            <a:spAutoFit/>
          </a:bodyPr>
          <a:lstStyle/>
          <a:p>
            <a:pPr algn="l"/>
            <a:r>
              <a:rPr sz="800" b="0" i="1">
                <a:solidFill>
                  <a:srgbClr val="888899"/>
                </a:solidFill>
              </a:rPr>
              <a:t>vs. None on Artsy / OpenSea</a:t>
            </a:r>
          </a:p>
        </p:txBody>
      </p:sp>
      <p:sp>
        <p:nvSpPr>
          <p:cNvPr id="12" name="Rectangle 11"/>
          <p:cNvSpPr/>
          <p:nvPr/>
        </p:nvSpPr>
        <p:spPr>
          <a:xfrm>
            <a:off x="6309360" y="2331720"/>
            <a:ext cx="5669280" cy="1783080"/>
          </a:xfrm>
          <a:prstGeom prst="rect">
            <a:avLst/>
          </a:prstGeom>
          <a:solidFill>
            <a:srgbClr val="11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441448"/>
            <a:ext cx="5303520" cy="365760"/>
          </a:xfrm>
          <a:prstGeom prst="rect">
            <a:avLst/>
          </a:prstGeom>
          <a:noFill/>
        </p:spPr>
        <p:txBody>
          <a:bodyPr wrap="square">
            <a:spAutoFit/>
          </a:bodyPr>
          <a:lstStyle/>
          <a:p>
            <a:pPr algn="l"/>
            <a:r>
              <a:rPr sz="1400" b="1" i="0">
                <a:solidFill>
                  <a:srgbClr val="E8552A"/>
                </a:solidFill>
              </a:rPr>
              <a:t>⚡  Fractional Painting Shares</a:t>
            </a:r>
          </a:p>
        </p:txBody>
      </p:sp>
      <p:sp>
        <p:nvSpPr>
          <p:cNvPr id="14" name="TextBox 13"/>
          <p:cNvSpPr txBox="1"/>
          <p:nvPr/>
        </p:nvSpPr>
        <p:spPr>
          <a:xfrm>
            <a:off x="6492240" y="2807208"/>
            <a:ext cx="5303520" cy="731520"/>
          </a:xfrm>
          <a:prstGeom prst="rect">
            <a:avLst/>
          </a:prstGeom>
          <a:noFill/>
        </p:spPr>
        <p:txBody>
          <a:bodyPr wrap="square">
            <a:spAutoFit/>
          </a:bodyPr>
          <a:lstStyle/>
          <a:p>
            <a:pPr algn="l"/>
            <a:r>
              <a:rPr sz="950" b="0" i="0">
                <a:solidFill>
                  <a:srgbClr val="CCCCDD"/>
                </a:solidFill>
              </a:rPr>
              <a:t>Any digital artwork can be split into shares, enabling retail investors to own a fraction of blue-chip digital art starting at micro-amounts — democratising access previously limited to accredited investors.</a:t>
            </a:r>
          </a:p>
        </p:txBody>
      </p:sp>
      <p:sp>
        <p:nvSpPr>
          <p:cNvPr id="15" name="Rectangle 14"/>
          <p:cNvSpPr/>
          <p:nvPr/>
        </p:nvSpPr>
        <p:spPr>
          <a:xfrm>
            <a:off x="6492240" y="3749039"/>
            <a:ext cx="5212080" cy="2286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5392" y="3776472"/>
            <a:ext cx="5029200" cy="201168"/>
          </a:xfrm>
          <a:prstGeom prst="rect">
            <a:avLst/>
          </a:prstGeom>
          <a:noFill/>
        </p:spPr>
        <p:txBody>
          <a:bodyPr wrap="square">
            <a:spAutoFit/>
          </a:bodyPr>
          <a:lstStyle/>
          <a:p>
            <a:pPr algn="l"/>
            <a:r>
              <a:rPr sz="800" b="0" i="1">
                <a:solidFill>
                  <a:srgbClr val="888899"/>
                </a:solidFill>
              </a:rPr>
              <a:t>vs. Whole-work only on Artsy · No art fractions on OpenSea</a:t>
            </a:r>
          </a:p>
        </p:txBody>
      </p:sp>
      <p:sp>
        <p:nvSpPr>
          <p:cNvPr id="17" name="Rectangle 16"/>
          <p:cNvSpPr/>
          <p:nvPr/>
        </p:nvSpPr>
        <p:spPr>
          <a:xfrm>
            <a:off x="457200" y="4297679"/>
            <a:ext cx="5669280" cy="1783080"/>
          </a:xfrm>
          <a:prstGeom prst="rect">
            <a:avLst/>
          </a:prstGeom>
          <a:solidFill>
            <a:srgbClr val="11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407407"/>
            <a:ext cx="5303520" cy="365760"/>
          </a:xfrm>
          <a:prstGeom prst="rect">
            <a:avLst/>
          </a:prstGeom>
          <a:noFill/>
        </p:spPr>
        <p:txBody>
          <a:bodyPr wrap="square">
            <a:spAutoFit/>
          </a:bodyPr>
          <a:lstStyle/>
          <a:p>
            <a:pPr algn="l"/>
            <a:r>
              <a:rPr sz="1400" b="1" i="0">
                <a:solidFill>
                  <a:srgbClr val="22C55E"/>
                </a:solidFill>
              </a:rPr>
              <a:t>📊  No-Leverage Share Buying</a:t>
            </a:r>
          </a:p>
        </p:txBody>
      </p:sp>
      <p:sp>
        <p:nvSpPr>
          <p:cNvPr id="19" name="TextBox 18"/>
          <p:cNvSpPr txBox="1"/>
          <p:nvPr/>
        </p:nvSpPr>
        <p:spPr>
          <a:xfrm>
            <a:off x="640080" y="4773167"/>
            <a:ext cx="5303520" cy="731520"/>
          </a:xfrm>
          <a:prstGeom prst="rect">
            <a:avLst/>
          </a:prstGeom>
          <a:noFill/>
        </p:spPr>
        <p:txBody>
          <a:bodyPr wrap="square">
            <a:spAutoFit/>
          </a:bodyPr>
          <a:lstStyle/>
          <a:p>
            <a:pPr algn="l"/>
            <a:r>
              <a:rPr sz="950" b="0" i="0">
                <a:solidFill>
                  <a:srgbClr val="CCCCDD"/>
                </a:solidFill>
              </a:rPr>
              <a:t>Users can buy more shares with capital they own — straightforward fractional accumulation with no debt exposure. Ideal for long-term collectors building a portfolio of digital art.</a:t>
            </a:r>
          </a:p>
        </p:txBody>
      </p:sp>
      <p:sp>
        <p:nvSpPr>
          <p:cNvPr id="20" name="Rectangle 19"/>
          <p:cNvSpPr/>
          <p:nvPr/>
        </p:nvSpPr>
        <p:spPr>
          <a:xfrm>
            <a:off x="640080" y="5714999"/>
            <a:ext cx="5212080" cy="2286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5742431"/>
            <a:ext cx="5029200" cy="201168"/>
          </a:xfrm>
          <a:prstGeom prst="rect">
            <a:avLst/>
          </a:prstGeom>
          <a:noFill/>
        </p:spPr>
        <p:txBody>
          <a:bodyPr wrap="square">
            <a:spAutoFit/>
          </a:bodyPr>
          <a:lstStyle/>
          <a:p>
            <a:pPr algn="l"/>
            <a:r>
              <a:rPr sz="800" b="0" i="1">
                <a:solidFill>
                  <a:srgbClr val="888899"/>
                </a:solidFill>
              </a:rPr>
              <a:t>vs. Buy/sell whole works only on Artsy</a:t>
            </a:r>
          </a:p>
        </p:txBody>
      </p:sp>
      <p:sp>
        <p:nvSpPr>
          <p:cNvPr id="22" name="Rectangle 21"/>
          <p:cNvSpPr/>
          <p:nvPr/>
        </p:nvSpPr>
        <p:spPr>
          <a:xfrm>
            <a:off x="6309360" y="4297679"/>
            <a:ext cx="5669280" cy="1783080"/>
          </a:xfrm>
          <a:prstGeom prst="rect">
            <a:avLst/>
          </a:prstGeom>
          <a:solidFill>
            <a:srgbClr val="11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4407407"/>
            <a:ext cx="5303520" cy="365760"/>
          </a:xfrm>
          <a:prstGeom prst="rect">
            <a:avLst/>
          </a:prstGeom>
          <a:noFill/>
        </p:spPr>
        <p:txBody>
          <a:bodyPr wrap="square">
            <a:spAutoFit/>
          </a:bodyPr>
          <a:lstStyle/>
          <a:p>
            <a:pPr algn="l"/>
            <a:r>
              <a:rPr sz="1400" b="1" i="0">
                <a:solidFill>
                  <a:srgbClr val="F59E0B"/>
                </a:solidFill>
              </a:rPr>
              <a:t>⬆  Leveraged Positions (Perpetuals)</a:t>
            </a:r>
          </a:p>
        </p:txBody>
      </p:sp>
      <p:sp>
        <p:nvSpPr>
          <p:cNvPr id="24" name="TextBox 23"/>
          <p:cNvSpPr txBox="1"/>
          <p:nvPr/>
        </p:nvSpPr>
        <p:spPr>
          <a:xfrm>
            <a:off x="6492240" y="4773167"/>
            <a:ext cx="5303520" cy="731520"/>
          </a:xfrm>
          <a:prstGeom prst="rect">
            <a:avLst/>
          </a:prstGeom>
          <a:noFill/>
        </p:spPr>
        <p:txBody>
          <a:bodyPr wrap="square">
            <a:spAutoFit/>
          </a:bodyPr>
          <a:lstStyle/>
          <a:p>
            <a:pPr algn="l"/>
            <a:r>
              <a:rPr sz="950" b="0" i="0">
                <a:solidFill>
                  <a:srgbClr val="CCCCDD"/>
                </a:solidFill>
              </a:rPr>
              <a:t>Users can open leveraged long/short perpetual positions on artwork price indices — trading financial exposure with less capital but amplified returns. A financial market mechanic applied to art.</a:t>
            </a:r>
          </a:p>
        </p:txBody>
      </p:sp>
      <p:sp>
        <p:nvSpPr>
          <p:cNvPr id="25" name="Rectangle 24"/>
          <p:cNvSpPr/>
          <p:nvPr/>
        </p:nvSpPr>
        <p:spPr>
          <a:xfrm>
            <a:off x="6492240" y="5714999"/>
            <a:ext cx="5212080" cy="2286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65392" y="5742431"/>
            <a:ext cx="5029200" cy="201168"/>
          </a:xfrm>
          <a:prstGeom prst="rect">
            <a:avLst/>
          </a:prstGeom>
          <a:noFill/>
        </p:spPr>
        <p:txBody>
          <a:bodyPr wrap="square">
            <a:spAutoFit/>
          </a:bodyPr>
          <a:lstStyle/>
          <a:p>
            <a:pPr algn="l"/>
            <a:r>
              <a:rPr sz="800" b="0" i="1">
                <a:solidFill>
                  <a:srgbClr val="888899"/>
                </a:solidFill>
              </a:rPr>
              <a:t>vs. No leverage on any existing art platform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SUMMARY</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Head-to-Head Feature Comparison</a:t>
            </a:r>
          </a:p>
        </p:txBody>
      </p:sp>
      <p:sp>
        <p:nvSpPr>
          <p:cNvPr id="5" name="Rectangle 4"/>
          <p:cNvSpPr/>
          <p:nvPr/>
        </p:nvSpPr>
        <p:spPr>
          <a:xfrm>
            <a:off x="365760" y="1737360"/>
            <a:ext cx="11430000" cy="365760"/>
          </a:xfrm>
          <a:prstGeom prst="rect">
            <a:avLst/>
          </a:prstGeom>
          <a:solidFill>
            <a:srgbClr val="1E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764792"/>
            <a:ext cx="2331720" cy="320040"/>
          </a:xfrm>
          <a:prstGeom prst="rect">
            <a:avLst/>
          </a:prstGeom>
          <a:noFill/>
        </p:spPr>
        <p:txBody>
          <a:bodyPr wrap="square">
            <a:spAutoFit/>
          </a:bodyPr>
          <a:lstStyle/>
          <a:p>
            <a:pPr algn="l"/>
            <a:r>
              <a:rPr sz="1000" b="1" i="0">
                <a:solidFill>
                  <a:srgbClr val="888899"/>
                </a:solidFill>
              </a:rPr>
              <a:t>Feature</a:t>
            </a:r>
          </a:p>
        </p:txBody>
      </p:sp>
      <p:sp>
        <p:nvSpPr>
          <p:cNvPr id="7" name="TextBox 6"/>
          <p:cNvSpPr txBox="1"/>
          <p:nvPr/>
        </p:nvSpPr>
        <p:spPr>
          <a:xfrm>
            <a:off x="2834639" y="1764792"/>
            <a:ext cx="2148840" cy="320040"/>
          </a:xfrm>
          <a:prstGeom prst="rect">
            <a:avLst/>
          </a:prstGeom>
          <a:noFill/>
        </p:spPr>
        <p:txBody>
          <a:bodyPr wrap="square">
            <a:spAutoFit/>
          </a:bodyPr>
          <a:lstStyle/>
          <a:p>
            <a:pPr algn="l"/>
            <a:r>
              <a:rPr sz="1000" b="1" i="0">
                <a:solidFill>
                  <a:srgbClr val="888899"/>
                </a:solidFill>
              </a:rPr>
              <a:t>Artsy</a:t>
            </a:r>
          </a:p>
        </p:txBody>
      </p:sp>
      <p:sp>
        <p:nvSpPr>
          <p:cNvPr id="8" name="TextBox 7"/>
          <p:cNvSpPr txBox="1"/>
          <p:nvPr/>
        </p:nvSpPr>
        <p:spPr>
          <a:xfrm>
            <a:off x="5074920" y="1764792"/>
            <a:ext cx="1920240" cy="320040"/>
          </a:xfrm>
          <a:prstGeom prst="rect">
            <a:avLst/>
          </a:prstGeom>
          <a:noFill/>
        </p:spPr>
        <p:txBody>
          <a:bodyPr wrap="square">
            <a:spAutoFit/>
          </a:bodyPr>
          <a:lstStyle/>
          <a:p>
            <a:pPr algn="l"/>
            <a:r>
              <a:rPr sz="1000" b="1" i="0">
                <a:solidFill>
                  <a:srgbClr val="888899"/>
                </a:solidFill>
              </a:rPr>
              <a:t>OpenSea</a:t>
            </a:r>
          </a:p>
        </p:txBody>
      </p:sp>
      <p:sp>
        <p:nvSpPr>
          <p:cNvPr id="9" name="TextBox 8"/>
          <p:cNvSpPr txBox="1"/>
          <p:nvPr/>
        </p:nvSpPr>
        <p:spPr>
          <a:xfrm>
            <a:off x="7086600" y="1764792"/>
            <a:ext cx="2103120" cy="320040"/>
          </a:xfrm>
          <a:prstGeom prst="rect">
            <a:avLst/>
          </a:prstGeom>
          <a:noFill/>
        </p:spPr>
        <p:txBody>
          <a:bodyPr wrap="square">
            <a:spAutoFit/>
          </a:bodyPr>
          <a:lstStyle/>
          <a:p>
            <a:pPr algn="l"/>
            <a:r>
              <a:rPr sz="1000" b="1" i="0">
                <a:solidFill>
                  <a:srgbClr val="888899"/>
                </a:solidFill>
              </a:rPr>
              <a:t>Masterworks</a:t>
            </a:r>
          </a:p>
        </p:txBody>
      </p:sp>
      <p:sp>
        <p:nvSpPr>
          <p:cNvPr id="10" name="TextBox 9"/>
          <p:cNvSpPr txBox="1"/>
          <p:nvPr/>
        </p:nvSpPr>
        <p:spPr>
          <a:xfrm>
            <a:off x="9281160" y="1764792"/>
            <a:ext cx="2834640" cy="320040"/>
          </a:xfrm>
          <a:prstGeom prst="rect">
            <a:avLst/>
          </a:prstGeom>
          <a:noFill/>
        </p:spPr>
        <p:txBody>
          <a:bodyPr wrap="square">
            <a:spAutoFit/>
          </a:bodyPr>
          <a:lstStyle/>
          <a:p>
            <a:pPr algn="l"/>
            <a:r>
              <a:rPr sz="1000" b="1" i="0">
                <a:solidFill>
                  <a:srgbClr val="E8552A"/>
                </a:solidFill>
              </a:rPr>
              <a:t>ArtEx</a:t>
            </a:r>
          </a:p>
        </p:txBody>
      </p:sp>
      <p:sp>
        <p:nvSpPr>
          <p:cNvPr id="11" name="Rectangle 10"/>
          <p:cNvSpPr/>
          <p:nvPr/>
        </p:nvSpPr>
        <p:spPr>
          <a:xfrm>
            <a:off x="365760" y="2121408"/>
            <a:ext cx="1143000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2167127"/>
            <a:ext cx="2240279" cy="347472"/>
          </a:xfrm>
          <a:prstGeom prst="rect">
            <a:avLst/>
          </a:prstGeom>
          <a:noFill/>
        </p:spPr>
        <p:txBody>
          <a:bodyPr wrap="square">
            <a:spAutoFit/>
          </a:bodyPr>
          <a:lstStyle/>
          <a:p>
            <a:pPr algn="l"/>
            <a:r>
              <a:rPr sz="900" b="0" i="0">
                <a:solidFill>
                  <a:srgbClr val="CCCCDD"/>
                </a:solidFill>
              </a:rPr>
              <a:t>Asset Type</a:t>
            </a:r>
          </a:p>
        </p:txBody>
      </p:sp>
      <p:sp>
        <p:nvSpPr>
          <p:cNvPr id="13" name="TextBox 12"/>
          <p:cNvSpPr txBox="1"/>
          <p:nvPr/>
        </p:nvSpPr>
        <p:spPr>
          <a:xfrm>
            <a:off x="2834639" y="2167127"/>
            <a:ext cx="2057400" cy="347472"/>
          </a:xfrm>
          <a:prstGeom prst="rect">
            <a:avLst/>
          </a:prstGeom>
          <a:noFill/>
        </p:spPr>
        <p:txBody>
          <a:bodyPr wrap="square">
            <a:spAutoFit/>
          </a:bodyPr>
          <a:lstStyle/>
          <a:p>
            <a:pPr algn="l"/>
            <a:r>
              <a:rPr sz="900" b="0" i="0">
                <a:solidFill>
                  <a:srgbClr val="888899"/>
                </a:solidFill>
              </a:rPr>
              <a:t>Physical/digital art</a:t>
            </a:r>
          </a:p>
        </p:txBody>
      </p:sp>
      <p:sp>
        <p:nvSpPr>
          <p:cNvPr id="14" name="TextBox 13"/>
          <p:cNvSpPr txBox="1"/>
          <p:nvPr/>
        </p:nvSpPr>
        <p:spPr>
          <a:xfrm>
            <a:off x="5074920" y="2167127"/>
            <a:ext cx="1828800" cy="347472"/>
          </a:xfrm>
          <a:prstGeom prst="rect">
            <a:avLst/>
          </a:prstGeom>
          <a:noFill/>
        </p:spPr>
        <p:txBody>
          <a:bodyPr wrap="square">
            <a:spAutoFit/>
          </a:bodyPr>
          <a:lstStyle/>
          <a:p>
            <a:pPr algn="l"/>
            <a:r>
              <a:rPr sz="900" b="0" i="0">
                <a:solidFill>
                  <a:srgbClr val="888899"/>
                </a:solidFill>
              </a:rPr>
              <a:t>NFTs only</a:t>
            </a:r>
          </a:p>
        </p:txBody>
      </p:sp>
      <p:sp>
        <p:nvSpPr>
          <p:cNvPr id="15" name="TextBox 14"/>
          <p:cNvSpPr txBox="1"/>
          <p:nvPr/>
        </p:nvSpPr>
        <p:spPr>
          <a:xfrm>
            <a:off x="7086600" y="2167127"/>
            <a:ext cx="2011679" cy="347472"/>
          </a:xfrm>
          <a:prstGeom prst="rect">
            <a:avLst/>
          </a:prstGeom>
          <a:noFill/>
        </p:spPr>
        <p:txBody>
          <a:bodyPr wrap="square">
            <a:spAutoFit/>
          </a:bodyPr>
          <a:lstStyle/>
          <a:p>
            <a:pPr algn="l"/>
            <a:r>
              <a:rPr sz="900" b="0" i="0">
                <a:solidFill>
                  <a:srgbClr val="888899"/>
                </a:solidFill>
              </a:rPr>
              <a:t>Physical fine art</a:t>
            </a:r>
          </a:p>
        </p:txBody>
      </p:sp>
      <p:sp>
        <p:nvSpPr>
          <p:cNvPr id="16" name="Rectangle 15"/>
          <p:cNvSpPr/>
          <p:nvPr/>
        </p:nvSpPr>
        <p:spPr>
          <a:xfrm>
            <a:off x="9217152" y="2121408"/>
            <a:ext cx="288036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81160" y="2167127"/>
            <a:ext cx="2743200" cy="347472"/>
          </a:xfrm>
          <a:prstGeom prst="rect">
            <a:avLst/>
          </a:prstGeom>
          <a:noFill/>
        </p:spPr>
        <p:txBody>
          <a:bodyPr wrap="square">
            <a:spAutoFit/>
          </a:bodyPr>
          <a:lstStyle/>
          <a:p>
            <a:pPr algn="l"/>
            <a:r>
              <a:rPr sz="900" b="0" i="0">
                <a:solidFill>
                  <a:srgbClr val="CCCCDD"/>
                </a:solidFill>
              </a:rPr>
              <a:t>Digital art</a:t>
            </a:r>
          </a:p>
        </p:txBody>
      </p:sp>
      <p:sp>
        <p:nvSpPr>
          <p:cNvPr id="18" name="Rectangle 17"/>
          <p:cNvSpPr/>
          <p:nvPr/>
        </p:nvSpPr>
        <p:spPr>
          <a:xfrm>
            <a:off x="365760" y="2551176"/>
            <a:ext cx="11430000" cy="420624"/>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596896"/>
            <a:ext cx="2240279" cy="347472"/>
          </a:xfrm>
          <a:prstGeom prst="rect">
            <a:avLst/>
          </a:prstGeom>
          <a:noFill/>
        </p:spPr>
        <p:txBody>
          <a:bodyPr wrap="square">
            <a:spAutoFit/>
          </a:bodyPr>
          <a:lstStyle/>
          <a:p>
            <a:pPr algn="l"/>
            <a:r>
              <a:rPr sz="900" b="0" i="0">
                <a:solidFill>
                  <a:srgbClr val="CCCCDD"/>
                </a:solidFill>
              </a:rPr>
              <a:t>Fractional Ownership</a:t>
            </a:r>
          </a:p>
        </p:txBody>
      </p:sp>
      <p:sp>
        <p:nvSpPr>
          <p:cNvPr id="20" name="TextBox 19"/>
          <p:cNvSpPr txBox="1"/>
          <p:nvPr/>
        </p:nvSpPr>
        <p:spPr>
          <a:xfrm>
            <a:off x="2834639" y="2596896"/>
            <a:ext cx="2057400" cy="347472"/>
          </a:xfrm>
          <a:prstGeom prst="rect">
            <a:avLst/>
          </a:prstGeom>
          <a:noFill/>
        </p:spPr>
        <p:txBody>
          <a:bodyPr wrap="square">
            <a:spAutoFit/>
          </a:bodyPr>
          <a:lstStyle/>
          <a:p>
            <a:pPr algn="l"/>
            <a:r>
              <a:rPr sz="900" b="0" i="0">
                <a:solidFill>
                  <a:srgbClr val="EF4444"/>
                </a:solidFill>
              </a:rPr>
              <a:t>✗ No</a:t>
            </a:r>
          </a:p>
        </p:txBody>
      </p:sp>
      <p:sp>
        <p:nvSpPr>
          <p:cNvPr id="21" name="TextBox 20"/>
          <p:cNvSpPr txBox="1"/>
          <p:nvPr/>
        </p:nvSpPr>
        <p:spPr>
          <a:xfrm>
            <a:off x="5074920" y="2596896"/>
            <a:ext cx="1828800" cy="347472"/>
          </a:xfrm>
          <a:prstGeom prst="rect">
            <a:avLst/>
          </a:prstGeom>
          <a:noFill/>
        </p:spPr>
        <p:txBody>
          <a:bodyPr wrap="square">
            <a:spAutoFit/>
          </a:bodyPr>
          <a:lstStyle/>
          <a:p>
            <a:pPr algn="l"/>
            <a:r>
              <a:rPr sz="900" b="0" i="0">
                <a:solidFill>
                  <a:srgbClr val="EF4444"/>
                </a:solidFill>
              </a:rPr>
              <a:t>✗ No</a:t>
            </a:r>
          </a:p>
        </p:txBody>
      </p:sp>
      <p:sp>
        <p:nvSpPr>
          <p:cNvPr id="22" name="TextBox 21"/>
          <p:cNvSpPr txBox="1"/>
          <p:nvPr/>
        </p:nvSpPr>
        <p:spPr>
          <a:xfrm>
            <a:off x="7086600" y="2596896"/>
            <a:ext cx="2011679" cy="347472"/>
          </a:xfrm>
          <a:prstGeom prst="rect">
            <a:avLst/>
          </a:prstGeom>
          <a:noFill/>
        </p:spPr>
        <p:txBody>
          <a:bodyPr wrap="square">
            <a:spAutoFit/>
          </a:bodyPr>
          <a:lstStyle/>
          <a:p>
            <a:pPr algn="l"/>
            <a:r>
              <a:rPr sz="900" b="0" i="0">
                <a:solidFill>
                  <a:srgbClr val="22C55E"/>
                </a:solidFill>
              </a:rPr>
              <a:t>✓ Yes</a:t>
            </a:r>
          </a:p>
        </p:txBody>
      </p:sp>
      <p:sp>
        <p:nvSpPr>
          <p:cNvPr id="23" name="Rectangle 22"/>
          <p:cNvSpPr/>
          <p:nvPr/>
        </p:nvSpPr>
        <p:spPr>
          <a:xfrm>
            <a:off x="9217152" y="2551176"/>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81160" y="2596896"/>
            <a:ext cx="2743200" cy="347472"/>
          </a:xfrm>
          <a:prstGeom prst="rect">
            <a:avLst/>
          </a:prstGeom>
          <a:noFill/>
        </p:spPr>
        <p:txBody>
          <a:bodyPr wrap="square">
            <a:spAutoFit/>
          </a:bodyPr>
          <a:lstStyle/>
          <a:p>
            <a:pPr algn="l"/>
            <a:r>
              <a:rPr sz="900" b="0" i="0">
                <a:solidFill>
                  <a:srgbClr val="22C55E"/>
                </a:solidFill>
              </a:rPr>
              <a:t>✓ Yes</a:t>
            </a:r>
          </a:p>
        </p:txBody>
      </p:sp>
      <p:sp>
        <p:nvSpPr>
          <p:cNvPr id="25" name="Rectangle 24"/>
          <p:cNvSpPr/>
          <p:nvPr/>
        </p:nvSpPr>
        <p:spPr>
          <a:xfrm>
            <a:off x="365760" y="2980944"/>
            <a:ext cx="1143000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026663"/>
            <a:ext cx="2240279" cy="347472"/>
          </a:xfrm>
          <a:prstGeom prst="rect">
            <a:avLst/>
          </a:prstGeom>
          <a:noFill/>
        </p:spPr>
        <p:txBody>
          <a:bodyPr wrap="square">
            <a:spAutoFit/>
          </a:bodyPr>
          <a:lstStyle/>
          <a:p>
            <a:pPr algn="l"/>
            <a:r>
              <a:rPr sz="900" b="0" i="0">
                <a:solidFill>
                  <a:srgbClr val="CCCCDD"/>
                </a:solidFill>
              </a:rPr>
              <a:t>Secondary Market</a:t>
            </a:r>
          </a:p>
        </p:txBody>
      </p:sp>
      <p:sp>
        <p:nvSpPr>
          <p:cNvPr id="27" name="TextBox 26"/>
          <p:cNvSpPr txBox="1"/>
          <p:nvPr/>
        </p:nvSpPr>
        <p:spPr>
          <a:xfrm>
            <a:off x="2834639" y="3026663"/>
            <a:ext cx="2057400" cy="347472"/>
          </a:xfrm>
          <a:prstGeom prst="rect">
            <a:avLst/>
          </a:prstGeom>
          <a:noFill/>
        </p:spPr>
        <p:txBody>
          <a:bodyPr wrap="square">
            <a:spAutoFit/>
          </a:bodyPr>
          <a:lstStyle/>
          <a:p>
            <a:pPr algn="l"/>
            <a:r>
              <a:rPr sz="900" b="0" i="0">
                <a:solidFill>
                  <a:srgbClr val="EF4444"/>
                </a:solidFill>
              </a:rPr>
              <a:t>✗ No</a:t>
            </a:r>
          </a:p>
        </p:txBody>
      </p:sp>
      <p:sp>
        <p:nvSpPr>
          <p:cNvPr id="28" name="TextBox 27"/>
          <p:cNvSpPr txBox="1"/>
          <p:nvPr/>
        </p:nvSpPr>
        <p:spPr>
          <a:xfrm>
            <a:off x="5074920" y="3026663"/>
            <a:ext cx="1828800" cy="347472"/>
          </a:xfrm>
          <a:prstGeom prst="rect">
            <a:avLst/>
          </a:prstGeom>
          <a:noFill/>
        </p:spPr>
        <p:txBody>
          <a:bodyPr wrap="square">
            <a:spAutoFit/>
          </a:bodyPr>
          <a:lstStyle/>
          <a:p>
            <a:pPr algn="l"/>
            <a:r>
              <a:rPr sz="900" b="0" i="0">
                <a:solidFill>
                  <a:srgbClr val="22C55E"/>
                </a:solidFill>
              </a:rPr>
              <a:t>✓ Yes (24/7)</a:t>
            </a:r>
          </a:p>
        </p:txBody>
      </p:sp>
      <p:sp>
        <p:nvSpPr>
          <p:cNvPr id="29" name="TextBox 28"/>
          <p:cNvSpPr txBox="1"/>
          <p:nvPr/>
        </p:nvSpPr>
        <p:spPr>
          <a:xfrm>
            <a:off x="7086600" y="3026663"/>
            <a:ext cx="2011679" cy="347472"/>
          </a:xfrm>
          <a:prstGeom prst="rect">
            <a:avLst/>
          </a:prstGeom>
          <a:noFill/>
        </p:spPr>
        <p:txBody>
          <a:bodyPr wrap="square">
            <a:spAutoFit/>
          </a:bodyPr>
          <a:lstStyle/>
          <a:p>
            <a:pPr algn="l"/>
            <a:r>
              <a:rPr sz="900" b="0" i="0">
                <a:solidFill>
                  <a:srgbClr val="F59E0B"/>
                </a:solidFill>
              </a:rPr>
              <a:t>~ Limited</a:t>
            </a:r>
          </a:p>
        </p:txBody>
      </p:sp>
      <p:sp>
        <p:nvSpPr>
          <p:cNvPr id="30" name="Rectangle 29"/>
          <p:cNvSpPr/>
          <p:nvPr/>
        </p:nvSpPr>
        <p:spPr>
          <a:xfrm>
            <a:off x="9217152" y="2980944"/>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81160" y="3026663"/>
            <a:ext cx="2743200" cy="347472"/>
          </a:xfrm>
          <a:prstGeom prst="rect">
            <a:avLst/>
          </a:prstGeom>
          <a:noFill/>
        </p:spPr>
        <p:txBody>
          <a:bodyPr wrap="square">
            <a:spAutoFit/>
          </a:bodyPr>
          <a:lstStyle/>
          <a:p>
            <a:pPr algn="l"/>
            <a:r>
              <a:rPr sz="900" b="0" i="0">
                <a:solidFill>
                  <a:srgbClr val="22C55E"/>
                </a:solidFill>
              </a:rPr>
              <a:t>✓ Yes (active)</a:t>
            </a:r>
          </a:p>
        </p:txBody>
      </p:sp>
      <p:sp>
        <p:nvSpPr>
          <p:cNvPr id="32" name="Rectangle 31"/>
          <p:cNvSpPr/>
          <p:nvPr/>
        </p:nvSpPr>
        <p:spPr>
          <a:xfrm>
            <a:off x="365760" y="3410711"/>
            <a:ext cx="11430000" cy="420624"/>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456431"/>
            <a:ext cx="2240279" cy="347472"/>
          </a:xfrm>
          <a:prstGeom prst="rect">
            <a:avLst/>
          </a:prstGeom>
          <a:noFill/>
        </p:spPr>
        <p:txBody>
          <a:bodyPr wrap="square">
            <a:spAutoFit/>
          </a:bodyPr>
          <a:lstStyle/>
          <a:p>
            <a:pPr algn="l"/>
            <a:r>
              <a:rPr sz="900" b="0" i="0">
                <a:solidFill>
                  <a:srgbClr val="CCCCDD"/>
                </a:solidFill>
              </a:rPr>
              <a:t>Leverage / Perps</a:t>
            </a:r>
          </a:p>
        </p:txBody>
      </p:sp>
      <p:sp>
        <p:nvSpPr>
          <p:cNvPr id="34" name="TextBox 33"/>
          <p:cNvSpPr txBox="1"/>
          <p:nvPr/>
        </p:nvSpPr>
        <p:spPr>
          <a:xfrm>
            <a:off x="2834639" y="3456431"/>
            <a:ext cx="2057400" cy="347472"/>
          </a:xfrm>
          <a:prstGeom prst="rect">
            <a:avLst/>
          </a:prstGeom>
          <a:noFill/>
        </p:spPr>
        <p:txBody>
          <a:bodyPr wrap="square">
            <a:spAutoFit/>
          </a:bodyPr>
          <a:lstStyle/>
          <a:p>
            <a:pPr algn="l"/>
            <a:r>
              <a:rPr sz="900" b="0" i="0">
                <a:solidFill>
                  <a:srgbClr val="EF4444"/>
                </a:solidFill>
              </a:rPr>
              <a:t>✗ No</a:t>
            </a:r>
          </a:p>
        </p:txBody>
      </p:sp>
      <p:sp>
        <p:nvSpPr>
          <p:cNvPr id="35" name="TextBox 34"/>
          <p:cNvSpPr txBox="1"/>
          <p:nvPr/>
        </p:nvSpPr>
        <p:spPr>
          <a:xfrm>
            <a:off x="5074920" y="3456431"/>
            <a:ext cx="1828800" cy="347472"/>
          </a:xfrm>
          <a:prstGeom prst="rect">
            <a:avLst/>
          </a:prstGeom>
          <a:noFill/>
        </p:spPr>
        <p:txBody>
          <a:bodyPr wrap="square">
            <a:spAutoFit/>
          </a:bodyPr>
          <a:lstStyle/>
          <a:p>
            <a:pPr algn="l"/>
            <a:r>
              <a:rPr sz="900" b="0" i="0">
                <a:solidFill>
                  <a:srgbClr val="EF4444"/>
                </a:solidFill>
              </a:rPr>
              <a:t>✗ No</a:t>
            </a:r>
          </a:p>
        </p:txBody>
      </p:sp>
      <p:sp>
        <p:nvSpPr>
          <p:cNvPr id="36" name="TextBox 35"/>
          <p:cNvSpPr txBox="1"/>
          <p:nvPr/>
        </p:nvSpPr>
        <p:spPr>
          <a:xfrm>
            <a:off x="7086600" y="3456431"/>
            <a:ext cx="2011679" cy="347472"/>
          </a:xfrm>
          <a:prstGeom prst="rect">
            <a:avLst/>
          </a:prstGeom>
          <a:noFill/>
        </p:spPr>
        <p:txBody>
          <a:bodyPr wrap="square">
            <a:spAutoFit/>
          </a:bodyPr>
          <a:lstStyle/>
          <a:p>
            <a:pPr algn="l"/>
            <a:r>
              <a:rPr sz="900" b="0" i="0">
                <a:solidFill>
                  <a:srgbClr val="EF4444"/>
                </a:solidFill>
              </a:rPr>
              <a:t>✗ No</a:t>
            </a:r>
          </a:p>
        </p:txBody>
      </p:sp>
      <p:sp>
        <p:nvSpPr>
          <p:cNvPr id="37" name="Rectangle 36"/>
          <p:cNvSpPr/>
          <p:nvPr/>
        </p:nvSpPr>
        <p:spPr>
          <a:xfrm>
            <a:off x="9217152" y="3410711"/>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281160" y="3456431"/>
            <a:ext cx="2743200" cy="347472"/>
          </a:xfrm>
          <a:prstGeom prst="rect">
            <a:avLst/>
          </a:prstGeom>
          <a:noFill/>
        </p:spPr>
        <p:txBody>
          <a:bodyPr wrap="square">
            <a:spAutoFit/>
          </a:bodyPr>
          <a:lstStyle/>
          <a:p>
            <a:pPr algn="l"/>
            <a:r>
              <a:rPr sz="900" b="0" i="0">
                <a:solidFill>
                  <a:srgbClr val="22C55E"/>
                </a:solidFill>
              </a:rPr>
              <a:t>✓ Yes</a:t>
            </a:r>
          </a:p>
        </p:txBody>
      </p:sp>
      <p:sp>
        <p:nvSpPr>
          <p:cNvPr id="39" name="Rectangle 38"/>
          <p:cNvSpPr/>
          <p:nvPr/>
        </p:nvSpPr>
        <p:spPr>
          <a:xfrm>
            <a:off x="365760" y="3840479"/>
            <a:ext cx="1143000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11480" y="3886199"/>
            <a:ext cx="2240279" cy="347472"/>
          </a:xfrm>
          <a:prstGeom prst="rect">
            <a:avLst/>
          </a:prstGeom>
          <a:noFill/>
        </p:spPr>
        <p:txBody>
          <a:bodyPr wrap="square">
            <a:spAutoFit/>
          </a:bodyPr>
          <a:lstStyle/>
          <a:p>
            <a:pPr algn="l"/>
            <a:r>
              <a:rPr sz="900" b="0" i="0">
                <a:solidFill>
                  <a:srgbClr val="CCCCDD"/>
                </a:solidFill>
              </a:rPr>
              <a:t>AI Buy Suggestions</a:t>
            </a:r>
          </a:p>
        </p:txBody>
      </p:sp>
      <p:sp>
        <p:nvSpPr>
          <p:cNvPr id="41" name="TextBox 40"/>
          <p:cNvSpPr txBox="1"/>
          <p:nvPr/>
        </p:nvSpPr>
        <p:spPr>
          <a:xfrm>
            <a:off x="2834639" y="3886199"/>
            <a:ext cx="2057400" cy="347472"/>
          </a:xfrm>
          <a:prstGeom prst="rect">
            <a:avLst/>
          </a:prstGeom>
          <a:noFill/>
        </p:spPr>
        <p:txBody>
          <a:bodyPr wrap="square">
            <a:spAutoFit/>
          </a:bodyPr>
          <a:lstStyle/>
          <a:p>
            <a:pPr algn="l"/>
            <a:r>
              <a:rPr sz="900" b="0" i="0">
                <a:solidFill>
                  <a:srgbClr val="EF4444"/>
                </a:solidFill>
              </a:rPr>
              <a:t>✗ No</a:t>
            </a:r>
          </a:p>
        </p:txBody>
      </p:sp>
      <p:sp>
        <p:nvSpPr>
          <p:cNvPr id="42" name="TextBox 41"/>
          <p:cNvSpPr txBox="1"/>
          <p:nvPr/>
        </p:nvSpPr>
        <p:spPr>
          <a:xfrm>
            <a:off x="5074920" y="3886199"/>
            <a:ext cx="1828800" cy="347472"/>
          </a:xfrm>
          <a:prstGeom prst="rect">
            <a:avLst/>
          </a:prstGeom>
          <a:noFill/>
        </p:spPr>
        <p:txBody>
          <a:bodyPr wrap="square">
            <a:spAutoFit/>
          </a:bodyPr>
          <a:lstStyle/>
          <a:p>
            <a:pPr algn="l"/>
            <a:r>
              <a:rPr sz="900" b="0" i="0">
                <a:solidFill>
                  <a:srgbClr val="EF4444"/>
                </a:solidFill>
              </a:rPr>
              <a:t>✗ No</a:t>
            </a:r>
          </a:p>
        </p:txBody>
      </p:sp>
      <p:sp>
        <p:nvSpPr>
          <p:cNvPr id="43" name="TextBox 42"/>
          <p:cNvSpPr txBox="1"/>
          <p:nvPr/>
        </p:nvSpPr>
        <p:spPr>
          <a:xfrm>
            <a:off x="7086600" y="3886199"/>
            <a:ext cx="2011679" cy="347472"/>
          </a:xfrm>
          <a:prstGeom prst="rect">
            <a:avLst/>
          </a:prstGeom>
          <a:noFill/>
        </p:spPr>
        <p:txBody>
          <a:bodyPr wrap="square">
            <a:spAutoFit/>
          </a:bodyPr>
          <a:lstStyle/>
          <a:p>
            <a:pPr algn="l"/>
            <a:r>
              <a:rPr sz="900" b="0" i="0">
                <a:solidFill>
                  <a:srgbClr val="EF4444"/>
                </a:solidFill>
              </a:rPr>
              <a:t>✗ No</a:t>
            </a:r>
          </a:p>
        </p:txBody>
      </p:sp>
      <p:sp>
        <p:nvSpPr>
          <p:cNvPr id="44" name="Rectangle 43"/>
          <p:cNvSpPr/>
          <p:nvPr/>
        </p:nvSpPr>
        <p:spPr>
          <a:xfrm>
            <a:off x="9217152" y="3840479"/>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281160" y="3886199"/>
            <a:ext cx="2743200" cy="347472"/>
          </a:xfrm>
          <a:prstGeom prst="rect">
            <a:avLst/>
          </a:prstGeom>
          <a:noFill/>
        </p:spPr>
        <p:txBody>
          <a:bodyPr wrap="square">
            <a:spAutoFit/>
          </a:bodyPr>
          <a:lstStyle/>
          <a:p>
            <a:pPr algn="l"/>
            <a:r>
              <a:rPr sz="900" b="0" i="0">
                <a:solidFill>
                  <a:srgbClr val="22C55E"/>
                </a:solidFill>
              </a:rPr>
              <a:t>✓ Yes</a:t>
            </a:r>
          </a:p>
        </p:txBody>
      </p:sp>
      <p:sp>
        <p:nvSpPr>
          <p:cNvPr id="46" name="Rectangle 45"/>
          <p:cNvSpPr/>
          <p:nvPr/>
        </p:nvSpPr>
        <p:spPr>
          <a:xfrm>
            <a:off x="365760" y="4270248"/>
            <a:ext cx="11430000" cy="420624"/>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11480" y="4315968"/>
            <a:ext cx="2240279" cy="347472"/>
          </a:xfrm>
          <a:prstGeom prst="rect">
            <a:avLst/>
          </a:prstGeom>
          <a:noFill/>
        </p:spPr>
        <p:txBody>
          <a:bodyPr wrap="square">
            <a:spAutoFit/>
          </a:bodyPr>
          <a:lstStyle/>
          <a:p>
            <a:pPr algn="l"/>
            <a:r>
              <a:rPr sz="900" b="0" i="0">
                <a:solidFill>
                  <a:srgbClr val="CCCCDD"/>
                </a:solidFill>
              </a:rPr>
              <a:t>Retail Accessible</a:t>
            </a:r>
          </a:p>
        </p:txBody>
      </p:sp>
      <p:sp>
        <p:nvSpPr>
          <p:cNvPr id="48" name="TextBox 47"/>
          <p:cNvSpPr txBox="1"/>
          <p:nvPr/>
        </p:nvSpPr>
        <p:spPr>
          <a:xfrm>
            <a:off x="2834639" y="4315968"/>
            <a:ext cx="2057400" cy="347472"/>
          </a:xfrm>
          <a:prstGeom prst="rect">
            <a:avLst/>
          </a:prstGeom>
          <a:noFill/>
        </p:spPr>
        <p:txBody>
          <a:bodyPr wrap="square">
            <a:spAutoFit/>
          </a:bodyPr>
          <a:lstStyle/>
          <a:p>
            <a:pPr algn="l"/>
            <a:r>
              <a:rPr sz="900" b="0" i="0">
                <a:solidFill>
                  <a:srgbClr val="F59E0B"/>
                </a:solidFill>
              </a:rPr>
              <a:t>~ Partially</a:t>
            </a:r>
          </a:p>
        </p:txBody>
      </p:sp>
      <p:sp>
        <p:nvSpPr>
          <p:cNvPr id="49" name="TextBox 48"/>
          <p:cNvSpPr txBox="1"/>
          <p:nvPr/>
        </p:nvSpPr>
        <p:spPr>
          <a:xfrm>
            <a:off x="5074920" y="4315968"/>
            <a:ext cx="1828800" cy="347472"/>
          </a:xfrm>
          <a:prstGeom prst="rect">
            <a:avLst/>
          </a:prstGeom>
          <a:noFill/>
        </p:spPr>
        <p:txBody>
          <a:bodyPr wrap="square">
            <a:spAutoFit/>
          </a:bodyPr>
          <a:lstStyle/>
          <a:p>
            <a:pPr algn="l"/>
            <a:r>
              <a:rPr sz="900" b="0" i="0">
                <a:solidFill>
                  <a:srgbClr val="22C55E"/>
                </a:solidFill>
              </a:rPr>
              <a:t>✓ Yes (crypto)</a:t>
            </a:r>
          </a:p>
        </p:txBody>
      </p:sp>
      <p:sp>
        <p:nvSpPr>
          <p:cNvPr id="50" name="TextBox 49"/>
          <p:cNvSpPr txBox="1"/>
          <p:nvPr/>
        </p:nvSpPr>
        <p:spPr>
          <a:xfrm>
            <a:off x="7086600" y="4315968"/>
            <a:ext cx="2011679" cy="347472"/>
          </a:xfrm>
          <a:prstGeom prst="rect">
            <a:avLst/>
          </a:prstGeom>
          <a:noFill/>
        </p:spPr>
        <p:txBody>
          <a:bodyPr wrap="square">
            <a:spAutoFit/>
          </a:bodyPr>
          <a:lstStyle/>
          <a:p>
            <a:pPr algn="l"/>
            <a:r>
              <a:rPr sz="900" b="0" i="0">
                <a:solidFill>
                  <a:srgbClr val="EF4444"/>
                </a:solidFill>
              </a:rPr>
              <a:t>✗ US Accredited</a:t>
            </a:r>
          </a:p>
        </p:txBody>
      </p:sp>
      <p:sp>
        <p:nvSpPr>
          <p:cNvPr id="51" name="Rectangle 50"/>
          <p:cNvSpPr/>
          <p:nvPr/>
        </p:nvSpPr>
        <p:spPr>
          <a:xfrm>
            <a:off x="9217152" y="4270248"/>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281160" y="4315968"/>
            <a:ext cx="2743200" cy="347472"/>
          </a:xfrm>
          <a:prstGeom prst="rect">
            <a:avLst/>
          </a:prstGeom>
          <a:noFill/>
        </p:spPr>
        <p:txBody>
          <a:bodyPr wrap="square">
            <a:spAutoFit/>
          </a:bodyPr>
          <a:lstStyle/>
          <a:p>
            <a:pPr algn="l"/>
            <a:r>
              <a:rPr sz="900" b="0" i="0">
                <a:solidFill>
                  <a:srgbClr val="22C55E"/>
                </a:solidFill>
              </a:rPr>
              <a:t>✓ Yes</a:t>
            </a:r>
          </a:p>
        </p:txBody>
      </p:sp>
      <p:sp>
        <p:nvSpPr>
          <p:cNvPr id="53" name="Rectangle 52"/>
          <p:cNvSpPr/>
          <p:nvPr/>
        </p:nvSpPr>
        <p:spPr>
          <a:xfrm>
            <a:off x="365760" y="4700016"/>
            <a:ext cx="1143000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1480" y="4745736"/>
            <a:ext cx="2240279" cy="347472"/>
          </a:xfrm>
          <a:prstGeom prst="rect">
            <a:avLst/>
          </a:prstGeom>
          <a:noFill/>
        </p:spPr>
        <p:txBody>
          <a:bodyPr wrap="square">
            <a:spAutoFit/>
          </a:bodyPr>
          <a:lstStyle/>
          <a:p>
            <a:pPr algn="l"/>
            <a:r>
              <a:rPr sz="900" b="0" i="0">
                <a:solidFill>
                  <a:srgbClr val="CCCCDD"/>
                </a:solidFill>
              </a:rPr>
              <a:t>Art Curation</a:t>
            </a:r>
          </a:p>
        </p:txBody>
      </p:sp>
      <p:sp>
        <p:nvSpPr>
          <p:cNvPr id="55" name="TextBox 54"/>
          <p:cNvSpPr txBox="1"/>
          <p:nvPr/>
        </p:nvSpPr>
        <p:spPr>
          <a:xfrm>
            <a:off x="2834639" y="4745736"/>
            <a:ext cx="2057400" cy="347472"/>
          </a:xfrm>
          <a:prstGeom prst="rect">
            <a:avLst/>
          </a:prstGeom>
          <a:noFill/>
        </p:spPr>
        <p:txBody>
          <a:bodyPr wrap="square">
            <a:spAutoFit/>
          </a:bodyPr>
          <a:lstStyle/>
          <a:p>
            <a:pPr algn="l"/>
            <a:r>
              <a:rPr sz="900" b="0" i="0">
                <a:solidFill>
                  <a:srgbClr val="22C55E"/>
                </a:solidFill>
              </a:rPr>
              <a:t>✓ Yes</a:t>
            </a:r>
          </a:p>
        </p:txBody>
      </p:sp>
      <p:sp>
        <p:nvSpPr>
          <p:cNvPr id="56" name="TextBox 55"/>
          <p:cNvSpPr txBox="1"/>
          <p:nvPr/>
        </p:nvSpPr>
        <p:spPr>
          <a:xfrm>
            <a:off x="5074920" y="4745736"/>
            <a:ext cx="1828800" cy="347472"/>
          </a:xfrm>
          <a:prstGeom prst="rect">
            <a:avLst/>
          </a:prstGeom>
          <a:noFill/>
        </p:spPr>
        <p:txBody>
          <a:bodyPr wrap="square">
            <a:spAutoFit/>
          </a:bodyPr>
          <a:lstStyle/>
          <a:p>
            <a:pPr algn="l"/>
            <a:r>
              <a:rPr sz="900" b="0" i="0">
                <a:solidFill>
                  <a:srgbClr val="EF4444"/>
                </a:solidFill>
              </a:rPr>
              <a:t>✗ No</a:t>
            </a:r>
          </a:p>
        </p:txBody>
      </p:sp>
      <p:sp>
        <p:nvSpPr>
          <p:cNvPr id="57" name="TextBox 56"/>
          <p:cNvSpPr txBox="1"/>
          <p:nvPr/>
        </p:nvSpPr>
        <p:spPr>
          <a:xfrm>
            <a:off x="7086600" y="4745736"/>
            <a:ext cx="2011679" cy="347472"/>
          </a:xfrm>
          <a:prstGeom prst="rect">
            <a:avLst/>
          </a:prstGeom>
          <a:noFill/>
        </p:spPr>
        <p:txBody>
          <a:bodyPr wrap="square">
            <a:spAutoFit/>
          </a:bodyPr>
          <a:lstStyle/>
          <a:p>
            <a:pPr algn="l"/>
            <a:r>
              <a:rPr sz="900" b="0" i="0">
                <a:solidFill>
                  <a:srgbClr val="22C55E"/>
                </a:solidFill>
              </a:rPr>
              <a:t>✓ Yes</a:t>
            </a:r>
          </a:p>
        </p:txBody>
      </p:sp>
      <p:sp>
        <p:nvSpPr>
          <p:cNvPr id="58" name="Rectangle 57"/>
          <p:cNvSpPr/>
          <p:nvPr/>
        </p:nvSpPr>
        <p:spPr>
          <a:xfrm>
            <a:off x="9217152" y="4700016"/>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281160" y="4745736"/>
            <a:ext cx="2743200" cy="347472"/>
          </a:xfrm>
          <a:prstGeom prst="rect">
            <a:avLst/>
          </a:prstGeom>
          <a:noFill/>
        </p:spPr>
        <p:txBody>
          <a:bodyPr wrap="square">
            <a:spAutoFit/>
          </a:bodyPr>
          <a:lstStyle/>
          <a:p>
            <a:pPr algn="l"/>
            <a:r>
              <a:rPr sz="900" b="0" i="0">
                <a:solidFill>
                  <a:srgbClr val="22C55E"/>
                </a:solidFill>
              </a:rPr>
              <a:t>✓ Yes</a:t>
            </a:r>
          </a:p>
        </p:txBody>
      </p:sp>
      <p:sp>
        <p:nvSpPr>
          <p:cNvPr id="60" name="Rectangle 59"/>
          <p:cNvSpPr/>
          <p:nvPr/>
        </p:nvSpPr>
        <p:spPr>
          <a:xfrm>
            <a:off x="365760" y="5129783"/>
            <a:ext cx="11430000" cy="420624"/>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11480" y="5175503"/>
            <a:ext cx="2240279" cy="347472"/>
          </a:xfrm>
          <a:prstGeom prst="rect">
            <a:avLst/>
          </a:prstGeom>
          <a:noFill/>
        </p:spPr>
        <p:txBody>
          <a:bodyPr wrap="square">
            <a:spAutoFit/>
          </a:bodyPr>
          <a:lstStyle/>
          <a:p>
            <a:pPr algn="l"/>
            <a:r>
              <a:rPr sz="900" b="0" i="0">
                <a:solidFill>
                  <a:srgbClr val="CCCCDD"/>
                </a:solidFill>
              </a:rPr>
              <a:t>Liquidity</a:t>
            </a:r>
          </a:p>
        </p:txBody>
      </p:sp>
      <p:sp>
        <p:nvSpPr>
          <p:cNvPr id="62" name="TextBox 61"/>
          <p:cNvSpPr txBox="1"/>
          <p:nvPr/>
        </p:nvSpPr>
        <p:spPr>
          <a:xfrm>
            <a:off x="2834639" y="5175503"/>
            <a:ext cx="2057400" cy="347472"/>
          </a:xfrm>
          <a:prstGeom prst="rect">
            <a:avLst/>
          </a:prstGeom>
          <a:noFill/>
        </p:spPr>
        <p:txBody>
          <a:bodyPr wrap="square">
            <a:spAutoFit/>
          </a:bodyPr>
          <a:lstStyle/>
          <a:p>
            <a:pPr algn="l"/>
            <a:r>
              <a:rPr sz="900" b="0" i="0">
                <a:solidFill>
                  <a:srgbClr val="EF4444"/>
                </a:solidFill>
              </a:rPr>
              <a:t>✗ Illiquid</a:t>
            </a:r>
          </a:p>
        </p:txBody>
      </p:sp>
      <p:sp>
        <p:nvSpPr>
          <p:cNvPr id="63" name="TextBox 62"/>
          <p:cNvSpPr txBox="1"/>
          <p:nvPr/>
        </p:nvSpPr>
        <p:spPr>
          <a:xfrm>
            <a:off x="5074920" y="5175503"/>
            <a:ext cx="1828800" cy="347472"/>
          </a:xfrm>
          <a:prstGeom prst="rect">
            <a:avLst/>
          </a:prstGeom>
          <a:noFill/>
        </p:spPr>
        <p:txBody>
          <a:bodyPr wrap="square">
            <a:spAutoFit/>
          </a:bodyPr>
          <a:lstStyle/>
          <a:p>
            <a:pPr algn="l"/>
            <a:r>
              <a:rPr sz="900" b="0" i="0">
                <a:solidFill>
                  <a:srgbClr val="22C55E"/>
                </a:solidFill>
              </a:rPr>
              <a:t>✓ High</a:t>
            </a:r>
          </a:p>
        </p:txBody>
      </p:sp>
      <p:sp>
        <p:nvSpPr>
          <p:cNvPr id="64" name="TextBox 63"/>
          <p:cNvSpPr txBox="1"/>
          <p:nvPr/>
        </p:nvSpPr>
        <p:spPr>
          <a:xfrm>
            <a:off x="7086600" y="5175503"/>
            <a:ext cx="2011679" cy="347472"/>
          </a:xfrm>
          <a:prstGeom prst="rect">
            <a:avLst/>
          </a:prstGeom>
          <a:noFill/>
        </p:spPr>
        <p:txBody>
          <a:bodyPr wrap="square">
            <a:spAutoFit/>
          </a:bodyPr>
          <a:lstStyle/>
          <a:p>
            <a:pPr algn="l"/>
            <a:r>
              <a:rPr sz="900" b="0" i="0">
                <a:solidFill>
                  <a:srgbClr val="EF4444"/>
                </a:solidFill>
              </a:rPr>
              <a:t>✗ 3–10 year lock</a:t>
            </a:r>
          </a:p>
        </p:txBody>
      </p:sp>
      <p:sp>
        <p:nvSpPr>
          <p:cNvPr id="65" name="Rectangle 64"/>
          <p:cNvSpPr/>
          <p:nvPr/>
        </p:nvSpPr>
        <p:spPr>
          <a:xfrm>
            <a:off x="9217152" y="5129783"/>
            <a:ext cx="2880360" cy="420624"/>
          </a:xfrm>
          <a:prstGeom prst="rect">
            <a:avLst/>
          </a:prstGeom>
          <a:solidFill>
            <a:srgbClr val="0A18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81160" y="5175503"/>
            <a:ext cx="2743200" cy="347472"/>
          </a:xfrm>
          <a:prstGeom prst="rect">
            <a:avLst/>
          </a:prstGeom>
          <a:noFill/>
        </p:spPr>
        <p:txBody>
          <a:bodyPr wrap="square">
            <a:spAutoFit/>
          </a:bodyPr>
          <a:lstStyle/>
          <a:p>
            <a:pPr algn="l"/>
            <a:r>
              <a:rPr sz="900" b="0" i="0">
                <a:solidFill>
                  <a:srgbClr val="22C55E"/>
                </a:solidFill>
              </a:rPr>
              <a:t>✓ Active trading</a:t>
            </a:r>
          </a:p>
        </p:txBody>
      </p:sp>
      <p:sp>
        <p:nvSpPr>
          <p:cNvPr id="67" name="Rectangle 66"/>
          <p:cNvSpPr/>
          <p:nvPr/>
        </p:nvSpPr>
        <p:spPr>
          <a:xfrm>
            <a:off x="365760" y="5559552"/>
            <a:ext cx="1143000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11480" y="5605272"/>
            <a:ext cx="2240279" cy="347472"/>
          </a:xfrm>
          <a:prstGeom prst="rect">
            <a:avLst/>
          </a:prstGeom>
          <a:noFill/>
        </p:spPr>
        <p:txBody>
          <a:bodyPr wrap="square">
            <a:spAutoFit/>
          </a:bodyPr>
          <a:lstStyle/>
          <a:p>
            <a:pPr algn="l"/>
            <a:r>
              <a:rPr sz="900" b="0" i="0">
                <a:solidFill>
                  <a:srgbClr val="CCCCDD"/>
                </a:solidFill>
              </a:rPr>
              <a:t>License Needed</a:t>
            </a:r>
          </a:p>
        </p:txBody>
      </p:sp>
      <p:sp>
        <p:nvSpPr>
          <p:cNvPr id="69" name="TextBox 68"/>
          <p:cNvSpPr txBox="1"/>
          <p:nvPr/>
        </p:nvSpPr>
        <p:spPr>
          <a:xfrm>
            <a:off x="2834639" y="5605272"/>
            <a:ext cx="2057400" cy="347472"/>
          </a:xfrm>
          <a:prstGeom prst="rect">
            <a:avLst/>
          </a:prstGeom>
          <a:noFill/>
        </p:spPr>
        <p:txBody>
          <a:bodyPr wrap="square">
            <a:spAutoFit/>
          </a:bodyPr>
          <a:lstStyle/>
          <a:p>
            <a:pPr algn="l"/>
            <a:r>
              <a:rPr sz="900" b="0" i="0">
                <a:solidFill>
                  <a:srgbClr val="888899"/>
                </a:solidFill>
              </a:rPr>
              <a:t>Art Dealer only</a:t>
            </a:r>
          </a:p>
        </p:txBody>
      </p:sp>
      <p:sp>
        <p:nvSpPr>
          <p:cNvPr id="70" name="TextBox 69"/>
          <p:cNvSpPr txBox="1"/>
          <p:nvPr/>
        </p:nvSpPr>
        <p:spPr>
          <a:xfrm>
            <a:off x="5074920" y="5605272"/>
            <a:ext cx="1828800" cy="347472"/>
          </a:xfrm>
          <a:prstGeom prst="rect">
            <a:avLst/>
          </a:prstGeom>
          <a:noFill/>
        </p:spPr>
        <p:txBody>
          <a:bodyPr wrap="square">
            <a:spAutoFit/>
          </a:bodyPr>
          <a:lstStyle/>
          <a:p>
            <a:pPr algn="l"/>
            <a:r>
              <a:rPr sz="900" b="0" i="0">
                <a:solidFill>
                  <a:srgbClr val="888899"/>
                </a:solidFill>
              </a:rPr>
              <a:t>CASP (MiCA)</a:t>
            </a:r>
          </a:p>
        </p:txBody>
      </p:sp>
      <p:sp>
        <p:nvSpPr>
          <p:cNvPr id="71" name="TextBox 70"/>
          <p:cNvSpPr txBox="1"/>
          <p:nvPr/>
        </p:nvSpPr>
        <p:spPr>
          <a:xfrm>
            <a:off x="7086600" y="5605272"/>
            <a:ext cx="2011679" cy="347472"/>
          </a:xfrm>
          <a:prstGeom prst="rect">
            <a:avLst/>
          </a:prstGeom>
          <a:noFill/>
        </p:spPr>
        <p:txBody>
          <a:bodyPr wrap="square">
            <a:spAutoFit/>
          </a:bodyPr>
          <a:lstStyle/>
          <a:p>
            <a:pPr algn="l"/>
            <a:r>
              <a:rPr sz="900" b="0" i="0">
                <a:solidFill>
                  <a:srgbClr val="888899"/>
                </a:solidFill>
              </a:rPr>
              <a:t>SEC Filing (US)</a:t>
            </a:r>
          </a:p>
        </p:txBody>
      </p:sp>
      <p:sp>
        <p:nvSpPr>
          <p:cNvPr id="72" name="Rectangle 71"/>
          <p:cNvSpPr/>
          <p:nvPr/>
        </p:nvSpPr>
        <p:spPr>
          <a:xfrm>
            <a:off x="9217152" y="5559552"/>
            <a:ext cx="2880360" cy="420624"/>
          </a:xfrm>
          <a:prstGeom prst="rect">
            <a:avLst/>
          </a:prstGeom>
          <a:solidFill>
            <a:srgbClr val="14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281160" y="5605272"/>
            <a:ext cx="2743200" cy="347472"/>
          </a:xfrm>
          <a:prstGeom prst="rect">
            <a:avLst/>
          </a:prstGeom>
          <a:noFill/>
        </p:spPr>
        <p:txBody>
          <a:bodyPr wrap="square">
            <a:spAutoFit/>
          </a:bodyPr>
          <a:lstStyle/>
          <a:p>
            <a:pPr algn="l"/>
            <a:r>
              <a:rPr sz="900" b="0" i="0">
                <a:solidFill>
                  <a:srgbClr val="CCCCDD"/>
                </a:solidFill>
              </a:rPr>
              <a:t>CASP or ISP (AMF)</a:t>
            </a:r>
          </a:p>
        </p:txBody>
      </p:sp>
      <p:sp>
        <p:nvSpPr>
          <p:cNvPr id="74" name="Rectangle 73"/>
          <p:cNvSpPr/>
          <p:nvPr/>
        </p:nvSpPr>
        <p:spPr>
          <a:xfrm>
            <a:off x="365760" y="5989319"/>
            <a:ext cx="11430000" cy="420624"/>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11480" y="6035039"/>
            <a:ext cx="2240279" cy="347472"/>
          </a:xfrm>
          <a:prstGeom prst="rect">
            <a:avLst/>
          </a:prstGeom>
          <a:noFill/>
        </p:spPr>
        <p:txBody>
          <a:bodyPr wrap="square">
            <a:spAutoFit/>
          </a:bodyPr>
          <a:lstStyle/>
          <a:p>
            <a:pPr algn="l"/>
            <a:r>
              <a:rPr sz="900" b="0" i="0">
                <a:solidFill>
                  <a:srgbClr val="CCCCDD"/>
                </a:solidFill>
              </a:rPr>
              <a:t>Platform Fee</a:t>
            </a:r>
          </a:p>
        </p:txBody>
      </p:sp>
      <p:sp>
        <p:nvSpPr>
          <p:cNvPr id="76" name="TextBox 75"/>
          <p:cNvSpPr txBox="1"/>
          <p:nvPr/>
        </p:nvSpPr>
        <p:spPr>
          <a:xfrm>
            <a:off x="2834639" y="6035039"/>
            <a:ext cx="2057400" cy="347472"/>
          </a:xfrm>
          <a:prstGeom prst="rect">
            <a:avLst/>
          </a:prstGeom>
          <a:noFill/>
        </p:spPr>
        <p:txBody>
          <a:bodyPr wrap="square">
            <a:spAutoFit/>
          </a:bodyPr>
          <a:lstStyle/>
          <a:p>
            <a:pPr algn="l"/>
            <a:r>
              <a:rPr sz="900" b="0" i="0">
                <a:solidFill>
                  <a:srgbClr val="888899"/>
                </a:solidFill>
              </a:rPr>
              <a:t>5–19% commission</a:t>
            </a:r>
          </a:p>
        </p:txBody>
      </p:sp>
      <p:sp>
        <p:nvSpPr>
          <p:cNvPr id="77" name="TextBox 76"/>
          <p:cNvSpPr txBox="1"/>
          <p:nvPr/>
        </p:nvSpPr>
        <p:spPr>
          <a:xfrm>
            <a:off x="5074920" y="6035039"/>
            <a:ext cx="1828800" cy="347472"/>
          </a:xfrm>
          <a:prstGeom prst="rect">
            <a:avLst/>
          </a:prstGeom>
          <a:noFill/>
        </p:spPr>
        <p:txBody>
          <a:bodyPr wrap="square">
            <a:spAutoFit/>
          </a:bodyPr>
          <a:lstStyle/>
          <a:p>
            <a:pPr algn="l"/>
            <a:r>
              <a:rPr sz="900" b="0" i="0">
                <a:solidFill>
                  <a:srgbClr val="888899"/>
                </a:solidFill>
              </a:rPr>
              <a:t>0.5%</a:t>
            </a:r>
          </a:p>
        </p:txBody>
      </p:sp>
      <p:sp>
        <p:nvSpPr>
          <p:cNvPr id="78" name="TextBox 77"/>
          <p:cNvSpPr txBox="1"/>
          <p:nvPr/>
        </p:nvSpPr>
        <p:spPr>
          <a:xfrm>
            <a:off x="7086600" y="6035039"/>
            <a:ext cx="2011679" cy="347472"/>
          </a:xfrm>
          <a:prstGeom prst="rect">
            <a:avLst/>
          </a:prstGeom>
          <a:noFill/>
        </p:spPr>
        <p:txBody>
          <a:bodyPr wrap="square">
            <a:spAutoFit/>
          </a:bodyPr>
          <a:lstStyle/>
          <a:p>
            <a:pPr algn="l"/>
            <a:r>
              <a:rPr sz="900" b="0" i="0">
                <a:solidFill>
                  <a:srgbClr val="888899"/>
                </a:solidFill>
              </a:rPr>
              <a:t>1.5% annual</a:t>
            </a:r>
          </a:p>
        </p:txBody>
      </p:sp>
      <p:sp>
        <p:nvSpPr>
          <p:cNvPr id="79" name="Rectangle 78"/>
          <p:cNvSpPr/>
          <p:nvPr/>
        </p:nvSpPr>
        <p:spPr>
          <a:xfrm>
            <a:off x="9217152" y="5989319"/>
            <a:ext cx="2880360" cy="420624"/>
          </a:xfrm>
          <a:prstGeom prst="rect">
            <a:avLst/>
          </a:prstGeom>
          <a:solidFill>
            <a:srgbClr val="10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281160" y="6035039"/>
            <a:ext cx="2743200" cy="347472"/>
          </a:xfrm>
          <a:prstGeom prst="rect">
            <a:avLst/>
          </a:prstGeom>
          <a:noFill/>
        </p:spPr>
        <p:txBody>
          <a:bodyPr wrap="square">
            <a:spAutoFit/>
          </a:bodyPr>
          <a:lstStyle/>
          <a:p>
            <a:pPr algn="l"/>
            <a:r>
              <a:rPr sz="900" b="0" i="0">
                <a:solidFill>
                  <a:srgbClr val="CCCCDD"/>
                </a:solidFill>
              </a:rPr>
              <a:t>TBD (&lt;2%)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2743200" cy="228600"/>
          </a:xfrm>
          <a:prstGeom prst="rect">
            <a:avLst/>
          </a:prstGeom>
          <a:noFill/>
        </p:spPr>
        <p:txBody>
          <a:bodyPr wrap="square">
            <a:spAutoFit/>
          </a:bodyPr>
          <a:lstStyle/>
          <a:p>
            <a:pPr algn="l"/>
            <a:r>
              <a:rPr sz="800" b="1" i="0">
                <a:solidFill>
                  <a:srgbClr val="E8552A"/>
                </a:solidFill>
              </a:rPr>
              <a:t>STRATEGY</a:t>
            </a:r>
          </a:p>
        </p:txBody>
      </p:sp>
      <p:cxnSp>
        <p:nvCxnSpPr>
          <p:cNvPr id="3" name="Connector 2"/>
          <p:cNvCxnSpPr/>
          <p:nvPr/>
        </p:nvCxnSpPr>
        <p:spPr>
          <a:xfrm>
            <a:off x="548640" y="658368"/>
            <a:ext cx="11064240" cy="0"/>
          </a:xfrm>
          <a:prstGeom prst="line">
            <a:avLst/>
          </a:prstGeom>
          <a:ln w="12700">
            <a:solidFill>
              <a:srgbClr val="E855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13232"/>
            <a:ext cx="10515600" cy="914400"/>
          </a:xfrm>
          <a:prstGeom prst="rect">
            <a:avLst/>
          </a:prstGeom>
          <a:noFill/>
        </p:spPr>
        <p:txBody>
          <a:bodyPr wrap="square">
            <a:spAutoFit/>
          </a:bodyPr>
          <a:lstStyle/>
          <a:p>
            <a:pPr algn="l"/>
            <a:r>
              <a:rPr sz="3200" b="1" i="0">
                <a:solidFill>
                  <a:srgbClr val="FFFFFF"/>
                </a:solidFill>
              </a:rPr>
              <a:t>Positioning Recommendations for ArtEx</a:t>
            </a:r>
          </a:p>
        </p:txBody>
      </p:sp>
      <p:sp>
        <p:nvSpPr>
          <p:cNvPr id="5" name="Rectangle 4"/>
          <p:cNvSpPr/>
          <p:nvPr/>
        </p:nvSpPr>
        <p:spPr>
          <a:xfrm>
            <a:off x="457200" y="1828800"/>
            <a:ext cx="640080" cy="1005840"/>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084832"/>
            <a:ext cx="640080" cy="457200"/>
          </a:xfrm>
          <a:prstGeom prst="rect">
            <a:avLst/>
          </a:prstGeom>
          <a:noFill/>
        </p:spPr>
        <p:txBody>
          <a:bodyPr wrap="square">
            <a:spAutoFit/>
          </a:bodyPr>
          <a:lstStyle/>
          <a:p>
            <a:pPr algn="ctr"/>
            <a:r>
              <a:rPr sz="1800" b="1" i="0">
                <a:solidFill>
                  <a:srgbClr val="FFFFFF"/>
                </a:solidFill>
              </a:rPr>
              <a:t>01</a:t>
            </a:r>
          </a:p>
        </p:txBody>
      </p:sp>
      <p:sp>
        <p:nvSpPr>
          <p:cNvPr id="7" name="Rectangle 6"/>
          <p:cNvSpPr/>
          <p:nvPr/>
        </p:nvSpPr>
        <p:spPr>
          <a:xfrm>
            <a:off x="1143000" y="1828800"/>
            <a:ext cx="10515600" cy="100584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874519"/>
            <a:ext cx="10241280" cy="347472"/>
          </a:xfrm>
          <a:prstGeom prst="rect">
            <a:avLst/>
          </a:prstGeom>
          <a:noFill/>
        </p:spPr>
        <p:txBody>
          <a:bodyPr wrap="square">
            <a:spAutoFit/>
          </a:bodyPr>
          <a:lstStyle/>
          <a:p>
            <a:pPr algn="l"/>
            <a:r>
              <a:rPr sz="1200" b="1" i="0">
                <a:solidFill>
                  <a:srgbClr val="E8552A"/>
                </a:solidFill>
              </a:rPr>
              <a:t>Position as a TRADING PLATFORM, not an art marketplace</a:t>
            </a:r>
          </a:p>
        </p:txBody>
      </p:sp>
      <p:sp>
        <p:nvSpPr>
          <p:cNvPr id="9" name="TextBox 8"/>
          <p:cNvSpPr txBox="1"/>
          <p:nvPr/>
        </p:nvSpPr>
        <p:spPr>
          <a:xfrm>
            <a:off x="1280160" y="2212848"/>
            <a:ext cx="10241280" cy="594360"/>
          </a:xfrm>
          <a:prstGeom prst="rect">
            <a:avLst/>
          </a:prstGeom>
          <a:noFill/>
        </p:spPr>
        <p:txBody>
          <a:bodyPr wrap="square">
            <a:spAutoFit/>
          </a:bodyPr>
          <a:lstStyle/>
          <a:p>
            <a:pPr algn="l"/>
            <a:r>
              <a:rPr sz="950" b="0" i="0">
                <a:solidFill>
                  <a:srgbClr val="CCCCDD"/>
                </a:solidFill>
              </a:rPr>
              <a:t>The art marketplace space is dominated by Artsy (1.3M works, 4K galleries). We cannot compete on inventory. Instead, position ArtEx as the first regulated fractional digital art trading platform — a financial product with art as the underlying asset.</a:t>
            </a:r>
          </a:p>
        </p:txBody>
      </p:sp>
      <p:sp>
        <p:nvSpPr>
          <p:cNvPr id="10" name="Rectangle 9"/>
          <p:cNvSpPr/>
          <p:nvPr/>
        </p:nvSpPr>
        <p:spPr>
          <a:xfrm>
            <a:off x="457200" y="3017520"/>
            <a:ext cx="640080" cy="10058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273552"/>
            <a:ext cx="640080" cy="457200"/>
          </a:xfrm>
          <a:prstGeom prst="rect">
            <a:avLst/>
          </a:prstGeom>
          <a:noFill/>
        </p:spPr>
        <p:txBody>
          <a:bodyPr wrap="square">
            <a:spAutoFit/>
          </a:bodyPr>
          <a:lstStyle/>
          <a:p>
            <a:pPr algn="ctr"/>
            <a:r>
              <a:rPr sz="1800" b="1" i="0">
                <a:solidFill>
                  <a:srgbClr val="FFFFFF"/>
                </a:solidFill>
              </a:rPr>
              <a:t>02</a:t>
            </a:r>
          </a:p>
        </p:txBody>
      </p:sp>
      <p:sp>
        <p:nvSpPr>
          <p:cNvPr id="12" name="Rectangle 11"/>
          <p:cNvSpPr/>
          <p:nvPr/>
        </p:nvSpPr>
        <p:spPr>
          <a:xfrm>
            <a:off x="1143000" y="3017520"/>
            <a:ext cx="10515600" cy="100584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3063239"/>
            <a:ext cx="10241280" cy="347472"/>
          </a:xfrm>
          <a:prstGeom prst="rect">
            <a:avLst/>
          </a:prstGeom>
          <a:noFill/>
        </p:spPr>
        <p:txBody>
          <a:bodyPr wrap="square">
            <a:spAutoFit/>
          </a:bodyPr>
          <a:lstStyle/>
          <a:p>
            <a:pPr algn="l"/>
            <a:r>
              <a:rPr sz="1200" b="1" i="0">
                <a:solidFill>
                  <a:srgbClr val="3B82F6"/>
                </a:solidFill>
              </a:rPr>
              <a:t>Pursue MiCA CASP licence (AMF France) as first step</a:t>
            </a:r>
          </a:p>
        </p:txBody>
      </p:sp>
      <p:sp>
        <p:nvSpPr>
          <p:cNvPr id="14" name="TextBox 13"/>
          <p:cNvSpPr txBox="1"/>
          <p:nvPr/>
        </p:nvSpPr>
        <p:spPr>
          <a:xfrm>
            <a:off x="1280160" y="3401568"/>
            <a:ext cx="10241280" cy="594360"/>
          </a:xfrm>
          <a:prstGeom prst="rect">
            <a:avLst/>
          </a:prstGeom>
          <a:noFill/>
        </p:spPr>
        <p:txBody>
          <a:bodyPr wrap="square">
            <a:spAutoFit/>
          </a:bodyPr>
          <a:lstStyle/>
          <a:p>
            <a:pPr algn="l"/>
            <a:r>
              <a:rPr sz="950" b="0" i="0">
                <a:solidFill>
                  <a:srgbClr val="CCCCDD"/>
                </a:solidFill>
              </a:rPr>
              <a:t>CASP requires €50K–€150K capital and 5–6 months. This is achievable for a startup and unlocks EU-wide operation. Avoid full ISP (MiFID II) initially — too heavy for an early-stage platform. The CASP route gives legal cover for fractional tokens + trading.</a:t>
            </a:r>
          </a:p>
        </p:txBody>
      </p:sp>
      <p:sp>
        <p:nvSpPr>
          <p:cNvPr id="15" name="Rectangle 14"/>
          <p:cNvSpPr/>
          <p:nvPr/>
        </p:nvSpPr>
        <p:spPr>
          <a:xfrm>
            <a:off x="457200" y="4206240"/>
            <a:ext cx="640080" cy="10058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4462272"/>
            <a:ext cx="640080" cy="457200"/>
          </a:xfrm>
          <a:prstGeom prst="rect">
            <a:avLst/>
          </a:prstGeom>
          <a:noFill/>
        </p:spPr>
        <p:txBody>
          <a:bodyPr wrap="square">
            <a:spAutoFit/>
          </a:bodyPr>
          <a:lstStyle/>
          <a:p>
            <a:pPr algn="ctr"/>
            <a:r>
              <a:rPr sz="1800" b="1" i="0">
                <a:solidFill>
                  <a:srgbClr val="FFFFFF"/>
                </a:solidFill>
              </a:rPr>
              <a:t>03</a:t>
            </a:r>
          </a:p>
        </p:txBody>
      </p:sp>
      <p:sp>
        <p:nvSpPr>
          <p:cNvPr id="17" name="Rectangle 16"/>
          <p:cNvSpPr/>
          <p:nvPr/>
        </p:nvSpPr>
        <p:spPr>
          <a:xfrm>
            <a:off x="1143000" y="4206240"/>
            <a:ext cx="10515600" cy="100584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4251959"/>
            <a:ext cx="10241280" cy="347472"/>
          </a:xfrm>
          <a:prstGeom prst="rect">
            <a:avLst/>
          </a:prstGeom>
          <a:noFill/>
        </p:spPr>
        <p:txBody>
          <a:bodyPr wrap="square">
            <a:spAutoFit/>
          </a:bodyPr>
          <a:lstStyle/>
          <a:p>
            <a:pPr algn="l"/>
            <a:r>
              <a:rPr sz="1200" b="1" i="0">
                <a:solidFill>
                  <a:srgbClr val="22C55E"/>
                </a:solidFill>
              </a:rPr>
              <a:t>Exploit the NFT market's decline — differentiate on curation</a:t>
            </a:r>
          </a:p>
        </p:txBody>
      </p:sp>
      <p:sp>
        <p:nvSpPr>
          <p:cNvPr id="19" name="TextBox 18"/>
          <p:cNvSpPr txBox="1"/>
          <p:nvPr/>
        </p:nvSpPr>
        <p:spPr>
          <a:xfrm>
            <a:off x="1280160" y="4590288"/>
            <a:ext cx="10241280" cy="594360"/>
          </a:xfrm>
          <a:prstGeom prst="rect">
            <a:avLst/>
          </a:prstGeom>
          <a:noFill/>
        </p:spPr>
        <p:txBody>
          <a:bodyPr wrap="square">
            <a:spAutoFit/>
          </a:bodyPr>
          <a:lstStyle/>
          <a:p>
            <a:pPr algn="l"/>
            <a:r>
              <a:rPr sz="950" b="0" i="0">
                <a:solidFill>
                  <a:srgbClr val="CCCCDD"/>
                </a:solidFill>
              </a:rPr>
              <a:t>OpenSea lost 90% of its valuation as the NFT boom collapsed. The market needs a curated, quality-controlled alternative. ArtEx offers hand-picked digital artworks with provenance — not anonymous NFT drops. This appeals to traditional collectors migrating online.</a:t>
            </a:r>
          </a:p>
        </p:txBody>
      </p:sp>
      <p:sp>
        <p:nvSpPr>
          <p:cNvPr id="20" name="Rectangle 19"/>
          <p:cNvSpPr/>
          <p:nvPr/>
        </p:nvSpPr>
        <p:spPr>
          <a:xfrm>
            <a:off x="457200" y="5394960"/>
            <a:ext cx="640080" cy="1005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5650992"/>
            <a:ext cx="640080" cy="457200"/>
          </a:xfrm>
          <a:prstGeom prst="rect">
            <a:avLst/>
          </a:prstGeom>
          <a:noFill/>
        </p:spPr>
        <p:txBody>
          <a:bodyPr wrap="square">
            <a:spAutoFit/>
          </a:bodyPr>
          <a:lstStyle/>
          <a:p>
            <a:pPr algn="ctr"/>
            <a:r>
              <a:rPr sz="1800" b="1" i="0">
                <a:solidFill>
                  <a:srgbClr val="FFFFFF"/>
                </a:solidFill>
              </a:rPr>
              <a:t>04</a:t>
            </a:r>
          </a:p>
        </p:txBody>
      </p:sp>
      <p:sp>
        <p:nvSpPr>
          <p:cNvPr id="22" name="Rectangle 21"/>
          <p:cNvSpPr/>
          <p:nvPr/>
        </p:nvSpPr>
        <p:spPr>
          <a:xfrm>
            <a:off x="1143000" y="5394960"/>
            <a:ext cx="10515600" cy="100584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5440680"/>
            <a:ext cx="10241280" cy="347472"/>
          </a:xfrm>
          <a:prstGeom prst="rect">
            <a:avLst/>
          </a:prstGeom>
          <a:noFill/>
        </p:spPr>
        <p:txBody>
          <a:bodyPr wrap="square">
            <a:spAutoFit/>
          </a:bodyPr>
          <a:lstStyle/>
          <a:p>
            <a:pPr algn="l"/>
            <a:r>
              <a:rPr sz="1200" b="1" i="0">
                <a:solidFill>
                  <a:srgbClr val="F59E0B"/>
                </a:solidFill>
              </a:rPr>
              <a:t>Leverage is our key differentiator — no competitor offers it</a:t>
            </a:r>
          </a:p>
        </p:txBody>
      </p:sp>
      <p:sp>
        <p:nvSpPr>
          <p:cNvPr id="24" name="TextBox 23"/>
          <p:cNvSpPr txBox="1"/>
          <p:nvPr/>
        </p:nvSpPr>
        <p:spPr>
          <a:xfrm>
            <a:off x="1280160" y="5779008"/>
            <a:ext cx="10241280" cy="594360"/>
          </a:xfrm>
          <a:prstGeom prst="rect">
            <a:avLst/>
          </a:prstGeom>
          <a:noFill/>
        </p:spPr>
        <p:txBody>
          <a:bodyPr wrap="square">
            <a:spAutoFit/>
          </a:bodyPr>
          <a:lstStyle/>
          <a:p>
            <a:pPr algn="l"/>
            <a:r>
              <a:rPr sz="950" b="0" i="0">
                <a:solidFill>
                  <a:srgbClr val="CCCCDD"/>
                </a:solidFill>
              </a:rPr>
              <a:t>No existing art platform offers leveraged positions. This uniquely serves traders and speculators who want financial exposure to art price movements without committing large capital. The perpetuals model (already built in ArtEx) is a genuine first-mover advantage.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803136"/>
            <a:ext cx="12188952" cy="54864"/>
          </a:xfrm>
          <a:prstGeom prst="rect">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645920"/>
            <a:ext cx="9144000" cy="1097280"/>
          </a:xfrm>
          <a:prstGeom prst="rect">
            <a:avLst/>
          </a:prstGeom>
          <a:noFill/>
        </p:spPr>
        <p:txBody>
          <a:bodyPr wrap="square">
            <a:spAutoFit/>
          </a:bodyPr>
          <a:lstStyle/>
          <a:p>
            <a:pPr algn="l"/>
            <a:r>
              <a:rPr sz="7200" b="1" i="1">
                <a:solidFill>
                  <a:srgbClr val="FFFFFF"/>
                </a:solidFill>
              </a:rPr>
              <a:t>ArtEx</a:t>
            </a:r>
          </a:p>
        </p:txBody>
      </p:sp>
      <p:sp>
        <p:nvSpPr>
          <p:cNvPr id="5" name="TextBox 4"/>
          <p:cNvSpPr txBox="1"/>
          <p:nvPr/>
        </p:nvSpPr>
        <p:spPr>
          <a:xfrm>
            <a:off x="548640" y="2743200"/>
            <a:ext cx="9144000" cy="640080"/>
          </a:xfrm>
          <a:prstGeom prst="rect">
            <a:avLst/>
          </a:prstGeom>
          <a:noFill/>
        </p:spPr>
        <p:txBody>
          <a:bodyPr wrap="square">
            <a:spAutoFit/>
          </a:bodyPr>
          <a:lstStyle/>
          <a:p>
            <a:pPr algn="l"/>
            <a:r>
              <a:rPr sz="2800" b="0" i="1">
                <a:solidFill>
                  <a:srgbClr val="CCCCDD"/>
                </a:solidFill>
              </a:rPr>
              <a:t>The Art of Trading Art.</a:t>
            </a:r>
          </a:p>
        </p:txBody>
      </p:sp>
      <p:cxnSp>
        <p:nvCxnSpPr>
          <p:cNvPr id="6" name="Connector 5"/>
          <p:cNvCxnSpPr/>
          <p:nvPr/>
        </p:nvCxnSpPr>
        <p:spPr>
          <a:xfrm>
            <a:off x="548640" y="3429000"/>
            <a:ext cx="4572000" cy="0"/>
          </a:xfrm>
          <a:prstGeom prst="line">
            <a:avLst/>
          </a:prstGeom>
          <a:ln w="25400">
            <a:solidFill>
              <a:srgbClr val="E855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3657600"/>
            <a:ext cx="8229600" cy="457200"/>
          </a:xfrm>
          <a:prstGeom prst="rect">
            <a:avLst/>
          </a:prstGeom>
          <a:noFill/>
        </p:spPr>
        <p:txBody>
          <a:bodyPr wrap="square">
            <a:spAutoFit/>
          </a:bodyPr>
          <a:lstStyle/>
          <a:p>
            <a:pPr algn="l"/>
            <a:r>
              <a:rPr sz="1600" b="0" i="0">
                <a:solidFill>
                  <a:srgbClr val="888899"/>
                </a:solidFill>
              </a:rPr>
              <a:t>Thank you for your attention.</a:t>
            </a:r>
          </a:p>
        </p:txBody>
      </p:sp>
      <p:sp>
        <p:nvSpPr>
          <p:cNvPr id="8" name="Rectangle 7"/>
          <p:cNvSpPr/>
          <p:nvPr/>
        </p:nvSpPr>
        <p:spPr>
          <a:xfrm>
            <a:off x="548640" y="4572000"/>
            <a:ext cx="5029200" cy="1645920"/>
          </a:xfrm>
          <a:prstGeom prst="rect">
            <a:avLst/>
          </a:prstGeom>
          <a:solidFill>
            <a:srgbClr val="11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4663440"/>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4617720"/>
            <a:ext cx="4572000" cy="347472"/>
          </a:xfrm>
          <a:prstGeom prst="rect">
            <a:avLst/>
          </a:prstGeom>
          <a:noFill/>
        </p:spPr>
        <p:txBody>
          <a:bodyPr wrap="square">
            <a:spAutoFit/>
          </a:bodyPr>
          <a:lstStyle/>
          <a:p>
            <a:pPr algn="l"/>
            <a:r>
              <a:rPr sz="900" b="0" i="1">
                <a:solidFill>
                  <a:srgbClr val="888899"/>
                </a:solidFill>
              </a:rPr>
              <a:t>Q: Why not start as an art marketplace first?</a:t>
            </a:r>
          </a:p>
        </p:txBody>
      </p:sp>
      <p:sp>
        <p:nvSpPr>
          <p:cNvPr id="11" name="Oval 10"/>
          <p:cNvSpPr/>
          <p:nvPr/>
        </p:nvSpPr>
        <p:spPr>
          <a:xfrm>
            <a:off x="685800" y="5047488"/>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5001768"/>
            <a:ext cx="4572000" cy="347472"/>
          </a:xfrm>
          <a:prstGeom prst="rect">
            <a:avLst/>
          </a:prstGeom>
          <a:noFill/>
        </p:spPr>
        <p:txBody>
          <a:bodyPr wrap="square">
            <a:spAutoFit/>
          </a:bodyPr>
          <a:lstStyle/>
          <a:p>
            <a:pPr algn="l"/>
            <a:r>
              <a:rPr sz="900" b="0" i="1">
                <a:solidFill>
                  <a:srgbClr val="888899"/>
                </a:solidFill>
              </a:rPr>
              <a:t>Q: How do you handle art valuation for pricing?</a:t>
            </a:r>
          </a:p>
        </p:txBody>
      </p:sp>
      <p:sp>
        <p:nvSpPr>
          <p:cNvPr id="13" name="Oval 12"/>
          <p:cNvSpPr/>
          <p:nvPr/>
        </p:nvSpPr>
        <p:spPr>
          <a:xfrm>
            <a:off x="685800" y="5431536"/>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5385816"/>
            <a:ext cx="4572000" cy="347472"/>
          </a:xfrm>
          <a:prstGeom prst="rect">
            <a:avLst/>
          </a:prstGeom>
          <a:noFill/>
        </p:spPr>
        <p:txBody>
          <a:bodyPr wrap="square">
            <a:spAutoFit/>
          </a:bodyPr>
          <a:lstStyle/>
          <a:p>
            <a:pPr algn="l"/>
            <a:r>
              <a:rPr sz="900" b="0" i="1">
                <a:solidFill>
                  <a:srgbClr val="888899"/>
                </a:solidFill>
              </a:rPr>
              <a:t>Q: What blockchain do fractional tokens use?</a:t>
            </a:r>
          </a:p>
        </p:txBody>
      </p:sp>
      <p:sp>
        <p:nvSpPr>
          <p:cNvPr id="15" name="Oval 14"/>
          <p:cNvSpPr/>
          <p:nvPr/>
        </p:nvSpPr>
        <p:spPr>
          <a:xfrm>
            <a:off x="685800" y="5815583"/>
            <a:ext cx="73152" cy="73152"/>
          </a:xfrm>
          <a:prstGeom prst="ellipse">
            <a:avLst/>
          </a:prstGeom>
          <a:solidFill>
            <a:srgbClr val="E85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5769864"/>
            <a:ext cx="4572000" cy="347472"/>
          </a:xfrm>
          <a:prstGeom prst="rect">
            <a:avLst/>
          </a:prstGeom>
          <a:noFill/>
        </p:spPr>
        <p:txBody>
          <a:bodyPr wrap="square">
            <a:spAutoFit/>
          </a:bodyPr>
          <a:lstStyle/>
          <a:p>
            <a:pPr algn="l"/>
            <a:r>
              <a:rPr sz="900" b="0" i="1">
                <a:solidFill>
                  <a:srgbClr val="888899"/>
                </a:solidFill>
              </a:rPr>
              <a:t>Q: How is ArtEx different from Masterworks?</a:t>
            </a:r>
          </a:p>
        </p:txBody>
      </p:sp>
      <p:sp>
        <p:nvSpPr>
          <p:cNvPr id="17" name="TextBox 16"/>
          <p:cNvSpPr txBox="1"/>
          <p:nvPr/>
        </p:nvSpPr>
        <p:spPr>
          <a:xfrm>
            <a:off x="548640" y="6217920"/>
            <a:ext cx="10972800" cy="320040"/>
          </a:xfrm>
          <a:prstGeom prst="rect">
            <a:avLst/>
          </a:prstGeom>
          <a:noFill/>
        </p:spPr>
        <p:txBody>
          <a:bodyPr wrap="square">
            <a:spAutoFit/>
          </a:bodyPr>
          <a:lstStyle/>
          <a:p>
            <a:pPr algn="l"/>
            <a:r>
              <a:rPr sz="900" b="0" i="0">
                <a:solidFill>
                  <a:srgbClr val="444455"/>
                </a:solidFill>
              </a:rPr>
              <a:t>EFREI Paris — Innovation Project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78</TotalTime>
  <Words>1646</Words>
  <Application>Microsoft Office PowerPoint</Application>
  <PresentationFormat>自定义</PresentationFormat>
  <Paragraphs>257</Paragraphs>
  <Slides>12</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黄禹豪</dc:creator>
  <cp:keywords/>
  <dc:description>generated using python-pptx</dc:description>
  <cp:lastModifiedBy>禹豪 黄</cp:lastModifiedBy>
  <cp:revision>2</cp:revision>
  <dcterms:created xsi:type="dcterms:W3CDTF">2013-01-27T09:14:16Z</dcterms:created>
  <dcterms:modified xsi:type="dcterms:W3CDTF">2026-06-29T08:46:03Z</dcterms:modified>
  <cp:category/>
</cp:coreProperties>
</file>