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43" d="100"/>
          <a:sy n="143" d="100"/>
        </p:scale>
        <p:origin x="952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5943600"/>
            <a:ext cx="1191463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</a:rPr>
              <a:t>EFREI PARIS  ·  2025–2026  ·  INNOVATION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5F5F5"/>
                </a:solidFill>
              </a:rPr>
              <a:t>DIGITAL ART PAINTINGS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</a:rPr>
              <a:t>Design Strategy · Competitor Analysis · Brand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788920"/>
            <a:ext cx="5486400" cy="4572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E8552A"/>
                </a:solidFill>
              </a:rPr>
              <a:t>Open-Source  ·  Free to Use  ·  Powered by Open-Source LLMs</a:t>
            </a:r>
          </a:p>
          <a:p>
            <a:pPr algn="l">
              <a:spcBef>
                <a:spcPts val="800"/>
              </a:spcBef>
            </a:pPr>
            <a:r>
              <a:rPr sz="1200" b="0" i="0">
                <a:solidFill>
                  <a:srgbClr val="888899"/>
                </a:solidFill>
              </a:rPr>
              <a:t>Vue 3 + Tailwind CSS  ·  FastAPI  ·  Dify  ·  Llama / Mistral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53328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99"/>
                </a:solidFill>
              </a:rPr>
              <a:t>Yuhao Huang  ·  Yinghui Ren  ·  Nelson Kamteu  ·  Lena Makri  ·  Berena Malio  ·  Junior Mevi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191463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5F5F5"/>
                </a:solidFill>
              </a:rPr>
              <a:t>COMPETITOR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Five leading digital art / print-on-demand marketplaces benchmarked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91440"/>
            <a:ext cx="1097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E8552A"/>
                </a:solidFill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2103120" cy="5440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097280"/>
            <a:ext cx="2103120" cy="64008"/>
          </a:xfrm>
          <a:prstGeom prst="rect">
            <a:avLst/>
          </a:prstGeom>
          <a:solidFill>
            <a:srgbClr val="F16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1208" y="120700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641E"/>
                </a:solidFill>
              </a:rPr>
              <a:t>ETSY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166420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Art Prints section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" y="2084831"/>
            <a:ext cx="1883664" cy="36576"/>
          </a:xfrm>
          <a:prstGeom prst="rect">
            <a:avLst/>
          </a:prstGeom>
          <a:solidFill>
            <a:srgbClr val="F16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8" y="2194560"/>
            <a:ext cx="188366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 i="0">
                <a:solidFill>
                  <a:srgbClr val="F5A623"/>
                </a:solidFill>
              </a:rPr>
              <a:t>USP: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F5F5F5"/>
                </a:solidFill>
              </a:rPr>
              <a:t>96M buyers · largest reach · commercial retail feel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" y="3931920"/>
            <a:ext cx="188366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 i="0">
                <a:solidFill>
                  <a:srgbClr val="F5A623"/>
                </a:solidFill>
              </a:rPr>
              <a:t>UX pattern: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F5F5F5"/>
                </a:solidFill>
              </a:rPr>
              <a:t>4-col 1:1 crop grid · top-bar filters · orange CTA · no chatbot on browse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1097280"/>
            <a:ext cx="2103120" cy="5440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88920" y="1097280"/>
            <a:ext cx="2103120" cy="640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898648" y="1207008"/>
            <a:ext cx="19202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chemeClr val="accent3"/>
                </a:solidFill>
              </a:rPr>
              <a:t>SAATCHI 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98648" y="166420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Original &amp; prints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98648" y="2084831"/>
            <a:ext cx="1883664" cy="3657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898648" y="2194560"/>
            <a:ext cx="188366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 i="0">
                <a:solidFill>
                  <a:srgbClr val="F5A623"/>
                </a:solidFill>
              </a:rPr>
              <a:t>USP: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F5F5F5"/>
                </a:solidFill>
              </a:rPr>
              <a:t>Premium gallery positioning · Art Advisory 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3931920"/>
            <a:ext cx="188366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 i="0">
                <a:solidFill>
                  <a:srgbClr val="F5A623"/>
                </a:solidFill>
              </a:rPr>
              <a:t>UX pattern: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F5F5F5"/>
                </a:solidFill>
              </a:rPr>
              <a:t>3-col masonry · left sidebar · pure B&amp;W palette · bottom-right chat (Intercom)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66360" y="1097280"/>
            <a:ext cx="2103120" cy="5440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166360" y="1097280"/>
            <a:ext cx="2103120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76088" y="1207008"/>
            <a:ext cx="19202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chemeClr val="accent1"/>
                </a:solidFill>
              </a:rPr>
              <a:t>SOCIETY6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6088" y="166420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Product-first PoD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76088" y="2084831"/>
            <a:ext cx="1883664" cy="365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highlight>
                <a:srgbClr val="FFFF00"/>
              </a:highlight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276088" y="2194560"/>
            <a:ext cx="188366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 i="0" dirty="0">
                <a:solidFill>
                  <a:srgbClr val="F5A623"/>
                </a:solidFill>
              </a:rPr>
              <a:t>USP:</a:t>
            </a:r>
          </a:p>
          <a:p>
            <a:pPr algn="l">
              <a:spcBef>
                <a:spcPts val="300"/>
              </a:spcBef>
            </a:pPr>
            <a:r>
              <a:rPr sz="950" b="0" i="0" dirty="0">
                <a:solidFill>
                  <a:srgbClr val="F5F5F5"/>
                </a:solidFill>
              </a:rPr>
              <a:t>Converts art into 70+ product types · lifestyle brand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6088" y="3931920"/>
            <a:ext cx="188366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 i="0">
                <a:solidFill>
                  <a:srgbClr val="F5A623"/>
                </a:solidFill>
              </a:rPr>
              <a:t>UX pattern: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F5F5F5"/>
                </a:solidFill>
              </a:rPr>
              <a:t>4-col 1:1 crop · left sidebar · black CTA buttons · no browse chatbot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3800" y="1097280"/>
            <a:ext cx="2103120" cy="5440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543800" y="1097280"/>
            <a:ext cx="2103120" cy="64008"/>
          </a:xfrm>
          <a:prstGeom prst="rect">
            <a:avLst/>
          </a:prstGeom>
          <a:solidFill>
            <a:srgbClr val="E4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53527" y="120700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41321"/>
                </a:solidFill>
              </a:rPr>
              <a:t>REDBUBBLE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53527" y="166420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Tag-driven discovery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53527" y="2084831"/>
            <a:ext cx="1883664" cy="36576"/>
          </a:xfrm>
          <a:prstGeom prst="rect">
            <a:avLst/>
          </a:prstGeom>
          <a:solidFill>
            <a:srgbClr val="E4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653527" y="2194560"/>
            <a:ext cx="188366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 i="0">
                <a:solidFill>
                  <a:srgbClr val="F5A623"/>
                </a:solidFill>
              </a:rPr>
              <a:t>USP: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F5F5F5"/>
                </a:solidFill>
              </a:rPr>
              <a:t>Strong community &amp; trending algo · search-first UX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53527" y="3931920"/>
            <a:ext cx="188366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 i="0">
                <a:solidFill>
                  <a:srgbClr val="F5A623"/>
                </a:solidFill>
              </a:rPr>
              <a:t>UX pattern: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F5F5F5"/>
                </a:solidFill>
              </a:rPr>
              <a:t>4–5 col 1:1 · top-bar filters · red brand · bottom-right chat (Zendesk)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21240" y="1097280"/>
            <a:ext cx="2103120" cy="5440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921240" y="1097280"/>
            <a:ext cx="2103120" cy="64008"/>
          </a:xfrm>
          <a:prstGeom prst="rect">
            <a:avLst/>
          </a:prstGeom>
          <a:solidFill>
            <a:srgbClr val="D05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030967" y="120700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05A3E"/>
                </a:solidFill>
              </a:rPr>
              <a:t>ARTFINDER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30967" y="166420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Curated originals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30967" y="2084831"/>
            <a:ext cx="1883664" cy="36576"/>
          </a:xfrm>
          <a:prstGeom prst="rect">
            <a:avLst/>
          </a:prstGeom>
          <a:solidFill>
            <a:srgbClr val="D05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030967" y="2194560"/>
            <a:ext cx="188366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 i="0">
                <a:solidFill>
                  <a:srgbClr val="F5A623"/>
                </a:solidFill>
              </a:rPr>
              <a:t>USP: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F5F5F5"/>
                </a:solidFill>
              </a:rPr>
              <a:t>Artist-first narrative · editorial collections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30967" y="3931920"/>
            <a:ext cx="188366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 i="0">
                <a:solidFill>
                  <a:srgbClr val="F5A623"/>
                </a:solidFill>
              </a:rPr>
              <a:t>UX pattern: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F5F5F5"/>
                </a:solidFill>
              </a:rPr>
              <a:t>3–4 col masonry · left sidebar · warm coral accent · bottom-right chat (Intercom)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191463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5F5F5"/>
                </a:solidFill>
              </a:rPr>
              <a:t>GRID &amp; FILTER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The single most consequential UX decision: how artwork is displayed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91440"/>
            <a:ext cx="1097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F5A623"/>
                </a:solidFill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114300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188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Image Aspect Ratio — The Critical Decision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600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Grid 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1600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Aspect 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16002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Columns (desktop)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6002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Artistic integrity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600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Visual consistency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65960"/>
            <a:ext cx="11430000" cy="310896"/>
          </a:xfrm>
          <a:prstGeom prst="rect">
            <a:avLst/>
          </a:prstGeom>
          <a:solidFill>
            <a:srgbClr val="2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0025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F5F5"/>
                </a:solidFill>
              </a:rPr>
              <a:t>Etsy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0025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Standard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0025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Forced 1:1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002536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00253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5050"/>
                </a:solidFill>
              </a:rPr>
              <a:t>✗  crops portraits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00253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CB371"/>
                </a:solidFill>
              </a:rPr>
              <a:t>✓ uniform rows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295144"/>
            <a:ext cx="11430000" cy="31089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23317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F5F5"/>
                </a:solidFill>
              </a:rPr>
              <a:t>Society6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23317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Standard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60" y="23317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Forced 1:1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233172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233172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5050"/>
                </a:solidFill>
              </a:rPr>
              <a:t>✗  crops portraits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233172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CB371"/>
                </a:solidFill>
              </a:rPr>
              <a:t>✓ uniform rows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624328"/>
            <a:ext cx="11430000" cy="310896"/>
          </a:xfrm>
          <a:prstGeom prst="rect">
            <a:avLst/>
          </a:prstGeom>
          <a:solidFill>
            <a:srgbClr val="2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26609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F5F5"/>
                </a:solidFill>
              </a:rPr>
              <a:t>Redbubble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26609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60" y="26609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Forced 1:1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2660904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4–5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2660904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05050"/>
                </a:solidFill>
              </a:rPr>
              <a:t>✗  crops portraits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266090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CB371"/>
                </a:solidFill>
              </a:rPr>
              <a:t>✓ uniform rows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953512"/>
            <a:ext cx="11430000" cy="31089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02920" y="299008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F5F5"/>
                </a:solidFill>
              </a:rPr>
              <a:t>Saatchi Art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29900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Masonry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29900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Natural ratio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0" y="299008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299008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CB371"/>
                </a:solidFill>
              </a:rPr>
              <a:t>✓ full composition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0" y="29900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~ variable rows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282696"/>
            <a:ext cx="11430000" cy="310896"/>
          </a:xfrm>
          <a:prstGeom prst="rect">
            <a:avLst/>
          </a:prstGeom>
          <a:solidFill>
            <a:srgbClr val="2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02920" y="3319272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F5F5"/>
                </a:solidFill>
              </a:rPr>
              <a:t>Artfinder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0" y="33192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Masonry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94760" y="33192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Natural ratio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33192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3–4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0" y="331927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CB371"/>
                </a:solidFill>
              </a:rPr>
              <a:t>✓ full composition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6880" y="33192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~ variable rows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3611879"/>
            <a:ext cx="11430000" cy="310896"/>
          </a:xfrm>
          <a:prstGeom prst="rect">
            <a:avLst/>
          </a:prstGeom>
          <a:solidFill>
            <a:srgbClr val="2D18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920" y="364845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552A"/>
                </a:solidFill>
              </a:rPr>
              <a:t>★  Ours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86000" y="364845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552A"/>
                </a:solidFill>
              </a:rPr>
              <a:t>Masonry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94760" y="364845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552A"/>
                </a:solidFill>
              </a:rPr>
              <a:t>Natural ratio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3520" y="3648456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552A"/>
                </a:solidFill>
              </a:rPr>
              <a:t>2→3→4 responsive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40880" y="364845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CB371"/>
                </a:solidFill>
              </a:rPr>
              <a:t>✓ full composition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26880" y="36484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CB371"/>
                </a:solidFill>
              </a:rPr>
              <a:t>✓ intentional rhythm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3520440"/>
            <a:ext cx="5394960" cy="3017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365760" y="3520440"/>
            <a:ext cx="5394960" cy="54864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48640" y="3611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F5F5"/>
                </a:solidFill>
              </a:rPr>
              <a:t>FILTER PLACEMENT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4069080"/>
            <a:ext cx="50749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F5A623"/>
                </a:solidFill>
              </a:rPr>
              <a:t>Left Sidebar (Saatchi, Artfinder, Society6)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5F5F5"/>
                </a:solidFill>
              </a:rPr>
              <a:t>+ More filter space  +  Works for 6+ filter dimensions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F5F5F5"/>
                </a:solidFill>
              </a:rPr>
              <a:t>+ Better for desktop-first premium experience</a:t>
            </a:r>
          </a:p>
          <a:p>
            <a:pPr algn="l">
              <a:spcBef>
                <a:spcPts val="0"/>
              </a:spcBef>
            </a:pPr>
            <a:endParaRPr sz="1100" b="0" i="0">
              <a:solidFill>
                <a:srgbClr val="F5F5F5"/>
              </a:solidFill>
            </a:endParaRPr>
          </a:p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888899"/>
                </a:solidFill>
              </a:rPr>
              <a:t>Top Bar (Etsy, Redbubble)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888899"/>
                </a:solidFill>
              </a:rPr>
              <a:t>+ More mobile-friendly  –  Limited filter space</a:t>
            </a:r>
          </a:p>
          <a:p>
            <a:pPr algn="l">
              <a:spcBef>
                <a:spcPts val="0"/>
              </a:spcBef>
            </a:pPr>
            <a:endParaRPr sz="1100" b="0" i="0">
              <a:solidFill>
                <a:srgbClr val="888899"/>
              </a:solidFill>
            </a:endParaRPr>
          </a:p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E8552A"/>
                </a:solidFill>
              </a:rPr>
              <a:t>★  Our choice: Sidebar on desktop (lg:),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E8552A"/>
                </a:solidFill>
              </a:rPr>
              <a:t>    slide-over drawer on mobile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3520440"/>
            <a:ext cx="5669280" cy="3017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6035040" y="3520440"/>
            <a:ext cx="56692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217920" y="3611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F5F5"/>
                </a:solidFill>
              </a:rPr>
              <a:t>CHATBOT / AI WIDGET PLACEMENT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17920" y="4069080"/>
            <a:ext cx="53949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F5A623"/>
                </a:solidFill>
              </a:rPr>
              <a:t>Industry standard: bottom-right floating bubble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5F5F5"/>
                </a:solidFill>
              </a:rPr>
              <a:t>Circle icon, ~52px, appears on support/account pages</a:t>
            </a:r>
          </a:p>
          <a:p>
            <a:pPr algn="l">
              <a:spcBef>
                <a:spcPts val="0"/>
              </a:spcBef>
            </a:pPr>
            <a:endParaRPr sz="1100" b="0" i="0">
              <a:solidFill>
                <a:srgbClr val="F5F5F5"/>
              </a:solidFill>
            </a:endParaRPr>
          </a:p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888899"/>
                </a:solidFill>
              </a:rPr>
              <a:t>Redbubble — visible on all pages (intrusive)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888899"/>
                </a:solidFill>
              </a:rPr>
              <a:t>Saatchi / Artfinder — support pages only (better)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888899"/>
                </a:solidFill>
              </a:rPr>
              <a:t>Etsy — no persistent widget (least intrusive)</a:t>
            </a:r>
          </a:p>
          <a:p>
            <a:pPr algn="l">
              <a:spcBef>
                <a:spcPts val="0"/>
              </a:spcBef>
            </a:pPr>
            <a:endParaRPr sz="1100" b="0" i="0">
              <a:solidFill>
                <a:srgbClr val="888899"/>
              </a:solidFill>
            </a:endParaRPr>
          </a:p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E8552A"/>
                </a:solidFill>
              </a:rPr>
              <a:t>★  Our choice: Dify widget fixed bottom-right,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E8552A"/>
                </a:solidFill>
              </a:rPr>
              <a:t>    shown on ALL pages (AI is a core differentiator)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191463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5F5F5"/>
                </a:solidFill>
              </a:rPr>
              <a:t>CARD ANATOMY &amp; COLOUR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What the best-performing platforms show — and what they deliberately omit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91440"/>
            <a:ext cx="1097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E8552A"/>
                </a:solidFill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6766560" cy="5394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6766560" cy="64008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F5F5"/>
                </a:solidFill>
              </a:rPr>
              <a:t>ARTWORK CARD — BEST-OF-BREED ANATOMY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411480" cy="566928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81051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7393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CB371"/>
                </a:solidFill>
              </a:rPr>
              <a:t>Artwork image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029967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CCCC"/>
                </a:solidFill>
              </a:rPr>
              <a:t>Full natural aspect ratio — NO crop. Let portraits be tall, landscapes be wide.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487168"/>
            <a:ext cx="411480" cy="56692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25603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25237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88899"/>
                </a:solidFill>
              </a:rPr>
              <a:t>Artist name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779775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CCCC"/>
                </a:solidFill>
              </a:rPr>
              <a:t>Small (12–13px), grey secondary text. Positions the work, not the price.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36976"/>
            <a:ext cx="411480" cy="56692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33101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32735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F5F5"/>
                </a:solidFill>
              </a:rPr>
              <a:t>Artwork title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529584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CCCC"/>
                </a:solidFill>
              </a:rPr>
              <a:t>Italic, medium weight (14–15px). Art-world convention signals quality.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986783"/>
            <a:ext cx="411480" cy="56692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4059935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02335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88899"/>
                </a:solidFill>
              </a:rPr>
              <a:t>Medium / dimensions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4279392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CCCC"/>
                </a:solidFill>
              </a:rPr>
              <a:t>12px, muted grey. Useful for buyers; doesn't crowd the card.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736592"/>
            <a:ext cx="411480" cy="56692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" y="480974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477316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F5F5"/>
                </a:solidFill>
              </a:rPr>
              <a:t>Price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502920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CCCC"/>
                </a:solidFill>
              </a:rPr>
              <a:t>Bold (16px), prominent. Last in hierarchy — leads with art, not commerce.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486400"/>
            <a:ext cx="411480" cy="5669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55595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55229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</a:rPr>
              <a:t>Wishlist heart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577900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CCCC"/>
                </a:solidFill>
              </a:rPr>
              <a:t>Appears on hover at top-right. Low-friction intent signal for AI model.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06640" y="1097280"/>
            <a:ext cx="4526280" cy="2468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406640" y="1097280"/>
            <a:ext cx="4526280" cy="64008"/>
          </a:xfrm>
          <a:prstGeom prst="rect">
            <a:avLst/>
          </a:prstGeom>
          <a:solidFill>
            <a:srgbClr val="6B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589520" y="1207008"/>
            <a:ext cx="4160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888"/>
                </a:solidFill>
              </a:rPr>
              <a:t>DELIBERATELY OMITTED  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1664208"/>
            <a:ext cx="4160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F5F5F5"/>
                </a:solidFill>
              </a:rPr>
              <a:t>Star ratings on browse grid</a:t>
            </a:r>
          </a:p>
          <a:p>
            <a:pPr algn="l">
              <a:spcBef>
                <a:spcPts val="200"/>
              </a:spcBef>
            </a:pPr>
            <a:r>
              <a:rPr sz="1050" b="0" i="0">
                <a:solidFill>
                  <a:srgbClr val="888899"/>
                </a:solidFill>
              </a:rPr>
              <a:t>→ Commoditises art (Amazon feel)</a:t>
            </a:r>
          </a:p>
          <a:p>
            <a:pPr algn="l">
              <a:spcBef>
                <a:spcPts val="0"/>
              </a:spcBef>
            </a:pPr>
            <a:endParaRPr sz="1050" b="0" i="0">
              <a:solidFill>
                <a:srgbClr val="888899"/>
              </a:solidFill>
            </a:endParaRPr>
          </a:p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F5F5F5"/>
                </a:solidFill>
              </a:rPr>
              <a:t>"Add to Cart" button on hover</a:t>
            </a:r>
          </a:p>
          <a:p>
            <a:pPr algn="l">
              <a:spcBef>
                <a:spcPts val="200"/>
              </a:spcBef>
            </a:pPr>
            <a:r>
              <a:rPr sz="1050" b="0" i="0">
                <a:solidFill>
                  <a:srgbClr val="888899"/>
                </a:solidFill>
              </a:rPr>
              <a:t>→ Etsy A/B tested this: lower PDV click-through</a:t>
            </a:r>
          </a:p>
          <a:p>
            <a:pPr algn="l">
              <a:spcBef>
                <a:spcPts val="0"/>
              </a:spcBef>
            </a:pPr>
            <a:endParaRPr sz="1050" b="0" i="0">
              <a:solidFill>
                <a:srgbClr val="888899"/>
              </a:solidFill>
            </a:endParaRPr>
          </a:p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F5F5F5"/>
                </a:solidFill>
              </a:rPr>
              <a:t>Hard-cropped thumbnails (1:1)</a:t>
            </a:r>
          </a:p>
          <a:p>
            <a:pPr algn="l">
              <a:spcBef>
                <a:spcPts val="200"/>
              </a:spcBef>
            </a:pPr>
            <a:r>
              <a:rPr sz="1050" b="0" i="0">
                <a:solidFill>
                  <a:srgbClr val="888899"/>
                </a:solidFill>
              </a:rPr>
              <a:t>→ Destroys portrait compositions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06640" y="3749039"/>
            <a:ext cx="452628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406640" y="3749039"/>
            <a:ext cx="452628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89520" y="3858768"/>
            <a:ext cx="4160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COMPETITOR COLOUR PALETTE ANALYSIS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98079" y="4315968"/>
            <a:ext cx="292608" cy="256032"/>
          </a:xfrm>
          <a:prstGeom prst="rect">
            <a:avLst/>
          </a:prstGeom>
          <a:solidFill>
            <a:srgbClr val="F16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882127" y="4334255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Etsy  #F1641E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82127" y="4334255"/>
            <a:ext cx="384048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solidFill>
                  <a:schemeClr val="bg1"/>
                </a:solidFill>
              </a:rPr>
              <a:t>Warm orange — approachable retail energy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79" y="4654296"/>
            <a:ext cx="292608" cy="25603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882127" y="4672583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Saatchi Art  #000000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82127" y="4672583"/>
            <a:ext cx="384048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chemeClr val="bg1"/>
                </a:solidFill>
              </a:rPr>
              <a:t>Pure black — gallery gravitas, art is colour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98079" y="4992624"/>
            <a:ext cx="292608" cy="2560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882127" y="501091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Society6  #222222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82127" y="5010912"/>
            <a:ext cx="384048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chemeClr val="bg1"/>
                </a:solidFill>
              </a:rPr>
              <a:t>Near-black — product-focused minimalism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98079" y="5330952"/>
            <a:ext cx="292608" cy="256032"/>
          </a:xfrm>
          <a:prstGeom prst="rect">
            <a:avLst/>
          </a:prstGeom>
          <a:solidFill>
            <a:srgbClr val="E4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882127" y="534924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Redbubble  #E41321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82127" y="5349240"/>
            <a:ext cx="384048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chemeClr val="bg1"/>
                </a:solidFill>
              </a:rPr>
              <a:t>Vivid red — community &amp; energy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79" y="5669279"/>
            <a:ext cx="292608" cy="256032"/>
          </a:xfrm>
          <a:prstGeom prst="rect">
            <a:avLst/>
          </a:prstGeom>
          <a:solidFill>
            <a:srgbClr val="D05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882127" y="5687567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Artfinder  #D05A3E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82127" y="5687567"/>
            <a:ext cx="384048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chemeClr val="bg1"/>
                </a:solidFill>
              </a:rPr>
              <a:t>Terracotta — warm approachable premium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98079" y="6007608"/>
            <a:ext cx="292608" cy="256032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882127" y="60258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★ Ours  #E8552A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82127" y="6025896"/>
            <a:ext cx="384048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chemeClr val="bg1"/>
                </a:solidFill>
              </a:rPr>
              <a:t>Coral — art-adjacent warmth, distinct from all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191463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5F5F5"/>
                </a:solidFill>
              </a:rPr>
              <a:t>DESIGN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Three principles that guide every visual and interaction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91440"/>
            <a:ext cx="1097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F5A623"/>
                </a:solidFill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3703320" cy="5440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3703320" cy="64008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30352" y="1234440"/>
            <a:ext cx="502920" cy="502920"/>
          </a:xfrm>
          <a:prstGeom prst="ellipse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34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74519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CB371"/>
                </a:solidFill>
              </a:rPr>
              <a:t>Art First,
Interface Invisible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74320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5"/>
                </a:solidFill>
              </a:rPr>
              <a:t>The artwork is the hero. The UI steps back: white backgrounds, minimal chrome, no distracting brand colours competing with the art. Every element earns its place.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4709160"/>
            <a:ext cx="3374136" cy="36576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482803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WHY: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5138928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Inspired by Saatchi Art &amp; Artfinder — proven that neutral luxury framing increases perceived artwork value.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9392" y="1097280"/>
            <a:ext cx="3703320" cy="5440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79392" y="1097280"/>
            <a:ext cx="3703320" cy="64008"/>
          </a:xfrm>
          <a:prstGeom prst="rect">
            <a:avLst/>
          </a:prstGeom>
          <a:solidFill>
            <a:srgbClr val="3C7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443984" y="1234440"/>
            <a:ext cx="502920" cy="502920"/>
          </a:xfrm>
          <a:prstGeom prst="ellipse">
            <a:avLst/>
          </a:prstGeom>
          <a:solidFill>
            <a:srgbClr val="3C7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43984" y="1234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984" y="1874519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C7DD9"/>
                </a:solidFill>
              </a:rPr>
              <a:t>Masonry Truth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4" y="274320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5"/>
                </a:solidFill>
              </a:rPr>
              <a:t>Images display at their natural aspect ratio — never cropped, never distorted. A tall portrait painting is tall. A wide landscape is wide. The grid breathes.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3984" y="4709160"/>
            <a:ext cx="3374136" cy="36576"/>
          </a:xfrm>
          <a:prstGeom prst="rect">
            <a:avLst/>
          </a:prstGeom>
          <a:solidFill>
            <a:srgbClr val="3C7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43984" y="482803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WHY: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5138928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Etsy/Society6 force 1:1 crops for grid uniformity. We choose artistic integrity: the CSS columns masonry layout handles rhythm automatically.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93024" y="1097280"/>
            <a:ext cx="3703320" cy="5440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3024" y="1097280"/>
            <a:ext cx="3703320" cy="64008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357616" y="1234440"/>
            <a:ext cx="502920" cy="502920"/>
          </a:xfrm>
          <a:prstGeom prst="ellipse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57616" y="1234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1874519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8552A"/>
                </a:solidFill>
              </a:rPr>
              <a:t>Warmth at
Every Touchpoint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7616" y="274320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5"/>
                </a:solidFill>
              </a:rPr>
              <a:t>The coral accent (#E8552A) appears only on CTAs, active states, and AI-powered moments. Everywhere else, we let art provide the colour.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57616" y="4709160"/>
            <a:ext cx="3374136" cy="36576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57616" y="482803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WHY: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57616" y="5138928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Artfinder uses a similar terracotta tone. Our coral is warmer and more distinctive — adjacent to art-world aesthetics but immediately recognisable.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191463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5F5F5"/>
                </a:solidFill>
              </a:rPr>
              <a:t>COLOUR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A deliberate neutral-plus-one-accent system — the art provides the palette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91440"/>
            <a:ext cx="1097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E8552A"/>
                </a:solidFill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1783080" cy="182880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299923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F5F5"/>
                </a:solidFill>
              </a:rPr>
              <a:t>#E8552A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33756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5A623"/>
                </a:solidFill>
              </a:rPr>
              <a:t>Brand Coral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730752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88899"/>
                </a:solidFill>
              </a:rPr>
              <a:t>Primary CTA · active states · AI moments · price highlights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68296" y="1097280"/>
            <a:ext cx="1783080" cy="18288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368296" y="299923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F5F5"/>
                </a:solidFill>
              </a:rPr>
              <a:t>#0D0D0D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8296" y="333756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5A623"/>
                </a:solidFill>
              </a:rPr>
              <a:t>Deep Black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68296" y="3730752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88899"/>
                </a:solidFill>
              </a:rPr>
              <a:t>Headlines · primary text · logo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5112" y="1097280"/>
            <a:ext cx="1783080" cy="1828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25112" y="1097280"/>
            <a:ext cx="1783080" cy="1828800"/>
          </a:xfrm>
          <a:prstGeom prst="rect">
            <a:avLst/>
          </a:prstGeom>
          <a:noFill/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25112" y="299923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F5F5"/>
                </a:solidFill>
              </a:rPr>
              <a:t>#F5F5F5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333756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5A623"/>
                </a:solidFill>
              </a:rPr>
              <a:t>Off-White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5112" y="3730752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88899"/>
                </a:solidFill>
              </a:rPr>
              <a:t>Page background · card surfaces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1928" y="1097280"/>
            <a:ext cx="1783080" cy="18288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81928" y="299923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F5F5"/>
                </a:solidFill>
              </a:rPr>
              <a:t>#6B7280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8" y="333756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5A623"/>
                </a:solidFill>
              </a:rPr>
              <a:t>Stone Grey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8" y="3730752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88899"/>
                </a:solidFill>
              </a:rPr>
              <a:t>Secondary text · metadata · captions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38744" y="1097280"/>
            <a:ext cx="1783080" cy="1828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38744" y="299923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F5F5"/>
                </a:solidFill>
              </a:rPr>
              <a:t>#1A1A2E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8744" y="333756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5A623"/>
                </a:solidFill>
              </a:rPr>
              <a:t>Navy Night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8744" y="3730752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88899"/>
                </a:solidFill>
              </a:rPr>
              <a:t>Dark sections · hero bg · footer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95560" y="1097280"/>
            <a:ext cx="1783080" cy="1828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95560" y="299923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F5F5"/>
                </a:solidFill>
              </a:rPr>
              <a:t>#F5A623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5560" y="333756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5A623"/>
                </a:solidFill>
              </a:rPr>
              <a:t>Warm Gold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3730752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88899"/>
                </a:solidFill>
              </a:rPr>
              <a:t>Highlights · section labels · AI badge accents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892040"/>
            <a:ext cx="11338560" cy="1691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11480" y="4892040"/>
            <a:ext cx="1133856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498348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TYPOGRAPHY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440680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1A1A2E"/>
                </a:solidFill>
              </a:rPr>
              <a:t>Inter  (Google Fonts, free open-source)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0D0D0D"/>
                </a:solidFill>
              </a:rPr>
              <a:t>Chosen over proprietary alternatives (Graphik, Proxima Nova) — same humanist sans quality, zero licence cost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5440680"/>
            <a:ext cx="5669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1A1A2E"/>
                </a:solidFill>
              </a:rPr>
              <a:t>Scale:  48px Hero  ·  32px H1  ·  24px H2  ·  16px body  ·  13px meta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1A1A2E"/>
                </a:solidFill>
              </a:rPr>
              <a:t>Artwork titles displayed in italic — art-world typographic convention (Saatchi / Artfinder pattern)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1A1A2E"/>
                </a:solidFill>
              </a:rPr>
              <a:t>Weight: 700 headings  ·  600 price/CTA  ·  400 body  ·  300 metadata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745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191463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5F5F5"/>
                </a:solidFill>
              </a:rPr>
              <a:t>OPEN-SOURCE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Free to use · Open source stack · Open-source LLMs — our technical differentiator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91440"/>
            <a:ext cx="1097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745EE4"/>
                </a:solidFill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11430000" cy="822960"/>
          </a:xfrm>
          <a:prstGeom prst="rect">
            <a:avLst/>
          </a:prstGeom>
          <a:solidFill>
            <a:srgbClr val="1A1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11064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45EE4"/>
                </a:solidFill>
              </a:rPr>
              <a:t>"Every component of this platform is built on open, auditable, reproducible technology.  Zero proprietary lock-in."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03120"/>
            <a:ext cx="3703320" cy="4434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2103120"/>
            <a:ext cx="3703320" cy="64008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2103120"/>
            <a:ext cx="3703320" cy="457200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16712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FREE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3347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5F5"/>
                </a:solidFill>
              </a:rPr>
              <a:t>Zero cost for artists &amp; buyers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17520"/>
            <a:ext cx="3429000" cy="36576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127248"/>
            <a:ext cx="3429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No listing fees (vs Etsy: 0.20 USD/item)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No transaction commission in POC phase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Print costs passed through at cost price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Artist dashboard &amp; analytics: free forever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Sustainable via optional premium tiers later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9392" y="2103120"/>
            <a:ext cx="3703320" cy="4434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79392" y="2103120"/>
            <a:ext cx="3703320" cy="64008"/>
          </a:xfrm>
          <a:prstGeom prst="rect">
            <a:avLst/>
          </a:prstGeom>
          <a:solidFill>
            <a:srgbClr val="745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79392" y="2103120"/>
            <a:ext cx="3703320" cy="457200"/>
          </a:xfrm>
          <a:prstGeom prst="rect">
            <a:avLst/>
          </a:prstGeom>
          <a:solidFill>
            <a:srgbClr val="745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16552" y="216712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OPEN-SOURCE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6552" y="263347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5F5"/>
                </a:solidFill>
              </a:rPr>
              <a:t>Full codebase on GitHub — MIT licence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16552" y="3017520"/>
            <a:ext cx="3429000" cy="36576"/>
          </a:xfrm>
          <a:prstGeom prst="rect">
            <a:avLst/>
          </a:prstGeom>
          <a:solidFill>
            <a:srgbClr val="745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16552" y="3127248"/>
            <a:ext cx="3429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Frontend: Vue 3 + Tailwind CSS (MIT)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Backend: FastAPI + SQLAlchemy (MIT)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Workflow engine: Dify (Apache 2.0)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Database: PostgreSQL (PostgreSQL Licence)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Community can fork, audit, contribute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93024" y="2103120"/>
            <a:ext cx="3703320" cy="4434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93024" y="2103120"/>
            <a:ext cx="3703320" cy="64008"/>
          </a:xfrm>
          <a:prstGeom prst="rect">
            <a:avLst/>
          </a:prstGeom>
          <a:solidFill>
            <a:srgbClr val="FF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93024" y="2103120"/>
            <a:ext cx="3703320" cy="457200"/>
          </a:xfrm>
          <a:prstGeom prst="rect">
            <a:avLst/>
          </a:prstGeom>
          <a:solidFill>
            <a:srgbClr val="FF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30184" y="216712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OPEN-SOURCE LLMs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0184" y="263347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F5F5"/>
                </a:solidFill>
              </a:rPr>
              <a:t>No OpenAI/Anthropic API costs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30184" y="3017520"/>
            <a:ext cx="3429000" cy="36576"/>
          </a:xfrm>
          <a:prstGeom prst="rect">
            <a:avLst/>
          </a:prstGeom>
          <a:solidFill>
            <a:srgbClr val="FF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30184" y="3127248"/>
            <a:ext cx="3429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Llama 3.1 / 3.3 (Meta, Llama Community Licence)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Mistral 7B / Mixtral (Apache 2.0)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Self-hosted via Ollama or HuggingFace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Integrated into Dify workflow nodes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F5F5F5"/>
                </a:solidFill>
              </a:rPr>
              <a:t>• Full data privacy — no external API calls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4360" y="6492240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5A623"/>
                </a:solidFill>
              </a:rPr>
              <a:t>💰  OpenAI GPT-4o API cost at scale: ~$15–60 / 1M tokens     vs     ✓  Llama 3.3 self-hosted: $0 variable cost + server infra only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745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191463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5F5F5"/>
                </a:solidFill>
              </a:rPr>
              <a:t>AI STACK: DIFY + OPEN-SOURCE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Two Dify workflows embedded in the platform — zero proprietary model dependency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91440"/>
            <a:ext cx="1097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745EE4"/>
                </a:solidFill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5120640" cy="5394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5120640" cy="64008"/>
          </a:xfrm>
          <a:prstGeom prst="rect">
            <a:avLst/>
          </a:prstGeom>
          <a:solidFill>
            <a:srgbClr val="745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45EE4"/>
                </a:solidFill>
              </a:rPr>
              <a:t>WHAT IS DIFY?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 i="0">
                <a:solidFill>
                  <a:srgbClr val="F5F5F5"/>
                </a:solidFill>
              </a:rPr>
              <a:t>Open-source LLM application framework (Apache 2.0)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F5F5F5"/>
                </a:solidFill>
              </a:rPr>
              <a:t>Visual workflow builder — drag-and-drop AI pipeline design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F5F5F5"/>
                </a:solidFill>
              </a:rPr>
              <a:t>Supports Ollama · HuggingFace · OpenAI · Anthropic · any API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F5F5F5"/>
                </a:solidFill>
              </a:rPr>
              <a:t>Embeds into any website via a single &lt;script&gt; snippet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F5F5F5"/>
                </a:solidFill>
              </a:rPr>
              <a:t>Self-hosted on our own server — full data control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11880"/>
            <a:ext cx="4754880" cy="36576"/>
          </a:xfrm>
          <a:prstGeom prst="rect">
            <a:avLst/>
          </a:prstGeom>
          <a:solidFill>
            <a:srgbClr val="745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</a:rPr>
              <a:t>OUR TWO DIFY WORKFLOWS: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F5F5F5"/>
                </a:solidFill>
              </a:rPr>
              <a:t>1  AI Recommendation Agent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888899"/>
                </a:solidFill>
              </a:rPr>
              <a:t>Analyses user clicks, favourites &amp; dwell time → builds a preference profile → returns ranked artwork IDs via REST</a:t>
            </a:r>
          </a:p>
          <a:p>
            <a:pPr algn="l">
              <a:spcBef>
                <a:spcPts val="0"/>
              </a:spcBef>
            </a:pPr>
            <a:endParaRPr sz="1050" b="0" i="0">
              <a:solidFill>
                <a:srgbClr val="888899"/>
              </a:solidFill>
            </a:endParaRPr>
          </a:p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F5F5F5"/>
                </a:solidFill>
              </a:rPr>
              <a:t>2  AI Customer Service Chatbot</a:t>
            </a:r>
          </a:p>
          <a:p>
            <a:pPr algn="l">
              <a:spcBef>
                <a:spcPts val="400"/>
              </a:spcBef>
            </a:pPr>
            <a:r>
              <a:rPr sz="1050" b="0" i="0">
                <a:solidFill>
                  <a:srgbClr val="888899"/>
                </a:solidFill>
              </a:rPr>
              <a:t>Embedded bottom-right on all pages · answers FAQs · guides order queries · escalates to human when needed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15000" y="1097280"/>
            <a:ext cx="6080760" cy="5394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715000" y="1097280"/>
            <a:ext cx="6080760" cy="64008"/>
          </a:xfrm>
          <a:prstGeom prst="rect">
            <a:avLst/>
          </a:prstGeom>
          <a:solidFill>
            <a:srgbClr val="FF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97880" y="1234440"/>
            <a:ext cx="5715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000"/>
                </a:solidFill>
              </a:rPr>
              <a:t>OPEN-SOURCE LLM COMPARISON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1691640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169164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Licence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1691640"/>
            <a:ext cx="457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Params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1691640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Best for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1691640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A623"/>
                </a:solidFill>
              </a:rPr>
              <a:t>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15000" y="2048256"/>
            <a:ext cx="6080760" cy="621792"/>
          </a:xfrm>
          <a:prstGeom prst="rect">
            <a:avLst/>
          </a:prstGeom>
          <a:solidFill>
            <a:srgbClr val="25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852160" y="2212848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F5F5"/>
                </a:solidFill>
              </a:rPr>
              <a:t>Llama 3.3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2128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Meta Community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221284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70B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2212848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Reasoning · 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221284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CB371"/>
                </a:solidFill>
              </a:rPr>
              <a:t>$0 API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15000" y="2706624"/>
            <a:ext cx="6080760" cy="6217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852160" y="2871216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F5F5"/>
                </a:solidFill>
              </a:rPr>
              <a:t>Llama 3.1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287121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Meta Community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287121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8B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2871216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Fast inference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2871216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CB371"/>
                </a:solidFill>
              </a:rPr>
              <a:t>$0 API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15000" y="3364992"/>
            <a:ext cx="6080760" cy="621792"/>
          </a:xfrm>
          <a:prstGeom prst="rect">
            <a:avLst/>
          </a:prstGeom>
          <a:solidFill>
            <a:srgbClr val="25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852160" y="3529584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F5F5"/>
                </a:solidFill>
              </a:rPr>
              <a:t>Mistral 7B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3529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Apache 2.0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352958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7B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3529584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Multilingual · fast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3529584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CB371"/>
                </a:solidFill>
              </a:rPr>
              <a:t>$0 API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15000" y="4023360"/>
            <a:ext cx="6080760" cy="6217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160" y="4187952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F5F5"/>
                </a:solidFill>
              </a:rPr>
              <a:t>Mixtral 8×7B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4187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Apache 2.0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9640" y="41879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47B MoE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4187952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Complex reasoning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07040" y="4187952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CB371"/>
                </a:solidFill>
              </a:rPr>
              <a:t>$0 API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15000" y="4681728"/>
            <a:ext cx="6080760" cy="621792"/>
          </a:xfrm>
          <a:prstGeom prst="rect">
            <a:avLst/>
          </a:prstGeom>
          <a:solidFill>
            <a:srgbClr val="25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852160" y="484632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F5F5"/>
                </a:solidFill>
              </a:rPr>
              <a:t>Phi-3 Mini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60920" y="4846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MIT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9640" y="4846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3.8B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98280" y="484632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99"/>
                </a:solidFill>
              </a:rPr>
              <a:t>Edge / lightweight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07040" y="484632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CB371"/>
                </a:solidFill>
              </a:rPr>
              <a:t>$0 API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15000" y="5340096"/>
            <a:ext cx="6080760" cy="621792"/>
          </a:xfrm>
          <a:prstGeom prst="rect">
            <a:avLst/>
          </a:prstGeom>
          <a:solidFill>
            <a:srgbClr val="1C1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852160" y="5385816"/>
            <a:ext cx="1417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552A"/>
                </a:solidFill>
              </a:rPr>
              <a:t>★ Our choice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5385816"/>
            <a:ext cx="1097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552A"/>
                </a:solidFill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49640" y="5385816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552A"/>
                </a:solidFill>
              </a:rPr>
              <a:t>7–70B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98280" y="5385816"/>
            <a:ext cx="1417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552A"/>
                </a:solidFill>
              </a:rPr>
              <a:t>Dify node: Llama 3.1 (8B) default, Llama 3.3 (70B) for complex tasks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07040" y="5385816"/>
            <a:ext cx="2331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552A"/>
                </a:solidFill>
              </a:rPr>
              <a:t>Self-hosted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191463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5F5F5"/>
                </a:solidFill>
              </a:rPr>
              <a:t>COMPETITIVE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Where we sit in the landscape — and why that gap is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91440"/>
            <a:ext cx="1097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F5A623"/>
                </a:solidFill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11430000" cy="5394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51560" y="3771900"/>
            <a:ext cx="10058400" cy="4572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57900" y="1691640"/>
            <a:ext cx="45720" cy="420624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69680" y="359359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3CB371"/>
                </a:solidFill>
              </a:rPr>
              <a:t>Open-Source / Free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63093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88899"/>
                </a:solidFill>
              </a:rPr>
              <a:t>Commercial / Retail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11887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88899"/>
                </a:solidFill>
              </a:rPr>
              <a:t>Gallery / Premium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0" y="5029200"/>
            <a:ext cx="365760" cy="365760"/>
          </a:xfrm>
          <a:prstGeom prst="ellipse">
            <a:avLst/>
          </a:prstGeom>
          <a:solidFill>
            <a:srgbClr val="F16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37760" y="544068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1641E"/>
                </a:solidFill>
              </a:rPr>
              <a:t>Etsy</a:t>
            </a:r>
          </a:p>
        </p:txBody>
      </p:sp>
      <p:sp>
        <p:nvSpPr>
          <p:cNvPr id="16" name="Oval 15"/>
          <p:cNvSpPr/>
          <p:nvPr/>
        </p:nvSpPr>
        <p:spPr>
          <a:xfrm>
            <a:off x="4297680" y="4572000"/>
            <a:ext cx="365760" cy="36576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3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931920" y="4983480"/>
            <a:ext cx="10972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chemeClr val="accent3"/>
                </a:solidFill>
              </a:rPr>
              <a:t>Society6</a:t>
            </a:r>
          </a:p>
        </p:txBody>
      </p:sp>
      <p:sp>
        <p:nvSpPr>
          <p:cNvPr id="18" name="Oval 17"/>
          <p:cNvSpPr/>
          <p:nvPr/>
        </p:nvSpPr>
        <p:spPr>
          <a:xfrm>
            <a:off x="4846320" y="4846320"/>
            <a:ext cx="365760" cy="365760"/>
          </a:xfrm>
          <a:prstGeom prst="ellipse">
            <a:avLst/>
          </a:prstGeom>
          <a:solidFill>
            <a:srgbClr val="E4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80560" y="525780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E41321"/>
                </a:solidFill>
              </a:rPr>
              <a:t>Redbubble</a:t>
            </a:r>
          </a:p>
        </p:txBody>
      </p:sp>
      <p:sp>
        <p:nvSpPr>
          <p:cNvPr id="20" name="Oval 19"/>
          <p:cNvSpPr/>
          <p:nvPr/>
        </p:nvSpPr>
        <p:spPr>
          <a:xfrm>
            <a:off x="3749039" y="1828800"/>
            <a:ext cx="365760" cy="36576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3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383279" y="2240280"/>
            <a:ext cx="10972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chemeClr val="accent3"/>
                </a:solidFill>
              </a:rPr>
              <a:t>Saatchi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0" y="2377439"/>
            <a:ext cx="365760" cy="365760"/>
          </a:xfrm>
          <a:prstGeom prst="ellipse">
            <a:avLst/>
          </a:prstGeom>
          <a:solidFill>
            <a:srgbClr val="D05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06240" y="27889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05A3E"/>
                </a:solidFill>
              </a:rPr>
              <a:t>Artfinder</a:t>
            </a:r>
          </a:p>
        </p:txBody>
      </p:sp>
      <p:sp>
        <p:nvSpPr>
          <p:cNvPr id="24" name="Oval 23"/>
          <p:cNvSpPr/>
          <p:nvPr/>
        </p:nvSpPr>
        <p:spPr>
          <a:xfrm>
            <a:off x="9345168" y="1435608"/>
            <a:ext cx="512064" cy="512064"/>
          </a:xfrm>
          <a:prstGeom prst="ellipse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52560" y="1993391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552A"/>
                </a:solidFill>
              </a:rPr>
              <a:t>ArtCanvas</a:t>
            </a:r>
          </a:p>
        </p:txBody>
      </p: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AC8523B1-30C3-5BED-E70C-13CAD191C2C3}"/>
              </a:ext>
            </a:extLst>
          </p:cNvPr>
          <p:cNvGrpSpPr/>
          <p:nvPr/>
        </p:nvGrpSpPr>
        <p:grpSpPr>
          <a:xfrm>
            <a:off x="-157734" y="1211580"/>
            <a:ext cx="3474720" cy="5212080"/>
            <a:chOff x="-11430" y="1170432"/>
            <a:chExt cx="3474720" cy="5212080"/>
          </a:xfrm>
        </p:grpSpPr>
        <p:sp>
          <p:nvSpPr>
            <p:cNvPr id="10" name="TextBox 9"/>
            <p:cNvSpPr txBox="1"/>
            <p:nvPr/>
          </p:nvSpPr>
          <p:spPr>
            <a:xfrm>
              <a:off x="80010" y="3593592"/>
              <a:ext cx="228600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950" b="0" i="0">
                  <a:solidFill>
                    <a:srgbClr val="888899"/>
                  </a:solidFill>
                </a:rPr>
                <a:t>← Closed / Proprietary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11430" y="1170432"/>
              <a:ext cx="3474720" cy="5212080"/>
            </a:xfrm>
            <a:prstGeom prst="rect">
              <a:avLst/>
            </a:prstGeom>
            <a:solidFill>
              <a:srgbClr val="1621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-11430" y="1170432"/>
              <a:ext cx="3474720" cy="64008"/>
            </a:xfrm>
            <a:prstGeom prst="rect">
              <a:avLst/>
            </a:prstGeom>
            <a:solidFill>
              <a:srgbClr val="E855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71450" y="1261872"/>
              <a:ext cx="320040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E8552A"/>
                  </a:solidFill>
                </a:rPr>
                <a:t>OUR UNIQUE POSITION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71450" y="1719072"/>
              <a:ext cx="3200400" cy="44805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Bef>
                  <a:spcPts val="0"/>
                </a:spcBef>
              </a:pPr>
              <a:r>
                <a:rPr sz="1100" b="1" i="0">
                  <a:solidFill>
                    <a:srgbClr val="F5A623"/>
                  </a:solidFill>
                </a:rPr>
                <a:t>No competitor combines:</a:t>
              </a:r>
            </a:p>
            <a:p>
              <a:pPr algn="l">
                <a:spcBef>
                  <a:spcPts val="0"/>
                </a:spcBef>
              </a:pPr>
              <a:endParaRPr sz="1100" b="1" i="0">
                <a:solidFill>
                  <a:srgbClr val="F5A623"/>
                </a:solidFill>
              </a:endParaRPr>
            </a:p>
            <a:p>
              <a:pPr algn="l">
                <a:spcBef>
                  <a:spcPts val="0"/>
                </a:spcBef>
              </a:pPr>
              <a:r>
                <a:rPr sz="1100" b="0" i="0">
                  <a:solidFill>
                    <a:srgbClr val="F5F5F5"/>
                  </a:solidFill>
                </a:rPr>
                <a:t>✓  Gallery-quality UX</a:t>
              </a:r>
            </a:p>
            <a:p>
              <a:pPr algn="l">
                <a:spcBef>
                  <a:spcPts val="200"/>
                </a:spcBef>
              </a:pPr>
              <a:r>
                <a:rPr sz="1000" b="0" i="0">
                  <a:solidFill>
                    <a:srgbClr val="888899"/>
                  </a:solidFill>
                </a:rPr>
                <a:t>   (masonry · natural ratios)</a:t>
              </a:r>
            </a:p>
            <a:p>
              <a:pPr algn="l">
                <a:spcBef>
                  <a:spcPts val="0"/>
                </a:spcBef>
              </a:pPr>
              <a:endParaRPr sz="1000" b="0" i="0">
                <a:solidFill>
                  <a:srgbClr val="888899"/>
                </a:solidFill>
              </a:endParaRPr>
            </a:p>
            <a:p>
              <a:pPr algn="l">
                <a:spcBef>
                  <a:spcPts val="0"/>
                </a:spcBef>
              </a:pPr>
              <a:r>
                <a:rPr sz="1100" b="0" i="0">
                  <a:solidFill>
                    <a:srgbClr val="F5F5F5"/>
                  </a:solidFill>
                </a:rPr>
                <a:t>✓  Zero cost for users</a:t>
              </a:r>
            </a:p>
            <a:p>
              <a:pPr algn="l">
                <a:spcBef>
                  <a:spcPts val="200"/>
                </a:spcBef>
              </a:pPr>
              <a:r>
                <a:rPr sz="1000" b="0" i="0">
                  <a:solidFill>
                    <a:srgbClr val="888899"/>
                  </a:solidFill>
                </a:rPr>
                <a:t>   (no listing / transaction fees)</a:t>
              </a:r>
            </a:p>
            <a:p>
              <a:pPr algn="l">
                <a:spcBef>
                  <a:spcPts val="0"/>
                </a:spcBef>
              </a:pPr>
              <a:endParaRPr sz="1000" b="0" i="0">
                <a:solidFill>
                  <a:srgbClr val="888899"/>
                </a:solidFill>
              </a:endParaRPr>
            </a:p>
            <a:p>
              <a:pPr algn="l">
                <a:spcBef>
                  <a:spcPts val="0"/>
                </a:spcBef>
              </a:pPr>
              <a:r>
                <a:rPr sz="1100" b="0" i="0">
                  <a:solidFill>
                    <a:srgbClr val="F5F5F5"/>
                  </a:solidFill>
                </a:rPr>
                <a:t>✓  Open-source codebase</a:t>
              </a:r>
            </a:p>
            <a:p>
              <a:pPr algn="l">
                <a:spcBef>
                  <a:spcPts val="200"/>
                </a:spcBef>
              </a:pPr>
              <a:r>
                <a:rPr sz="1000" b="0" i="0">
                  <a:solidFill>
                    <a:srgbClr val="888899"/>
                  </a:solidFill>
                </a:rPr>
                <a:t>   (MIT licence · community)</a:t>
              </a:r>
            </a:p>
            <a:p>
              <a:pPr algn="l">
                <a:spcBef>
                  <a:spcPts val="0"/>
                </a:spcBef>
              </a:pPr>
              <a:endParaRPr sz="1000" b="0" i="0">
                <a:solidFill>
                  <a:srgbClr val="888899"/>
                </a:solidFill>
              </a:endParaRPr>
            </a:p>
            <a:p>
              <a:pPr algn="l">
                <a:spcBef>
                  <a:spcPts val="0"/>
                </a:spcBef>
              </a:pPr>
              <a:r>
                <a:rPr sz="1100" b="0" i="0">
                  <a:solidFill>
                    <a:srgbClr val="F5F5F5"/>
                  </a:solidFill>
                </a:rPr>
                <a:t>✓  AI-first recommendation</a:t>
              </a:r>
            </a:p>
            <a:p>
              <a:pPr algn="l">
                <a:spcBef>
                  <a:spcPts val="200"/>
                </a:spcBef>
              </a:pPr>
              <a:r>
                <a:rPr sz="1000" b="0" i="0">
                  <a:solidFill>
                    <a:srgbClr val="888899"/>
                  </a:solidFill>
                </a:rPr>
                <a:t>   (Dify + Llama, self-hosted)</a:t>
              </a:r>
            </a:p>
            <a:p>
              <a:pPr algn="l">
                <a:spcBef>
                  <a:spcPts val="0"/>
                </a:spcBef>
              </a:pPr>
              <a:endParaRPr sz="1000" b="0" i="0">
                <a:solidFill>
                  <a:srgbClr val="888899"/>
                </a:solidFill>
              </a:endParaRPr>
            </a:p>
            <a:p>
              <a:pPr algn="l">
                <a:spcBef>
                  <a:spcPts val="0"/>
                </a:spcBef>
              </a:pPr>
              <a:r>
                <a:rPr sz="1100" b="0" i="0">
                  <a:solidFill>
                    <a:srgbClr val="F5F5F5"/>
                  </a:solidFill>
                </a:rPr>
                <a:t>✓  Print-on-demand (€0 stock)</a:t>
              </a:r>
            </a:p>
            <a:p>
              <a:pPr algn="l">
                <a:spcBef>
                  <a:spcPts val="200"/>
                </a:spcBef>
              </a:pPr>
              <a:r>
                <a:rPr sz="1000" b="0" i="0">
                  <a:solidFill>
                    <a:srgbClr val="888899"/>
                  </a:solidFill>
                </a:rPr>
                <a:t>   (Gelato / Printful API)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11914632" cy="960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5F5F5"/>
                </a:solidFill>
              </a:rPr>
              <a:t>DESIGN SYSTEM — COMPONENT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Every component implemented in Vue 3 + Tailwind CSS · production-ready scaffold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91440"/>
            <a:ext cx="1097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E8552A"/>
                </a:solidFill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3749039" cy="1737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3749039" cy="64008"/>
          </a:xfrm>
          <a:prstGeom prst="rect">
            <a:avLst/>
          </a:prstGeom>
          <a:solidFill>
            <a:srgbClr val="42B8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0352" y="125272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2B883"/>
                </a:solidFill>
              </a:rPr>
              <a:t>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673352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AppHeader.vue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AppFooter.vue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DifyChat.vue (stub)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143000"/>
            <a:ext cx="3749039" cy="1737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143000"/>
            <a:ext cx="3749039" cy="64008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62272" y="125272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CB371"/>
                </a:solidFill>
              </a:rPr>
              <a:t>Artwork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1673352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ArtworkCard.vue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ArtworkFilters.vue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ArtworkGrid (masonry)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063240"/>
            <a:ext cx="3749039" cy="1737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3063240"/>
            <a:ext cx="3749039" cy="64008"/>
          </a:xfrm>
          <a:prstGeom prst="rect">
            <a:avLst/>
          </a:prstGeom>
          <a:solidFill>
            <a:srgbClr val="3C7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" y="317296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C7DD9"/>
                </a:solidFill>
              </a:rPr>
              <a:t>Views / Pages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593592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HomeView.vue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BrowseView.vue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ArtworkDetailView.vue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CartView.vue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3063240"/>
            <a:ext cx="3749039" cy="1737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3063240"/>
            <a:ext cx="3749039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62272" y="317296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State (Pinia)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3593592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cart.js store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artworks.js store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cart persistence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983480"/>
            <a:ext cx="3749039" cy="1737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65760" y="4983480"/>
            <a:ext cx="3749039" cy="64008"/>
          </a:xfrm>
          <a:prstGeom prst="rect">
            <a:avLst/>
          </a:prstGeom>
          <a:solidFill>
            <a:srgbClr val="FF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30352" y="509320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000"/>
                </a:solidFill>
              </a:rPr>
              <a:t>API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5513832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artworks.js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orders.js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axios + /api proxy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4983480"/>
            <a:ext cx="3749039" cy="1737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297680" y="4983480"/>
            <a:ext cx="3749039" cy="64008"/>
          </a:xfrm>
          <a:prstGeom prst="rect">
            <a:avLst/>
          </a:prstGeom>
          <a:solidFill>
            <a:srgbClr val="745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462272" y="509320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45EE4"/>
                </a:solidFill>
              </a:rPr>
              <a:t>AI Integration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2272" y="5513832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DifyChat.vue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VITE_DIFY_TOKEN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#dify-chat-root anchor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5F5F5"/>
                </a:solidFill>
              </a:rPr>
              <a:t>· Workflow REST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21040" y="1143000"/>
            <a:ext cx="3657600" cy="5394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321040" y="1143000"/>
            <a:ext cx="365760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503920" y="1234440"/>
            <a:ext cx="32918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chemeClr val="accent3"/>
                </a:solidFill>
              </a:rPr>
              <a:t>KEY TECHNICAL DECISIONS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1737360"/>
            <a:ext cx="32918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>
                <a:solidFill>
                  <a:schemeClr val="accent3"/>
                </a:solidFill>
              </a:rPr>
              <a:t>Tailwind @tailwindcss/vite plugin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2011679"/>
            <a:ext cx="329184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chemeClr val="accent3"/>
                </a:solidFill>
              </a:rPr>
              <a:t>No PostCSS config needed — fastest build setup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03920" y="2350008"/>
            <a:ext cx="3291840" cy="27432"/>
          </a:xfrm>
          <a:prstGeom prst="rect">
            <a:avLst/>
          </a:prstGeom>
          <a:solidFill>
            <a:srgbClr val="DDB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03920" y="2414015"/>
            <a:ext cx="32918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chemeClr val="accent3"/>
                </a:solidFill>
              </a:rPr>
              <a:t>CSS columns masonry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2688335"/>
            <a:ext cx="32918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chemeClr val="accent3"/>
                </a:solidFill>
              </a:rPr>
              <a:t>No JS library (e.g. Masonry.js) needed — pure CSS, zero runtime cost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3026663"/>
            <a:ext cx="3291840" cy="27432"/>
          </a:xfrm>
          <a:prstGeom prst="rect">
            <a:avLst/>
          </a:prstGeom>
          <a:solidFill>
            <a:srgbClr val="DDB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03920" y="3090672"/>
            <a:ext cx="32918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chemeClr val="accent3"/>
                </a:solidFill>
              </a:rPr>
              <a:t>Pinia over Vuex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3364991"/>
            <a:ext cx="329184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chemeClr val="accent3"/>
                </a:solidFill>
              </a:rPr>
              <a:t>Simpler API, native TypeScript support, smaller bundle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03920" y="3703320"/>
            <a:ext cx="3291840" cy="27432"/>
          </a:xfrm>
          <a:prstGeom prst="rect">
            <a:avLst/>
          </a:prstGeom>
          <a:solidFill>
            <a:srgbClr val="DDB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03920" y="3767327"/>
            <a:ext cx="32918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chemeClr val="accent3"/>
                </a:solidFill>
              </a:rPr>
              <a:t>Axios with /api proxy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3920" y="4041647"/>
            <a:ext cx="329184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chemeClr val="accent3"/>
                </a:solidFill>
              </a:rPr>
              <a:t>Vite dev proxy to :8000 — no CORS issues in development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0" y="4379975"/>
            <a:ext cx="3291840" cy="27432"/>
          </a:xfrm>
          <a:prstGeom prst="rect">
            <a:avLst/>
          </a:prstGeom>
          <a:solidFill>
            <a:srgbClr val="DDB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503920" y="4443983"/>
            <a:ext cx="32918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chemeClr val="accent3"/>
                </a:solidFill>
              </a:rPr>
              <a:t>Lazy-loaded routes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718303"/>
            <a:ext cx="329184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chemeClr val="accent3"/>
                </a:solidFill>
              </a:rPr>
              <a:t>() =&gt; import() on all views — initial bundle stays minimal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03920" y="5056631"/>
            <a:ext cx="3291840" cy="27432"/>
          </a:xfrm>
          <a:prstGeom prst="rect">
            <a:avLst/>
          </a:prstGeom>
          <a:solidFill>
            <a:srgbClr val="DDB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503920" y="5120640"/>
            <a:ext cx="32918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chemeClr val="accent3"/>
                </a:solidFill>
              </a:rPr>
              <a:t>Natural img aspect-ratio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5394959"/>
            <a:ext cx="329184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chemeClr val="accent3"/>
                </a:solidFill>
              </a:rPr>
              <a:t>img { height: auto } — browser handles ratio, no JS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503920" y="5733288"/>
            <a:ext cx="3291840" cy="27432"/>
          </a:xfrm>
          <a:prstGeom prst="rect">
            <a:avLst/>
          </a:prstGeom>
          <a:solidFill>
            <a:srgbClr val="DDB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503920" y="5797296"/>
            <a:ext cx="32918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chemeClr val="accent3"/>
                </a:solidFill>
              </a:rPr>
              <a:t>Dify embed via script tag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6071616"/>
            <a:ext cx="329184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chemeClr val="accent3"/>
                </a:solidFill>
              </a:rPr>
              <a:t>Zero Vue dependency — widget injected by Dify's own script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834640"/>
            <a:ext cx="11914632" cy="54864"/>
          </a:xfrm>
          <a:prstGeom prst="rect">
            <a:avLst/>
          </a:prstGeom>
          <a:solidFill>
            <a:srgbClr val="E85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F5F5"/>
                </a:solidFill>
              </a:rPr>
              <a:t>DIGITAL ART PAINTINGS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6420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A623"/>
                </a:solidFill>
              </a:rPr>
              <a:t>AI-Powered  ·  Open-Source  ·  Free to Use  ·  Print-on-Demand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12471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E8552A"/>
                </a:solidFill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159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5F5F5"/>
                </a:solidFill>
              </a:rPr>
              <a:t>Questions &amp; Discussion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7492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</a:pPr>
            <a:r>
              <a:rPr sz="1200" b="0" i="0">
                <a:solidFill>
                  <a:srgbClr val="888899"/>
                </a:solidFill>
              </a:rPr>
              <a:t>Vue 3 + Tailwind CSS   ·   FastAPI   ·   Dify (Apache 2.0)   ·   Llama 3 / Mistral (Open-Source LLMs)</a:t>
            </a:r>
          </a:p>
          <a:p>
            <a:pPr algn="ctr">
              <a:spcBef>
                <a:spcPts val="1000"/>
              </a:spcBef>
            </a:pPr>
            <a:r>
              <a:rPr sz="1100" b="0" i="0">
                <a:solidFill>
                  <a:srgbClr val="888899"/>
                </a:solidFill>
              </a:rPr>
              <a:t>Yuhao Huang  ·  Yinghui Ren  ·  Nelson Kamteu  ·  Lena Makri  ·  Berena Malio  ·  Junior Mevi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444</TotalTime>
  <Words>1862</Words>
  <Application>Microsoft Office PowerPoint</Application>
  <PresentationFormat>自定义</PresentationFormat>
  <Paragraphs>351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禹豪 黄</cp:lastModifiedBy>
  <cp:revision>3</cp:revision>
  <dcterms:created xsi:type="dcterms:W3CDTF">2013-01-27T09:14:16Z</dcterms:created>
  <dcterms:modified xsi:type="dcterms:W3CDTF">2026-05-18T21:56:01Z</dcterms:modified>
  <cp:category/>
</cp:coreProperties>
</file>