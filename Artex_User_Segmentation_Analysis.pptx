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373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6350000" y="0"/>
            <a:ext cx="5842000" cy="6858000"/>
          </a:xfrm>
          <a:prstGeom prst="rect">
            <a:avLst/>
          </a:prstGeom>
          <a:solidFill>
            <a:srgbClr val="172339">
              <a:alpha val="85882"/>
            </a:srgbClr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6299200" y="0"/>
            <a:ext cx="50800" cy="6858000"/>
          </a:xfrm>
          <a:prstGeom prst="rect">
            <a:avLst/>
          </a:prstGeom>
          <a:solidFill>
            <a:srgbClr val="4F8CFF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11200" y="1625600"/>
            <a:ext cx="5334000" cy="215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AF0FA"/>
                </a:solidFill>
              </a:rPr>
              <a:t>ArtEx User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EAF0FA"/>
                </a:solidFill>
              </a:rPr>
              <a:t>Segmentation &amp;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EAF0FA"/>
                </a:solidFill>
              </a:rPr>
              <a:t>Product Analysis</a:t>
            </a:r>
          </a:p>
        </p:txBody>
      </p:sp>
      <p:sp>
        <p:nvSpPr>
          <p:cNvPr id="6" name="Text 4"/>
          <p:cNvSpPr/>
          <p:nvPr/>
        </p:nvSpPr>
        <p:spPr>
          <a:xfrm>
            <a:off x="711200" y="3860800"/>
            <a:ext cx="5207000" cy="10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2CFE4"/>
                </a:solidFill>
              </a:rPr>
              <a:t>Who is most likely to use the platform, why they come, what they do, and what product choices fit or amplify risk.</a:t>
            </a:r>
          </a:p>
        </p:txBody>
      </p:sp>
      <p:sp>
        <p:nvSpPr>
          <p:cNvPr id="7" name="Text 5"/>
          <p:cNvSpPr/>
          <p:nvPr/>
        </p:nvSpPr>
        <p:spPr>
          <a:xfrm>
            <a:off x="711200" y="5181600"/>
            <a:ext cx="5334000" cy="88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2CFE4"/>
                </a:solidFill>
              </a:rPr>
              <a:t>Prepared for presentation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C2CFE4"/>
                </a:solidFill>
              </a:rPr>
              <a:t>Focus: target users, personas, 3+ user stories, product implications</a:t>
            </a:r>
          </a:p>
        </p:txBody>
      </p:sp>
      <p:sp>
        <p:nvSpPr>
          <p:cNvPr id="8" name="Shape 6"/>
          <p:cNvSpPr/>
          <p:nvPr/>
        </p:nvSpPr>
        <p:spPr>
          <a:xfrm>
            <a:off x="6858000" y="508000"/>
            <a:ext cx="1981200" cy="355600"/>
          </a:xfrm>
          <a:prstGeom prst="roundRect">
            <a:avLst>
              <a:gd name="adj" fmla="val 28571"/>
            </a:avLst>
          </a:prstGeom>
          <a:solidFill>
            <a:srgbClr val="4F8CFF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8000" y="508000"/>
            <a:ext cx="1981200" cy="35560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</a:rPr>
              <a:t>ENGLISH DECK</a:t>
            </a:r>
          </a:p>
        </p:txBody>
      </p:sp>
      <p:sp>
        <p:nvSpPr>
          <p:cNvPr id="10" name="Text 8"/>
          <p:cNvSpPr/>
          <p:nvPr/>
        </p:nvSpPr>
        <p:spPr>
          <a:xfrm>
            <a:off x="6858000" y="1219200"/>
            <a:ext cx="4699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D4BF"/>
                </a:solidFill>
              </a:rPr>
              <a:t>Core thesis</a:t>
            </a:r>
          </a:p>
        </p:txBody>
      </p:sp>
      <p:sp>
        <p:nvSpPr>
          <p:cNvPr id="11" name="Text 9"/>
          <p:cNvSpPr/>
          <p:nvPr/>
        </p:nvSpPr>
        <p:spPr>
          <a:xfrm>
            <a:off x="6858000" y="1701800"/>
            <a:ext cx="472440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AF0FA"/>
                </a:solidFill>
              </a:rPr>
              <a:t>The current ArtEx concept is more attractive to high-risk speculative users than to traditional art collectors.</a:t>
            </a:r>
          </a:p>
        </p:txBody>
      </p:sp>
      <p:sp>
        <p:nvSpPr>
          <p:cNvPr id="12" name="Text 10"/>
          <p:cNvSpPr/>
          <p:nvPr/>
        </p:nvSpPr>
        <p:spPr>
          <a:xfrm>
            <a:off x="6858000" y="3276600"/>
            <a:ext cx="4724400" cy="304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2CFE4"/>
                </a:solidFill>
              </a:rPr>
              <a:t>Signals inside the product: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C2CFE4"/>
                </a:solidFill>
              </a:rPr>
              <a:t>Fractional shares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C2CFE4"/>
                </a:solidFill>
              </a:rPr>
              <a:t>Perpetual trading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C2CFE4"/>
                </a:solidFill>
              </a:rPr>
              <a:t>AI prompts and alerts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C2CFE4"/>
                </a:solidFill>
              </a:rPr>
              <a:t>Wallet-first behavior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C2CFE4"/>
                </a:solidFill>
              </a:rPr>
              <a:t>Fast market-style interface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9652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Research-Based Framing</a:t>
            </a:r>
            <a:endParaRPr lang="en-US" sz="3200" b="1" dirty="0">
              <a:solidFill>
                <a:srgbClr val="EAF0F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143000"/>
            <a:ext cx="10668000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2C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research suggests overlap between speculative trading, gambling-like behavior, and gamified app design.</a:t>
            </a:r>
            <a:endParaRPr lang="en-US" sz="1600" dirty="0">
              <a:solidFill>
                <a:srgbClr val="C2CFE4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625600"/>
            <a:ext cx="10972800" cy="0"/>
          </a:xfrm>
          <a:prstGeom prst="line">
            <a:avLst/>
          </a:prstGeom>
          <a:noFill/>
          <a:ln w="1905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0820400" y="6350000"/>
            <a:ext cx="508000" cy="279400"/>
          </a:xfrm>
          <a:prstGeom prst="roundRect">
            <a:avLst>
              <a:gd name="adj" fmla="val 26667"/>
            </a:avLst>
          </a:prstGeom>
          <a:solidFill>
            <a:srgbClr val="172339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820400" y="6350000"/>
            <a:ext cx="508000" cy="27940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b="1" dirty="0">
              <a:solidFill>
                <a:srgbClr val="9FB0CC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1905000"/>
            <a:ext cx="2603500" cy="1016000"/>
          </a:xfrm>
          <a:prstGeom prst="roundRect">
            <a:avLst>
              <a:gd name="adj" fmla="val 7500"/>
            </a:avLst>
          </a:prstGeom>
          <a:solidFill>
            <a:srgbClr val="172339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87400" y="2032000"/>
            <a:ext cx="22479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CFF"/>
                </a:solidFill>
              </a:rPr>
              <a:t>+39%</a:t>
            </a:r>
          </a:p>
        </p:txBody>
      </p:sp>
      <p:sp>
        <p:nvSpPr>
          <p:cNvPr id="9" name="Text 7"/>
          <p:cNvSpPr/>
          <p:nvPr/>
        </p:nvSpPr>
        <p:spPr>
          <a:xfrm>
            <a:off x="787400" y="2463800"/>
            <a:ext cx="22479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2CFE4"/>
                </a:solidFill>
              </a:rPr>
              <a:t>more trading with points reward</a:t>
            </a:r>
          </a:p>
        </p:txBody>
      </p:sp>
      <p:sp>
        <p:nvSpPr>
          <p:cNvPr id="10" name="Shape 8"/>
          <p:cNvSpPr/>
          <p:nvPr/>
        </p:nvSpPr>
        <p:spPr>
          <a:xfrm>
            <a:off x="3340100" y="1905000"/>
            <a:ext cx="2603500" cy="1016000"/>
          </a:xfrm>
          <a:prstGeom prst="roundRect">
            <a:avLst>
              <a:gd name="adj" fmla="val 7500"/>
            </a:avLst>
          </a:prstGeom>
          <a:solidFill>
            <a:srgbClr val="172339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517900" y="2032000"/>
            <a:ext cx="22479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CFF"/>
                </a:solidFill>
              </a:rPr>
              <a:t>+11%</a:t>
            </a:r>
          </a:p>
        </p:txBody>
      </p:sp>
      <p:sp>
        <p:nvSpPr>
          <p:cNvPr id="12" name="Text 10"/>
          <p:cNvSpPr/>
          <p:nvPr/>
        </p:nvSpPr>
        <p:spPr>
          <a:xfrm>
            <a:off x="3517900" y="2463800"/>
            <a:ext cx="22479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2CFE4"/>
                </a:solidFill>
              </a:rPr>
              <a:t>more trades from push notifications</a:t>
            </a:r>
          </a:p>
        </p:txBody>
      </p:sp>
      <p:sp>
        <p:nvSpPr>
          <p:cNvPr id="13" name="Shape 11"/>
          <p:cNvSpPr/>
          <p:nvPr/>
        </p:nvSpPr>
        <p:spPr>
          <a:xfrm>
            <a:off x="6070600" y="1905000"/>
            <a:ext cx="2603500" cy="1016000"/>
          </a:xfrm>
          <a:prstGeom prst="roundRect">
            <a:avLst>
              <a:gd name="adj" fmla="val 7500"/>
            </a:avLst>
          </a:prstGeom>
          <a:solidFill>
            <a:srgbClr val="172339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48400" y="2032000"/>
            <a:ext cx="22479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CFF"/>
                </a:solidFill>
              </a:rPr>
              <a:t>+12%</a:t>
            </a:r>
          </a:p>
        </p:txBody>
      </p:sp>
      <p:sp>
        <p:nvSpPr>
          <p:cNvPr id="15" name="Text 13"/>
          <p:cNvSpPr/>
          <p:nvPr/>
        </p:nvSpPr>
        <p:spPr>
          <a:xfrm>
            <a:off x="6248400" y="2463800"/>
            <a:ext cx="22479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2CFE4"/>
                </a:solidFill>
              </a:rPr>
              <a:t>more trades from points/lotteries</a:t>
            </a:r>
          </a:p>
        </p:txBody>
      </p:sp>
      <p:sp>
        <p:nvSpPr>
          <p:cNvPr id="16" name="Shape 14"/>
          <p:cNvSpPr/>
          <p:nvPr/>
        </p:nvSpPr>
        <p:spPr>
          <a:xfrm>
            <a:off x="8801100" y="1905000"/>
            <a:ext cx="2603500" cy="1016000"/>
          </a:xfrm>
          <a:prstGeom prst="roundRect">
            <a:avLst>
              <a:gd name="adj" fmla="val 7500"/>
            </a:avLst>
          </a:prstGeom>
          <a:solidFill>
            <a:srgbClr val="172339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978900" y="2032000"/>
            <a:ext cx="22479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CFF"/>
                </a:solidFill>
              </a:rPr>
              <a:t>+5.17%</a:t>
            </a:r>
          </a:p>
        </p:txBody>
      </p:sp>
      <p:sp>
        <p:nvSpPr>
          <p:cNvPr id="18" name="Text 16"/>
          <p:cNvSpPr/>
          <p:nvPr/>
        </p:nvSpPr>
        <p:spPr>
          <a:xfrm>
            <a:off x="8978900" y="2463800"/>
            <a:ext cx="22479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2CFE4"/>
                </a:solidFill>
              </a:rPr>
              <a:t>avg. trade lift from hedonic gamification</a:t>
            </a:r>
          </a:p>
        </p:txBody>
      </p:sp>
      <p:sp>
        <p:nvSpPr>
          <p:cNvPr id="19" name="Shape 17"/>
          <p:cNvSpPr/>
          <p:nvPr/>
        </p:nvSpPr>
        <p:spPr>
          <a:xfrm>
            <a:off x="609600" y="3175000"/>
            <a:ext cx="5308600" cy="2133600"/>
          </a:xfrm>
          <a:prstGeom prst="roundRect">
            <a:avLst>
              <a:gd name="adj" fmla="val 4000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38200" y="3327400"/>
            <a:ext cx="4851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</a:rPr>
              <a:t>What the literature says</a:t>
            </a:r>
          </a:p>
        </p:txBody>
      </p:sp>
      <p:sp>
        <p:nvSpPr>
          <p:cNvPr id="21" name="Text 19"/>
          <p:cNvSpPr/>
          <p:nvPr/>
        </p:nvSpPr>
        <p:spPr>
          <a:xfrm>
            <a:off x="838200" y="3708400"/>
            <a:ext cx="48514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1. Crypto trading and problem gambling often co-occur.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2. High-frequency retail speculation is strengthened by easy access, fast feedback, and game-like digital engagement.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3. Users with lower financial literacy or higher impulsivity can be more responsive to nudges, rewards, and alerts.</a:t>
            </a:r>
          </a:p>
        </p:txBody>
      </p:sp>
      <p:sp>
        <p:nvSpPr>
          <p:cNvPr id="22" name="Shape 20"/>
          <p:cNvSpPr/>
          <p:nvPr/>
        </p:nvSpPr>
        <p:spPr>
          <a:xfrm>
            <a:off x="6070600" y="3175000"/>
            <a:ext cx="5308600" cy="2133600"/>
          </a:xfrm>
          <a:prstGeom prst="roundRect">
            <a:avLst>
              <a:gd name="adj" fmla="val 4000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299200" y="3327400"/>
            <a:ext cx="4851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</a:rPr>
              <a:t>Why it matters for ArtEx</a:t>
            </a:r>
          </a:p>
        </p:txBody>
      </p:sp>
      <p:sp>
        <p:nvSpPr>
          <p:cNvPr id="24" name="Text 22"/>
          <p:cNvSpPr/>
          <p:nvPr/>
        </p:nvSpPr>
        <p:spPr>
          <a:xfrm>
            <a:off x="6299200" y="3708400"/>
            <a:ext cx="48514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ArtEx combines art branding with market mechanics: fractional ownership, price boards, perpetual positions, AI suggestions, and wallet behavior. That design is likely to attract users who seek excitement, short-term upside, and fast decision loops more than slow cultural appreciation.</a:t>
            </a:r>
          </a:p>
        </p:txBody>
      </p:sp>
      <p:sp>
        <p:nvSpPr>
          <p:cNvPr id="25" name="Text 23"/>
          <p:cNvSpPr/>
          <p:nvPr/>
        </p:nvSpPr>
        <p:spPr>
          <a:xfrm>
            <a:off x="609600" y="5435600"/>
            <a:ext cx="10795000" cy="3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2CFE4"/>
                </a:solidFill>
              </a:rPr>
              <a:t>Sources used in this deck include OSC (2022), FCA (2024), Chapkovski et al. (2024), Delfabbro et al. (2021), and related trading-behavior studies.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9652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Target User Groups</a:t>
            </a:r>
            <a:endParaRPr lang="en-US" sz="3200" b="1" dirty="0">
              <a:solidFill>
                <a:srgbClr val="EAF0F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143000"/>
            <a:ext cx="10668000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2C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the likely demand side by motivation, behavior, and monetization potential.</a:t>
            </a:r>
            <a:endParaRPr lang="en-US" sz="1600" dirty="0">
              <a:solidFill>
                <a:srgbClr val="C2CFE4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625600"/>
            <a:ext cx="10972800" cy="0"/>
          </a:xfrm>
          <a:prstGeom prst="line">
            <a:avLst/>
          </a:prstGeom>
          <a:noFill/>
          <a:ln w="1905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0820400" y="6350000"/>
            <a:ext cx="508000" cy="279400"/>
          </a:xfrm>
          <a:prstGeom prst="roundRect">
            <a:avLst>
              <a:gd name="adj" fmla="val 26667"/>
            </a:avLst>
          </a:prstGeom>
          <a:solidFill>
            <a:srgbClr val="172339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820400" y="6350000"/>
            <a:ext cx="508000" cy="27940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b="1" dirty="0">
              <a:solidFill>
                <a:srgbClr val="9FB0CC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1905000"/>
            <a:ext cx="3581400" cy="4231342"/>
          </a:xfrm>
          <a:prstGeom prst="roundRect">
            <a:avLst>
              <a:gd name="adj" fmla="val 2857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38200" y="2082800"/>
            <a:ext cx="3124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F8CFF"/>
                </a:solidFill>
              </a:rPr>
              <a:t>1. Momentum Speculators</a:t>
            </a:r>
          </a:p>
        </p:txBody>
      </p:sp>
      <p:sp>
        <p:nvSpPr>
          <p:cNvPr id="9" name="Text 7"/>
          <p:cNvSpPr/>
          <p:nvPr/>
        </p:nvSpPr>
        <p:spPr>
          <a:xfrm>
            <a:off x="838200" y="2743200"/>
            <a:ext cx="3124200" cy="271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Motivation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Short-term price upside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Behavior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Track movers, react to alerts, rotate fast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Why they fit ArtEx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Love market dashboards, volatility, and trade-like UX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Risk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Churn if liquidity and excitement decline</a:t>
            </a:r>
          </a:p>
        </p:txBody>
      </p:sp>
      <p:sp>
        <p:nvSpPr>
          <p:cNvPr id="10" name="Shape 8"/>
          <p:cNvSpPr/>
          <p:nvPr/>
        </p:nvSpPr>
        <p:spPr>
          <a:xfrm>
            <a:off x="4305300" y="1905000"/>
            <a:ext cx="3581400" cy="4231342"/>
          </a:xfrm>
          <a:prstGeom prst="roundRect">
            <a:avLst>
              <a:gd name="adj" fmla="val 2857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533900" y="2082800"/>
            <a:ext cx="3124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B544"/>
                </a:solidFill>
              </a:rPr>
              <a:t>2. Gambling-Style High-Risk Users</a:t>
            </a:r>
          </a:p>
        </p:txBody>
      </p:sp>
      <p:sp>
        <p:nvSpPr>
          <p:cNvPr id="12" name="Text 10"/>
          <p:cNvSpPr/>
          <p:nvPr/>
        </p:nvSpPr>
        <p:spPr>
          <a:xfrm>
            <a:off x="4533900" y="2743200"/>
            <a:ext cx="3124200" cy="271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Motivation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Thrill, uncertainty, big-win fantasy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Behavior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Prefer leverage, lottery-like outcomes, repeated entries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Why they fit ArtEx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Perpetuals, PnL, and gamified loops create strong engagement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Risk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High loss sensitivity, compliance and ethics concerns</a:t>
            </a:r>
          </a:p>
        </p:txBody>
      </p:sp>
      <p:sp>
        <p:nvSpPr>
          <p:cNvPr id="13" name="Shape 11"/>
          <p:cNvSpPr/>
          <p:nvPr/>
        </p:nvSpPr>
        <p:spPr>
          <a:xfrm>
            <a:off x="8001000" y="1905000"/>
            <a:ext cx="3581400" cy="4231342"/>
          </a:xfrm>
          <a:prstGeom prst="roundRect">
            <a:avLst>
              <a:gd name="adj" fmla="val 2857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29600" y="2082800"/>
            <a:ext cx="3124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D4BF"/>
                </a:solidFill>
              </a:rPr>
              <a:t>3. AI-Assisted Opportunists</a:t>
            </a:r>
          </a:p>
        </p:txBody>
      </p:sp>
      <p:sp>
        <p:nvSpPr>
          <p:cNvPr id="15" name="Text 13"/>
          <p:cNvSpPr/>
          <p:nvPr/>
        </p:nvSpPr>
        <p:spPr>
          <a:xfrm>
            <a:off x="8229600" y="2743200"/>
            <a:ext cx="3124200" cy="271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Motivation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Use tools to reduce effort and catch signals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Behavior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Rely on prompts, rankings, and agent-like recommendations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Why they fit ArtEx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AI chat and trade suggestions lower friction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Risk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May over-trust automation or unclear prompts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0668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A: The Momentum Speculator</a:t>
            </a:r>
            <a:endParaRPr lang="en-US" sz="3000" b="1" dirty="0">
              <a:solidFill>
                <a:srgbClr val="EAF0F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16000"/>
            <a:ext cx="10668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2C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commercially attractive early user if the platform aims for frequent activity.</a:t>
            </a:r>
            <a:endParaRPr lang="en-US" sz="1600" dirty="0">
              <a:solidFill>
                <a:srgbClr val="C2CFE4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447800"/>
            <a:ext cx="10972800" cy="0"/>
          </a:xfrm>
          <a:prstGeom prst="line">
            <a:avLst/>
          </a:prstGeom>
          <a:noFill/>
          <a:ln w="1905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0820400" y="6350000"/>
            <a:ext cx="508000" cy="279400"/>
          </a:xfrm>
          <a:prstGeom prst="roundRect">
            <a:avLst>
              <a:gd name="adj" fmla="val 26667"/>
            </a:avLst>
          </a:prstGeom>
          <a:solidFill>
            <a:srgbClr val="172339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820400" y="6350000"/>
            <a:ext cx="508000" cy="27940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b="1" dirty="0">
              <a:solidFill>
                <a:srgbClr val="9FB0CC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1625600"/>
            <a:ext cx="3327400" cy="3962400"/>
          </a:xfrm>
          <a:prstGeom prst="roundRect">
            <a:avLst>
              <a:gd name="adj" fmla="val 3636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38200" y="1778000"/>
            <a:ext cx="28702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</a:rPr>
              <a:t>Profile</a:t>
            </a:r>
          </a:p>
        </p:txBody>
      </p:sp>
      <p:sp>
        <p:nvSpPr>
          <p:cNvPr id="9" name="Text 7"/>
          <p:cNvSpPr/>
          <p:nvPr/>
        </p:nvSpPr>
        <p:spPr>
          <a:xfrm>
            <a:off x="838200" y="2362200"/>
            <a:ext cx="28702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Name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Jason, 24</a:t>
            </a:r>
          </a:p>
          <a:p>
            <a:pPr marL="0" indent="0">
              <a:buNone/>
            </a:pPr>
            <a:endParaRPr lang="en-US" sz="13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Occupation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Graduate student / part-time freelancer</a:t>
            </a:r>
          </a:p>
          <a:p>
            <a:pPr marL="0" indent="0">
              <a:buNone/>
            </a:pPr>
            <a:endParaRPr lang="en-US" sz="13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Mindset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'If the chart is moving, I want exposure now.'</a:t>
            </a:r>
          </a:p>
          <a:p>
            <a:pPr marL="0" indent="0">
              <a:buNone/>
            </a:pPr>
            <a:endParaRPr lang="en-US" sz="13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Risk tolerance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High</a:t>
            </a:r>
          </a:p>
          <a:p>
            <a:pPr marL="0" indent="0">
              <a:buNone/>
            </a:pPr>
            <a:endParaRPr lang="en-US" sz="13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Favorite cues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Top movers, trend lines, green candles</a:t>
            </a:r>
          </a:p>
        </p:txBody>
      </p:sp>
      <p:sp>
        <p:nvSpPr>
          <p:cNvPr id="10" name="Shape 8"/>
          <p:cNvSpPr/>
          <p:nvPr/>
        </p:nvSpPr>
        <p:spPr>
          <a:xfrm>
            <a:off x="4140200" y="1625600"/>
            <a:ext cx="3632200" cy="3962400"/>
          </a:xfrm>
          <a:prstGeom prst="roundRect">
            <a:avLst>
              <a:gd name="adj" fmla="val 2581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368800" y="1778000"/>
            <a:ext cx="31750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8CFF"/>
                </a:solidFill>
              </a:rPr>
              <a:t>Goals and triggers</a:t>
            </a:r>
          </a:p>
        </p:txBody>
      </p:sp>
      <p:sp>
        <p:nvSpPr>
          <p:cNvPr id="12" name="Text 10"/>
          <p:cNvSpPr/>
          <p:nvPr/>
        </p:nvSpPr>
        <p:spPr>
          <a:xfrm>
            <a:off x="4368800" y="2362200"/>
            <a:ext cx="31750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Goals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Make quick gains from short bursts of attention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Build a track record among friends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Feel ahead of the crowd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Triggers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Push alerts, social buzz, a sudden spike, a 'hot artwork' ranking</a:t>
            </a:r>
          </a:p>
        </p:txBody>
      </p:sp>
      <p:sp>
        <p:nvSpPr>
          <p:cNvPr id="13" name="Shape 11"/>
          <p:cNvSpPr/>
          <p:nvPr/>
        </p:nvSpPr>
        <p:spPr>
          <a:xfrm>
            <a:off x="7950200" y="1625600"/>
            <a:ext cx="3632200" cy="3962400"/>
          </a:xfrm>
          <a:prstGeom prst="roundRect">
            <a:avLst>
              <a:gd name="adj" fmla="val 2500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178800" y="1778000"/>
            <a:ext cx="31750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8CFF"/>
                </a:solidFill>
              </a:rPr>
              <a:t>What he needs from ArtEx</a:t>
            </a:r>
          </a:p>
        </p:txBody>
      </p:sp>
      <p:sp>
        <p:nvSpPr>
          <p:cNvPr id="15" name="Text 13"/>
          <p:cNvSpPr/>
          <p:nvPr/>
        </p:nvSpPr>
        <p:spPr>
          <a:xfrm>
            <a:off x="8178800" y="2362200"/>
            <a:ext cx="31750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Fast onboarding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Real-time market board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Clear entry/exit actions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Simple PnL visibility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AI summaries of market direction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Likely retention driver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A feeling that action is always available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0668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B: The Gambling-Style High Roller</a:t>
            </a:r>
            <a:endParaRPr lang="en-US" sz="3000" b="1" dirty="0">
              <a:solidFill>
                <a:srgbClr val="EAF0F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16000"/>
            <a:ext cx="10668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2C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necessarily an art lover; often motivated by arousal, leverage, and outsized wins.</a:t>
            </a:r>
            <a:endParaRPr lang="en-US" sz="1600" dirty="0">
              <a:solidFill>
                <a:srgbClr val="C2CFE4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447800"/>
            <a:ext cx="10972800" cy="0"/>
          </a:xfrm>
          <a:prstGeom prst="line">
            <a:avLst/>
          </a:prstGeom>
          <a:noFill/>
          <a:ln w="1905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0820400" y="6350000"/>
            <a:ext cx="508000" cy="279400"/>
          </a:xfrm>
          <a:prstGeom prst="roundRect">
            <a:avLst>
              <a:gd name="adj" fmla="val 26667"/>
            </a:avLst>
          </a:prstGeom>
          <a:solidFill>
            <a:srgbClr val="172339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820400" y="6350000"/>
            <a:ext cx="508000" cy="27940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b="1" dirty="0">
              <a:solidFill>
                <a:srgbClr val="9FB0CC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1625600"/>
            <a:ext cx="3327400" cy="3962400"/>
          </a:xfrm>
          <a:prstGeom prst="roundRect">
            <a:avLst>
              <a:gd name="adj" fmla="val 3636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38200" y="1778000"/>
            <a:ext cx="28702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</a:rPr>
              <a:t>Profile</a:t>
            </a:r>
          </a:p>
        </p:txBody>
      </p:sp>
      <p:sp>
        <p:nvSpPr>
          <p:cNvPr id="9" name="Text 7"/>
          <p:cNvSpPr/>
          <p:nvPr/>
        </p:nvSpPr>
        <p:spPr>
          <a:xfrm>
            <a:off x="838200" y="2362200"/>
            <a:ext cx="28702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Name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Ryan, 29</a:t>
            </a:r>
          </a:p>
          <a:p>
            <a:pPr marL="0" indent="0">
              <a:buNone/>
            </a:pPr>
            <a:endParaRPr lang="en-US" sz="13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Occupation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Sales / nightlife / irregular income</a:t>
            </a:r>
          </a:p>
          <a:p>
            <a:pPr marL="0" indent="0">
              <a:buNone/>
            </a:pPr>
            <a:endParaRPr lang="en-US" sz="13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Mindset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'I can recover losses with one strong move.'</a:t>
            </a:r>
          </a:p>
          <a:p>
            <a:pPr marL="0" indent="0">
              <a:buNone/>
            </a:pPr>
            <a:endParaRPr lang="en-US" sz="13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Risk tolerance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Very high</a:t>
            </a:r>
          </a:p>
          <a:p>
            <a:pPr marL="0" indent="0">
              <a:buNone/>
            </a:pPr>
            <a:endParaRPr lang="en-US" sz="13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Favorite cues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Leverage, volatility, limited-time opportunity</a:t>
            </a:r>
          </a:p>
        </p:txBody>
      </p:sp>
      <p:sp>
        <p:nvSpPr>
          <p:cNvPr id="10" name="Shape 8"/>
          <p:cNvSpPr/>
          <p:nvPr/>
        </p:nvSpPr>
        <p:spPr>
          <a:xfrm>
            <a:off x="4140200" y="1625600"/>
            <a:ext cx="3632200" cy="3962400"/>
          </a:xfrm>
          <a:prstGeom prst="roundRect">
            <a:avLst>
              <a:gd name="adj" fmla="val 2581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368800" y="1778000"/>
            <a:ext cx="31750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8CFF"/>
                </a:solidFill>
              </a:rPr>
              <a:t>Behavior pattern</a:t>
            </a:r>
          </a:p>
        </p:txBody>
      </p:sp>
      <p:sp>
        <p:nvSpPr>
          <p:cNvPr id="12" name="Text 10"/>
          <p:cNvSpPr/>
          <p:nvPr/>
        </p:nvSpPr>
        <p:spPr>
          <a:xfrm>
            <a:off x="4368800" y="2362200"/>
            <a:ext cx="31750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Trades after wins and after losses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Chases excitement more than fundamentals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Uses bigger size when emotional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Seeks fast recovery after drawdowns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Often ignores long-term art value</a:t>
            </a:r>
          </a:p>
        </p:txBody>
      </p:sp>
      <p:sp>
        <p:nvSpPr>
          <p:cNvPr id="13" name="Shape 11"/>
          <p:cNvSpPr/>
          <p:nvPr/>
        </p:nvSpPr>
        <p:spPr>
          <a:xfrm>
            <a:off x="7950200" y="1625600"/>
            <a:ext cx="3632200" cy="3962400"/>
          </a:xfrm>
          <a:prstGeom prst="roundRect">
            <a:avLst>
              <a:gd name="adj" fmla="val 2500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178800" y="1778000"/>
            <a:ext cx="31750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8CFF"/>
                </a:solidFill>
              </a:rPr>
              <a:t>Implication for product</a:t>
            </a:r>
          </a:p>
        </p:txBody>
      </p:sp>
      <p:sp>
        <p:nvSpPr>
          <p:cNvPr id="15" name="Text 13"/>
          <p:cNvSpPr/>
          <p:nvPr/>
        </p:nvSpPr>
        <p:spPr>
          <a:xfrm>
            <a:off x="8178800" y="2362200"/>
            <a:ext cx="31750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This user can generate activity and volume, but also the greatest harm and reputation risk.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If the product rewards speed, streaks, and constant prompts without safeguards, it may drift from 'art investment' toward 'aestheticized gambling.'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10668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C: The AI-Assisted Opportunist</a:t>
            </a:r>
            <a:endParaRPr lang="en-US" sz="3000" b="1" dirty="0">
              <a:solidFill>
                <a:srgbClr val="EAF0F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16000"/>
            <a:ext cx="106680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2C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digitally fluent user who wants edge through tools, not deep art expertise.</a:t>
            </a:r>
            <a:endParaRPr lang="en-US" sz="1600" dirty="0">
              <a:solidFill>
                <a:srgbClr val="C2CFE4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447800"/>
            <a:ext cx="10972800" cy="0"/>
          </a:xfrm>
          <a:prstGeom prst="line">
            <a:avLst/>
          </a:prstGeom>
          <a:noFill/>
          <a:ln w="1905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0820400" y="6350000"/>
            <a:ext cx="508000" cy="279400"/>
          </a:xfrm>
          <a:prstGeom prst="roundRect">
            <a:avLst>
              <a:gd name="adj" fmla="val 26667"/>
            </a:avLst>
          </a:prstGeom>
          <a:solidFill>
            <a:srgbClr val="172339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820400" y="6350000"/>
            <a:ext cx="508000" cy="27940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b="1" dirty="0">
              <a:solidFill>
                <a:srgbClr val="9FB0CC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1625600"/>
            <a:ext cx="3327400" cy="3962400"/>
          </a:xfrm>
          <a:prstGeom prst="roundRect">
            <a:avLst>
              <a:gd name="adj" fmla="val 3636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38200" y="1778000"/>
            <a:ext cx="28702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</a:rPr>
              <a:t>Profile</a:t>
            </a:r>
          </a:p>
        </p:txBody>
      </p:sp>
      <p:sp>
        <p:nvSpPr>
          <p:cNvPr id="9" name="Text 7"/>
          <p:cNvSpPr/>
          <p:nvPr/>
        </p:nvSpPr>
        <p:spPr>
          <a:xfrm>
            <a:off x="838200" y="2362200"/>
            <a:ext cx="28702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Name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Mina, 27</a:t>
            </a:r>
          </a:p>
          <a:p>
            <a:pPr marL="0" indent="0">
              <a:buNone/>
            </a:pPr>
            <a:endParaRPr lang="en-US" sz="13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Occupation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Junior product analyst</a:t>
            </a:r>
          </a:p>
          <a:p>
            <a:pPr marL="0" indent="0">
              <a:buNone/>
            </a:pPr>
            <a:endParaRPr lang="en-US" sz="13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Mindset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'If AI can surface the best opportunities, I can act faster than manual users.'</a:t>
            </a:r>
          </a:p>
          <a:p>
            <a:pPr marL="0" indent="0">
              <a:buNone/>
            </a:pPr>
            <a:endParaRPr lang="en-US" sz="13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Risk tolerance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EAF0FA"/>
                </a:solidFill>
              </a:rPr>
              <a:t>Medium-high</a:t>
            </a:r>
          </a:p>
        </p:txBody>
      </p:sp>
      <p:sp>
        <p:nvSpPr>
          <p:cNvPr id="10" name="Shape 8"/>
          <p:cNvSpPr/>
          <p:nvPr/>
        </p:nvSpPr>
        <p:spPr>
          <a:xfrm>
            <a:off x="4140200" y="1625600"/>
            <a:ext cx="3632200" cy="3962400"/>
          </a:xfrm>
          <a:prstGeom prst="roundRect">
            <a:avLst>
              <a:gd name="adj" fmla="val 2581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368800" y="1778000"/>
            <a:ext cx="31750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8CFF"/>
                </a:solidFill>
              </a:rPr>
              <a:t>Needs and expectations</a:t>
            </a:r>
          </a:p>
        </p:txBody>
      </p:sp>
      <p:sp>
        <p:nvSpPr>
          <p:cNvPr id="12" name="Text 10"/>
          <p:cNvSpPr/>
          <p:nvPr/>
        </p:nvSpPr>
        <p:spPr>
          <a:xfrm>
            <a:off x="4368800" y="2362200"/>
            <a:ext cx="31750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Wants the system to shortlist opportunities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Prefers summaries over deep research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Looks for confidence, not perfect certainty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Likes automation, watchlists, and alerts</a:t>
            </a:r>
          </a:p>
        </p:txBody>
      </p:sp>
      <p:sp>
        <p:nvSpPr>
          <p:cNvPr id="13" name="Shape 11"/>
          <p:cNvSpPr/>
          <p:nvPr/>
        </p:nvSpPr>
        <p:spPr>
          <a:xfrm>
            <a:off x="7950200" y="1625600"/>
            <a:ext cx="3632200" cy="3962400"/>
          </a:xfrm>
          <a:prstGeom prst="roundRect">
            <a:avLst>
              <a:gd name="adj" fmla="val 2500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178800" y="1778000"/>
            <a:ext cx="31750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8CFF"/>
                </a:solidFill>
              </a:rPr>
              <a:t>Why ArtEx fits</a:t>
            </a:r>
          </a:p>
        </p:txBody>
      </p:sp>
      <p:sp>
        <p:nvSpPr>
          <p:cNvPr id="15" name="Text 13"/>
          <p:cNvSpPr/>
          <p:nvPr/>
        </p:nvSpPr>
        <p:spPr>
          <a:xfrm>
            <a:off x="8178800" y="2362200"/>
            <a:ext cx="3175000" cy="314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AI recommendation chat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Alert-based decision flow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Wallet + market hybrid identity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Perceived sophistication of the platform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Main risk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Automation may create false confidence and faster impulse trading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0414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User Stories</a:t>
            </a:r>
            <a:endParaRPr lang="en-US" sz="3200" b="1" dirty="0">
              <a:solidFill>
                <a:srgbClr val="EAF0F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143000"/>
            <a:ext cx="10668000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2C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stories show how the current product concept serves high-risk speculative behavior.</a:t>
            </a:r>
            <a:endParaRPr lang="en-US" sz="1600" dirty="0">
              <a:solidFill>
                <a:srgbClr val="C2CFE4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625600"/>
            <a:ext cx="10972800" cy="0"/>
          </a:xfrm>
          <a:prstGeom prst="line">
            <a:avLst/>
          </a:prstGeom>
          <a:noFill/>
          <a:ln w="1905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0820400" y="6350000"/>
            <a:ext cx="508000" cy="279400"/>
          </a:xfrm>
          <a:prstGeom prst="roundRect">
            <a:avLst>
              <a:gd name="adj" fmla="val 26667"/>
            </a:avLst>
          </a:prstGeom>
          <a:solidFill>
            <a:srgbClr val="172339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820400" y="6350000"/>
            <a:ext cx="508000" cy="27940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b="1" dirty="0">
              <a:solidFill>
                <a:srgbClr val="9FB0CC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1905000"/>
            <a:ext cx="3581400" cy="3683000"/>
          </a:xfrm>
          <a:prstGeom prst="roundRect">
            <a:avLst>
              <a:gd name="adj" fmla="val 2807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38200" y="2057400"/>
            <a:ext cx="31242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8CFF"/>
                </a:solidFill>
              </a:rPr>
              <a:t>Story 1: Chasing momentum</a:t>
            </a:r>
          </a:p>
        </p:txBody>
      </p:sp>
      <p:sp>
        <p:nvSpPr>
          <p:cNvPr id="9" name="Text 7"/>
          <p:cNvSpPr/>
          <p:nvPr/>
        </p:nvSpPr>
        <p:spPr>
          <a:xfrm>
            <a:off x="838200" y="2667000"/>
            <a:ext cx="3124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As a momentum trader,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I want to see top movers and enter quickly,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so that I can capture a short-term spike before attention fades.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Key features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Market board, trade page, fast spot buy, AI summary.</a:t>
            </a:r>
          </a:p>
        </p:txBody>
      </p:sp>
      <p:sp>
        <p:nvSpPr>
          <p:cNvPr id="10" name="Shape 8"/>
          <p:cNvSpPr/>
          <p:nvPr/>
        </p:nvSpPr>
        <p:spPr>
          <a:xfrm>
            <a:off x="4305300" y="1905000"/>
            <a:ext cx="3581400" cy="3683000"/>
          </a:xfrm>
          <a:prstGeom prst="roundRect">
            <a:avLst>
              <a:gd name="adj" fmla="val 2807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533900" y="2057400"/>
            <a:ext cx="31242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B544"/>
                </a:solidFill>
              </a:rPr>
              <a:t>Story 2: Leveraged thrill</a:t>
            </a:r>
          </a:p>
        </p:txBody>
      </p:sp>
      <p:sp>
        <p:nvSpPr>
          <p:cNvPr id="12" name="Text 10"/>
          <p:cNvSpPr/>
          <p:nvPr/>
        </p:nvSpPr>
        <p:spPr>
          <a:xfrm>
            <a:off x="4533900" y="2667000"/>
            <a:ext cx="3124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As a high-risk user,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I want perpetual exposure and visible PnL,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so that I can amplify gains from a strong directional bet.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Key features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Perp interface, leverage slider, liquidation price, active positions.</a:t>
            </a:r>
          </a:p>
        </p:txBody>
      </p:sp>
      <p:sp>
        <p:nvSpPr>
          <p:cNvPr id="13" name="Shape 11"/>
          <p:cNvSpPr/>
          <p:nvPr/>
        </p:nvSpPr>
        <p:spPr>
          <a:xfrm>
            <a:off x="8001000" y="1905000"/>
            <a:ext cx="3581400" cy="3683000"/>
          </a:xfrm>
          <a:prstGeom prst="roundRect">
            <a:avLst>
              <a:gd name="adj" fmla="val 2807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29600" y="2057400"/>
            <a:ext cx="31242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</a:rPr>
              <a:t>Story 3: AI-guided action</a:t>
            </a:r>
          </a:p>
        </p:txBody>
      </p:sp>
      <p:sp>
        <p:nvSpPr>
          <p:cNvPr id="15" name="Text 13"/>
          <p:cNvSpPr/>
          <p:nvPr/>
        </p:nvSpPr>
        <p:spPr>
          <a:xfrm>
            <a:off x="8229600" y="2667000"/>
            <a:ext cx="3124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As an opportunistic user,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I want AI prompts and alerts,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so that I can make decisions quickly without doing full analysis myself.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Key features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AI chat, signal summaries, action suggestions, notifications.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33400"/>
            <a:ext cx="10414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Analysis: Strong Fit, Strong Risk</a:t>
            </a:r>
            <a:endParaRPr lang="en-US" sz="3000" b="1" dirty="0">
              <a:solidFill>
                <a:srgbClr val="EAF0F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143000"/>
            <a:ext cx="10668000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2C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feature set is coherent for speculative use, but weaker for traditional collector trust.</a:t>
            </a:r>
            <a:endParaRPr lang="en-US" sz="1600" dirty="0">
              <a:solidFill>
                <a:srgbClr val="C2CFE4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625600"/>
            <a:ext cx="10972800" cy="0"/>
          </a:xfrm>
          <a:prstGeom prst="line">
            <a:avLst/>
          </a:prstGeom>
          <a:noFill/>
          <a:ln w="1905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0820400" y="6350000"/>
            <a:ext cx="508000" cy="279400"/>
          </a:xfrm>
          <a:prstGeom prst="roundRect">
            <a:avLst>
              <a:gd name="adj" fmla="val 26667"/>
            </a:avLst>
          </a:prstGeom>
          <a:solidFill>
            <a:srgbClr val="172339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820400" y="6350000"/>
            <a:ext cx="508000" cy="27940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b="1" dirty="0">
              <a:solidFill>
                <a:srgbClr val="9FB0CC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09600" y="1905000"/>
            <a:ext cx="3581400" cy="3683000"/>
          </a:xfrm>
          <a:prstGeom prst="roundRect">
            <a:avLst>
              <a:gd name="adj" fmla="val 2759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38200" y="2057400"/>
            <a:ext cx="31242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</a:rPr>
              <a:t>What already works</a:t>
            </a:r>
          </a:p>
        </p:txBody>
      </p:sp>
      <p:sp>
        <p:nvSpPr>
          <p:cNvPr id="9" name="Text 7"/>
          <p:cNvSpPr/>
          <p:nvPr/>
        </p:nvSpPr>
        <p:spPr>
          <a:xfrm>
            <a:off x="838200" y="2667000"/>
            <a:ext cx="3124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Clear speculative proposition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Fast visual feedback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Engaging trade workflow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AI lowers decision friction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Fractional ownership widens entry access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Result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Good for demo value and active-user storytelling</a:t>
            </a:r>
          </a:p>
        </p:txBody>
      </p:sp>
      <p:sp>
        <p:nvSpPr>
          <p:cNvPr id="10" name="Shape 8"/>
          <p:cNvSpPr/>
          <p:nvPr/>
        </p:nvSpPr>
        <p:spPr>
          <a:xfrm>
            <a:off x="4305300" y="1905000"/>
            <a:ext cx="3581400" cy="3683000"/>
          </a:xfrm>
          <a:prstGeom prst="roundRect">
            <a:avLst>
              <a:gd name="adj" fmla="val 2759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533900" y="2057400"/>
            <a:ext cx="31242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B544"/>
                </a:solidFill>
              </a:rPr>
              <a:t>What is missing</a:t>
            </a:r>
          </a:p>
        </p:txBody>
      </p:sp>
      <p:sp>
        <p:nvSpPr>
          <p:cNvPr id="12" name="Text 10"/>
          <p:cNvSpPr/>
          <p:nvPr/>
        </p:nvSpPr>
        <p:spPr>
          <a:xfrm>
            <a:off x="4533900" y="2667000"/>
            <a:ext cx="3124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Little collector-oriented value proof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Weak long-term ownership narrative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Limited educational framing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Few trust and harm-reduction cues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No clear separation between investing and gambling-like play</a:t>
            </a:r>
          </a:p>
        </p:txBody>
      </p:sp>
      <p:sp>
        <p:nvSpPr>
          <p:cNvPr id="13" name="Shape 11"/>
          <p:cNvSpPr/>
          <p:nvPr/>
        </p:nvSpPr>
        <p:spPr>
          <a:xfrm>
            <a:off x="8001000" y="1905000"/>
            <a:ext cx="3581400" cy="3683000"/>
          </a:xfrm>
          <a:prstGeom prst="roundRect">
            <a:avLst>
              <a:gd name="adj" fmla="val 2759"/>
            </a:avLst>
          </a:prstGeom>
          <a:solidFill>
            <a:srgbClr val="172339"/>
          </a:solidFill>
          <a:ln w="12700">
            <a:noFill/>
            <a:prstDash val="solid"/>
          </a:ln>
          <a:effectLst>
            <a:outerShdw blurRad="127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29600" y="2057400"/>
            <a:ext cx="31242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8CFF"/>
                </a:solidFill>
              </a:rPr>
              <a:t>Strategic tension</a:t>
            </a:r>
          </a:p>
        </p:txBody>
      </p:sp>
      <p:sp>
        <p:nvSpPr>
          <p:cNvPr id="15" name="Text 13"/>
          <p:cNvSpPr/>
          <p:nvPr/>
        </p:nvSpPr>
        <p:spPr>
          <a:xfrm>
            <a:off x="8229600" y="2667000"/>
            <a:ext cx="3124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If ArtEx wants growth through activity, it will naturally attract high-risk users.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If ArtEx wants legitimacy, it must add guardrails, transparent risk language, and stronger art-value context.</a:t>
            </a:r>
          </a:p>
          <a:p>
            <a:pPr marL="0" indent="0">
              <a:buNone/>
            </a:pPr>
            <a:endParaRPr lang="en-US" sz="1400" dirty="0">
              <a:solidFill>
                <a:srgbClr val="EAF0FA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EAF0FA"/>
                </a:solidFill>
              </a:rPr>
              <a:t>The core product question is not only 'who uses it?' but 'who should it be built for?'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716BF68E-A0A5-45E8-A00D-8B6AB1AA5249}"/>
              </a:ext>
            </a:extLst>
          </p:cNvPr>
          <p:cNvSpPr/>
          <p:nvPr/>
        </p:nvSpPr>
        <p:spPr>
          <a:xfrm>
            <a:off x="609600" y="1879600"/>
            <a:ext cx="10972800" cy="3683000"/>
          </a:xfrm>
          <a:prstGeom prst="roundRect">
            <a:avLst/>
          </a:prstGeom>
          <a:solidFill>
            <a:srgbClr val="17233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609600" y="381000"/>
            <a:ext cx="10972800" cy="584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for Presentation and Product Positioning</a:t>
            </a:r>
            <a:endParaRPr lang="en-US" sz="2700" b="1" dirty="0">
              <a:solidFill>
                <a:srgbClr val="EAF0F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041400"/>
            <a:ext cx="10972800" cy="50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2C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balanced framing: the product is attractive to speculative users, but that insight should guide safer design choices.</a:t>
            </a:r>
            <a:endParaRPr lang="en-US" sz="1500" dirty="0">
              <a:solidFill>
                <a:srgbClr val="C2CFE4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625600"/>
            <a:ext cx="10972800" cy="0"/>
          </a:xfrm>
          <a:prstGeom prst="line">
            <a:avLst/>
          </a:prstGeom>
          <a:noFill/>
          <a:ln w="1905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0820400" y="6350000"/>
            <a:ext cx="508000" cy="279400"/>
          </a:xfrm>
          <a:prstGeom prst="roundRect">
            <a:avLst>
              <a:gd name="adj" fmla="val 26667"/>
            </a:avLst>
          </a:prstGeom>
          <a:solidFill>
            <a:srgbClr val="172339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820400" y="6350000"/>
            <a:ext cx="508000" cy="27940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b="1" dirty="0">
              <a:solidFill>
                <a:srgbClr val="9FB0CC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39800" y="2263588"/>
            <a:ext cx="10312400" cy="30958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04800" indent="-304800">
              <a:buSzPct val="100000"/>
              <a:buChar char="•"/>
            </a:pPr>
            <a:r>
              <a:rPr lang="en-US" sz="16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the primary early users as high-risk speculative participants rather than conventional collectors.</a:t>
            </a:r>
            <a:endParaRPr lang="en-US" sz="1600" dirty="0">
              <a:solidFill>
                <a:srgbClr val="EAF0FA"/>
              </a:solidFill>
            </a:endParaRPr>
          </a:p>
          <a:p>
            <a:pPr marL="304800" indent="-304800">
              <a:buSzPct val="100000"/>
              <a:buChar char="•"/>
            </a:pPr>
            <a:r>
              <a:rPr lang="en-US" sz="16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neutral language such as 'speculative traders', 'high-volatility seekers', and 'AI-assisted opportunists' instead of presenting the platform as explicitly built for gambling behavior.</a:t>
            </a:r>
            <a:endParaRPr lang="en-US" sz="1600" dirty="0">
              <a:solidFill>
                <a:srgbClr val="EAF0FA"/>
              </a:solidFill>
            </a:endParaRPr>
          </a:p>
          <a:p>
            <a:pPr marL="304800" indent="-304800">
              <a:buSzPct val="100000"/>
              <a:buChar char="•"/>
            </a:pPr>
            <a:r>
              <a:rPr lang="en-US" sz="16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opportunity: high engagement, clear feature-market fit, strong demo narrative.</a:t>
            </a:r>
            <a:endParaRPr lang="en-US" sz="1600" dirty="0">
              <a:solidFill>
                <a:srgbClr val="EAF0FA"/>
              </a:solidFill>
            </a:endParaRPr>
          </a:p>
          <a:p>
            <a:pPr marL="304800" indent="-304800">
              <a:buSzPct val="100000"/>
              <a:buChar char="•"/>
            </a:pPr>
            <a:r>
              <a:rPr lang="en-US" sz="16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risk: impulsive decisions, over-trading, leverage harm, false confidence from AI, and ethical/reputational issues.</a:t>
            </a:r>
            <a:endParaRPr lang="en-US" sz="1600" dirty="0">
              <a:solidFill>
                <a:srgbClr val="EAF0FA"/>
              </a:solidFill>
            </a:endParaRPr>
          </a:p>
          <a:p>
            <a:pPr marL="304800" indent="-304800">
              <a:buSzPct val="100000"/>
              <a:buChar char="•"/>
            </a:pPr>
            <a:r>
              <a:rPr lang="en-US" sz="16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product guardrails: risk disclosures, cooldowns, educational prompts, limit settings, and transparent AI confidence cues.</a:t>
            </a:r>
            <a:endParaRPr lang="en-US" sz="1600" dirty="0">
              <a:solidFill>
                <a:srgbClr val="EAF0FA"/>
              </a:solidFill>
            </a:endParaRPr>
          </a:p>
          <a:p>
            <a:pPr marL="304800" indent="-304800">
              <a:buSzPct val="100000"/>
              <a:buChar char="•"/>
            </a:pPr>
            <a:r>
              <a:rPr lang="en-US" sz="160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Q&amp;A, emphasize that this analysis helps the team decide both target market and responsible product boundaries.</a:t>
            </a:r>
            <a:endParaRPr lang="en-US" sz="1600" dirty="0">
              <a:solidFill>
                <a:srgbClr val="EAF0F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1B2101F4-95DC-4774-90F2-FBC7AAC168F8}"/>
              </a:ext>
            </a:extLst>
          </p:cNvPr>
          <p:cNvSpPr/>
          <p:nvPr/>
        </p:nvSpPr>
        <p:spPr>
          <a:xfrm>
            <a:off x="609600" y="1879600"/>
            <a:ext cx="10972800" cy="3683000"/>
          </a:xfrm>
          <a:prstGeom prst="roundRect">
            <a:avLst/>
          </a:prstGeom>
          <a:solidFill>
            <a:srgbClr val="17233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609600" y="533400"/>
            <a:ext cx="9652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References</a:t>
            </a:r>
            <a:endParaRPr lang="en-US" sz="3200" b="1" dirty="0">
              <a:solidFill>
                <a:srgbClr val="EAF0FA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1143000"/>
            <a:ext cx="10668000" cy="33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2CF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source list used to support the behavioral framing in this deck.</a:t>
            </a:r>
            <a:endParaRPr lang="en-US" sz="1600" dirty="0">
              <a:solidFill>
                <a:srgbClr val="C2CFE4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625600"/>
            <a:ext cx="10972800" cy="0"/>
          </a:xfrm>
          <a:prstGeom prst="line">
            <a:avLst/>
          </a:prstGeom>
          <a:noFill/>
          <a:ln w="1905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0820400" y="6350000"/>
            <a:ext cx="508000" cy="279400"/>
          </a:xfrm>
          <a:prstGeom prst="roundRect">
            <a:avLst>
              <a:gd name="adj" fmla="val 26667"/>
            </a:avLst>
          </a:prstGeom>
          <a:solidFill>
            <a:srgbClr val="172339"/>
          </a:solidFill>
          <a:ln w="1270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820400" y="6350000"/>
            <a:ext cx="508000" cy="27940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B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b="1" dirty="0">
              <a:solidFill>
                <a:srgbClr val="9FB0CC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939800" y="2108200"/>
            <a:ext cx="10312400" cy="325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300" dirty="0">
                <a:solidFill>
                  <a:srgbClr val="EAF0FA"/>
                </a:solidFill>
              </a:rPr>
              <a:t>1. Ontario Securities Commission (2022) — Gamification and investing behavior.</a:t>
            </a:r>
            <a:br/>
            <a:r>
              <a:rPr lang="en-US" sz="1300" dirty="0">
                <a:solidFill>
                  <a:srgbClr val="4F8CFF"/>
                </a:solidFill>
              </a:rPr>
              <a:t>https://www.osc.ca/sites/default/files/2022-11/sn_20221117_11-796_gamification-report.pdf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300" dirty="0">
                <a:solidFill>
                  <a:srgbClr val="EAF0FA"/>
                </a:solidFill>
              </a:rPr>
              <a:t>2. UK FCA (2024) — Digital engagement practices in trading apps.</a:t>
            </a:r>
            <a:br/>
            <a:r>
              <a:rPr lang="en-US" sz="1300" dirty="0">
                <a:solidFill>
                  <a:srgbClr val="4F8CFF"/>
                </a:solidFill>
              </a:rPr>
              <a:t>https://www.fca.org.uk/publications/research-notes/research-note-digital-engagement-practices-trading-apps-experiment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300" dirty="0">
                <a:solidFill>
                  <a:srgbClr val="EAF0FA"/>
                </a:solidFill>
              </a:rPr>
              <a:t>3. Chapkovski, Khapko, Zoican (2024) — Gamification increases trading activity.</a:t>
            </a:r>
            <a:br/>
            <a:r>
              <a:rPr lang="en-US" sz="1300" dirty="0">
                <a:solidFill>
                  <a:srgbClr val="4F8CFF"/>
                </a:solidFill>
              </a:rPr>
              <a:t>https://pubsonline.informs.org/doi/10.1287/mnsc.2022.02650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300" dirty="0">
                <a:solidFill>
                  <a:srgbClr val="EAF0FA"/>
                </a:solidFill>
              </a:rPr>
              <a:t>4. Delfabbro et al. (2021) — Cryptocurrency trading and gambling overlap.</a:t>
            </a:r>
            <a:br/>
            <a:r>
              <a:rPr lang="en-US" sz="1300" dirty="0">
                <a:solidFill>
                  <a:srgbClr val="4F8CFF"/>
                </a:solidFill>
              </a:rPr>
              <a:t>https://doi.org/10.1016/j.addbeh.2021.107021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300" dirty="0">
                <a:solidFill>
                  <a:srgbClr val="EAF0FA"/>
                </a:solidFill>
              </a:rPr>
              <a:t>5. Havakhor et al. (2024) — Frictionless data access and retail trading behavior.</a:t>
            </a:r>
            <a:br/>
            <a:r>
              <a:rPr lang="en-US" sz="1300" dirty="0">
                <a:solidFill>
                  <a:srgbClr val="4F8CFF"/>
                </a:solidFill>
              </a:rPr>
              <a:t>https://pubsonline.informs.org/doi/10.1287/mnsc.2021.01379</a:t>
            </a:r>
          </a:p>
        </p:txBody>
      </p:sp>
    </p:spTree>
    <p:extLst>
      <p:ext uri="{BB962C8B-B14F-4D97-AF65-F5344CB8AC3E}">
        <p14:creationId xmlns:p14="http://schemas.microsoft.com/office/powerpoint/2010/main" val="3367527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C29EAA8-DA1F-446C-82A5-B1DAA607D87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0cb1269-8644-4a36-ba26-451ac7cdb5f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1423</Words>
  <Application>Microsoft Office PowerPoint</Application>
  <PresentationFormat>宽屏</PresentationFormat>
  <Paragraphs>238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ArtEx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ArtEx User Segmentation and Product Analysis</dc:title>
  <dc:subject>User segmentation, persona analysis, user stories, and product analysis</dc:subject>
  <dc:creator>TRAE Assistant</dc:creator>
  <cp:lastModifiedBy>禹豪 黄</cp:lastModifiedBy>
  <cp:revision>2</cp:revision>
  <dcterms:created xsi:type="dcterms:W3CDTF">2026-06-16T20:18:35Z</dcterms:created>
  <dcterms:modified xsi:type="dcterms:W3CDTF">2026-06-16T22:55:33Z</dcterms:modified>
</cp:coreProperties>
</file>