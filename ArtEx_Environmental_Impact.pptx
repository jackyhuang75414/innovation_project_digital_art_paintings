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451" autoAdjust="0"/>
  </p:normalViewPr>
  <p:slideViewPr>
    <p:cSldViewPr snapToGrid="0" snapToObjects="1">
      <p:cViewPr varScale="1">
        <p:scale>
          <a:sx n="133" d="100"/>
          <a:sy n="133" d="100"/>
        </p:scale>
        <p:origin x="13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F5DFB-C019-4C34-9E00-EFAE22441398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AEBBE-9AFF-4CC2-9B13-892DE6F7E0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67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EBBE-9AFF-4CC2-9B13-892DE6F7E0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56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Environment Stock Photos, Images and Backgrounds for Free Download">
            <a:extLst>
              <a:ext uri="{FF2B5EF4-FFF2-40B4-BE49-F238E27FC236}">
                <a16:creationId xmlns:a16="http://schemas.microsoft.com/office/drawing/2014/main" id="{E8FEC666-A332-D621-A7BB-AA367453B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0" y="11743"/>
            <a:ext cx="12460941" cy="68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3F77A56-9567-1A74-4EE8-643234CE2A48}"/>
              </a:ext>
            </a:extLst>
          </p:cNvPr>
          <p:cNvSpPr/>
          <p:nvPr/>
        </p:nvSpPr>
        <p:spPr>
          <a:xfrm>
            <a:off x="0" y="11743"/>
            <a:ext cx="9354312" cy="6858000"/>
          </a:xfrm>
          <a:prstGeom prst="rect">
            <a:avLst/>
          </a:prstGeom>
          <a:gradFill flip="none" rotWithShape="1">
            <a:gsLst>
              <a:gs pos="33000">
                <a:schemeClr val="tx1">
                  <a:lumMod val="95000"/>
                  <a:lumOff val="5000"/>
                </a:schemeClr>
              </a:gs>
              <a:gs pos="75000">
                <a:schemeClr val="tx1">
                  <a:lumMod val="85000"/>
                  <a:lumOff val="15000"/>
                  <a:alpha val="6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EFREI PARIS  ·  INNOVATION PROJECT 2025–2026  ·  #25063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1">
                <a:solidFill>
                  <a:srgbClr val="FFFFFF"/>
                </a:solidFill>
              </a:rPr>
              <a:t>ArtEx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C55E"/>
                </a:solidFill>
              </a:rPr>
              <a:t>Environmental Impact
&amp; Eco-Design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29000"/>
            <a:ext cx="50292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How ArtEx minimises its carbon footprint and promotes sustainable digital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20640"/>
            <a:ext cx="2743200" cy="12801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120640"/>
            <a:ext cx="2743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~100%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Reduction vs.
physical art shipping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5120640"/>
            <a:ext cx="2743200" cy="12801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5120640"/>
            <a:ext cx="2743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06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PoW blockchain
transactions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120640"/>
            <a:ext cx="2743200" cy="12801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5120640"/>
            <a:ext cx="2743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&lt; 30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806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CO₂e / month
at 1K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45"/>
                </a:solidFill>
              </a:rPr>
              <a:t>Presented by: Yuhao Huang  ·  ArtEx Team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Six topics covered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74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65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Problem with Traditional Art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Physical art's hidden carbon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578608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624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151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ArtEx Digital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Our platform's energy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27248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328416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74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64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Blockchain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Why we avoided Proof-of-Work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77056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078224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123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Eco-Design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074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Decisions made during development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26864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828032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873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64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Lifecycle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572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Full LCA from dev to decommission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76672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577840"/>
            <a:ext cx="502920" cy="502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6144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Roadmap &amp; Commitments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070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What we promise to do next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126480"/>
            <a:ext cx="1143000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Hidden Cost of Traditional Art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Physical art commerce generates significant environmental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669280" cy="74980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✈  International Shipping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Artworks flown globally per sale. Air freight = 500× road freight per kg·km.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5669280" cy="74980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54864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52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🏭  Print-on-Demand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44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Paper, ink, framing, packaging per physical reproduction. No digital equivalent.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669280" cy="74980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54864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210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❄  Climate-Controlled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Galleries and warehouses run HVAC 24/7 to preserve physical works.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5669280" cy="74980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54864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897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🌍  Art Fairs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82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 Basel Geneva ≈ 30,000 tCO₂e per edition (flights, hotels, logistics).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5669280" cy="74980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303520"/>
            <a:ext cx="54864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358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 Return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50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Unsold physical works shipped back — double the transport emissions.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828800"/>
            <a:ext cx="5212080" cy="4389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1828800"/>
            <a:ext cx="52120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87171"/>
                </a:solidFill>
              </a:rPr>
              <a:t>30,000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7171"/>
                </a:solidFill>
              </a:rPr>
              <a:t>tCO₂e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74903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emitted by Art Basel
Geneva per edition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572000"/>
            <a:ext cx="3840480" cy="127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4663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ArtEx produces none of these emissions.
All transactions are digital — no physical goods, no shipping, no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ArtEx Platform Energy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Estimated carbon footprint at 1,000 daily active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084832"/>
            <a:ext cx="685800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84832"/>
            <a:ext cx="425196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4404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End-user Browser (SPA)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20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~0.3 g CO₂e
per page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482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62%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16352"/>
            <a:ext cx="685800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1234440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7556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DeepSeek AI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51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</a:rPr>
              <a:t>~0.2–0.5 g CO₂e
per AI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7797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47872"/>
            <a:ext cx="685800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47872"/>
            <a:ext cx="5486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0708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CoinGecko API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83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</a:rPr>
              <a:t>Negligible
(shared infra)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1129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79392"/>
            <a:ext cx="685800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79392"/>
            <a:ext cx="548640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03860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VMM Computation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Client-side JS
~0.1W extra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4281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10912"/>
            <a:ext cx="685800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10912"/>
            <a:ext cx="274320" cy="2560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77012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 Server (planned)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846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~2–5 kg CO₂e/mo
(green host)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743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828800"/>
            <a:ext cx="3657600" cy="4572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1828800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MONTHLY ESTIMATE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4231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2C55E"/>
                </a:solidFill>
              </a:rPr>
              <a:t>15–30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291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CO₂e / month
@ 1,000 DAU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4069080"/>
            <a:ext cx="3200400" cy="254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4206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≈ 8 km of transatlantic
flight per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029200"/>
            <a:ext cx="3200400" cy="254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5166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</a:rPr>
              <a:t>vs. Art Basel Geneva:
30,000,000 kg CO₂e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Note: Production hosting on Vercel/Fly.io (100% renewable energy) reduces Scope 2 emissions to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Blockchain Strategy: Why We Avoided Proof-of-Work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A deliberate architectural decision with major environmental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0332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Bitcoin (PoW)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</a:rPr>
              <a:t>✗  NOT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6576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700–900 kWh per transaction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84448"/>
            <a:ext cx="36576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Equivalent to 1 month of
household electricity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34256"/>
            <a:ext cx="36576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33425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~65 MtCO₂e/year globally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84064"/>
            <a:ext cx="36576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0840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Used only as a pricing unit
— no real BTC settlement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1828800"/>
            <a:ext cx="370332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Ethereum (PoS)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423160"/>
            <a:ext cx="1737360" cy="27432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24414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✓  PHASE 4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834640"/>
            <a:ext cx="36576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~0.03 kWh per transaction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584448"/>
            <a:ext cx="36576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99.95% less energy than PoW
(post-Merge, Sep 2022)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334256"/>
            <a:ext cx="36576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33425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~0.01 kg CO₂e per tx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5084064"/>
            <a:ext cx="36576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50840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If on-chain settlement added,
only PoS chains permitted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828800"/>
            <a:ext cx="37033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ArtEx (Current POC)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423160"/>
            <a:ext cx="1737360" cy="27432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24414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✓  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834640"/>
            <a:ext cx="36576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4964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 blockchain transactions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3584448"/>
            <a:ext cx="36576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9640" y="3584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Ownership in PostgreSQL
— no on-chain writes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4334256"/>
            <a:ext cx="36576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49640" y="433425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~0 kg CO₂e from
settlement layer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5084064"/>
            <a:ext cx="36576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9640" y="50840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Full trading simulation
with zero chain footprint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D4BF"/>
                </a:solidFill>
              </a:rPr>
              <a:t>Layer 2 networks (Polygon, Arbitrum, Base) reduce energy further by ~99% vs. Ethereum L1 — target for Phase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Eco-Design Principles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Sustainable engineering decisions made throughout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4572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Single-Page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12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No full-page reloads. Only changed components re-render → fewer HTTP requests, less server compute.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45720" cy="8229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API Call Minimisation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12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CoinGecko polled every 60 s (not real-time). Results cached in Pinia store — no redundant fetches.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61488"/>
            <a:ext cx="45720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8529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Client-Side Price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145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VMM runs in the user's browser (JS GBM) — eliminates dedicated cloud server for continuous price generation.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61488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761488"/>
            <a:ext cx="4572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8529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Production Build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145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Vite tree-shaking + code-splitting + minification → smaller JS bundles → faster load → less energy per page 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94176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694176"/>
            <a:ext cx="45720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85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CDN Image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0782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Artwork images from Wikimedia Commons CDN — globally cached, avoids redundant origin fetches from our own servers.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94176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694176"/>
            <a:ext cx="4572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3785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No Physical Goods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0782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Pure digital platform: no printing, no shipping, no packaging. Zero Scope 3 emissions from physical supply chain.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26864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626864"/>
            <a:ext cx="45720" cy="8229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4718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Green Hosting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Production deployment planned on Vercel or Fly.io — both operate on 100% renewable energy (RE100 commitment).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626864"/>
            <a:ext cx="5577840" cy="8229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4626864"/>
            <a:ext cx="45720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4718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Efficient Database Queries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SQLAlchemy async ORM with pagination and indexed queries — minimal compute per API call, reducing server energy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Lifecycle Assessment (LCA)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ISO 14040/14044 — from development to decommission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033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Phase 1
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Oct 2025 –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44368"/>
            <a:ext cx="3200400" cy="254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50–100 kg CO₂e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75888"/>
            <a:ext cx="54864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5844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Developer workstations: ~15–20W 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4114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Git / CI pipeline: negligible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36592"/>
            <a:ext cx="54864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6451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production servers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66944"/>
            <a:ext cx="54864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517550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≈ 5 hours of transatlantic flying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828800"/>
            <a:ext cx="37033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9659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Phase 2
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From Q4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944368"/>
            <a:ext cx="3200400" cy="254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0632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15–30 kg CO₂e/month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675888"/>
            <a:ext cx="54864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35844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1,000 DAU on green cloud hosting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206240"/>
            <a:ext cx="54864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45152" y="4114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Scope 2 → 0 with renewable energy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736592"/>
            <a:ext cx="54864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5152" y="46451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 inference: dominant cost (~60%)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266944"/>
            <a:ext cx="54864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5152" y="517550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CDN delivery: near-zero marginal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828800"/>
            <a:ext cx="3703320" cy="4480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1828800"/>
            <a:ext cx="370332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19659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</a:rPr>
              <a:t>Phase 3
End-of-Life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When decommissioned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944368"/>
            <a:ext cx="3200400" cy="254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30632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~0 kg CO₂e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675888"/>
            <a:ext cx="54864" cy="274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77072" y="35844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physical hardware to dispose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206240"/>
            <a:ext cx="54864" cy="274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77072" y="4114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Cloud instances shut down instantly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736592"/>
            <a:ext cx="54864" cy="274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77072" y="46451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Data deletion per GDPR Art. 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5266944"/>
            <a:ext cx="54864" cy="274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77072" y="517550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No e-waste — pure software product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Scope 1 (direct): 0   ·   Scope 2 (electricity): near-zero with green hosting   ·   Scope 3 (supply chain): eliminated by digital-only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Environmental Regulatory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EU and French regulations relevant to ArtEx at commercialisation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430000" cy="804672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EU Taxonomy Regulation
(2020/852)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38528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Defines "environmentally sustainable" economic activities. Digital trading platforms not yet classified — but ArtEx's zero-waste digital model aligns with the taxonomy spirit.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0" y="2084832"/>
            <a:ext cx="77724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91088" y="208483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Monitor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11430000" cy="804672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54864" cy="804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CSRD — Corporate Sustainability
Reporting Directive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71216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Companies &gt;250 employees must report Scope 1/2/3 emissions annually. Not applicable at POC; relevant if ArtEx scales commercially beyond startup phase.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0" y="3017520"/>
            <a:ext cx="77724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91088" y="30175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Future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94176"/>
            <a:ext cx="11430000" cy="804672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94176"/>
            <a:ext cx="54864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8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French Loi REEN (2021)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0390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French law on reducing digital technology's environmental footprint. Requires digital sobriety reports for platforms &gt;100K French users. Annual audit committed for Phase 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0" y="3950208"/>
            <a:ext cx="77724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91088" y="39502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</a:rPr>
              <a:t>Planned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26864"/>
            <a:ext cx="11430000" cy="804672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626864"/>
            <a:ext cx="54864" cy="8046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700016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MiCA — Markets in Crypto-Assets
(EU, 2023)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365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Requires crypto-asset service providers to disclose environmental info on consensus mechanisms. ArtEx's own infrastructure uses no blockchain — minimal obligation.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0" y="4882896"/>
            <a:ext cx="77724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91088" y="488289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D4BF"/>
                </a:solidFill>
              </a:rPr>
              <a:t>Low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59552"/>
            <a:ext cx="11430000" cy="804672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559552"/>
            <a:ext cx="54864" cy="80467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632704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GDPR — Data Protection
(EU, 2016/679)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66928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End-of-life data deletion per Article 17. Our LCA Phase 3 commitment includes GDPR-compliant data erasure, which also reduces residual server energy holding stale data.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0" y="5815584"/>
            <a:ext cx="77724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91088" y="581558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Environmental Commitments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What we promise to deliver — with timelines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17520" y="193852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94767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</a:rPr>
              <a:t>Q4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933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100% Renewable
Energy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03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Deploy on Vercel or Fly.io (RE100 certified). Net-zero Scope 2 emissions from day one of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2880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9080" y="1828800"/>
            <a:ext cx="34747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93852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9128" y="194767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D4BF"/>
                </a:solidFill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19933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PoS-Only
Blockchain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5603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If on-chain settlement is added, only Ethereum PoS or Layer 2 networks (Polygon, Arbitrum) are permitted.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828800"/>
            <a:ext cx="347472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424160" y="193852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42448" y="194767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</a:rPr>
              <a:t>Q1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19933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Carbon-Neutral
AI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5603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Select AI provider with verified carbon offsets, or evaluate efficient local model deployment for the AI Monitor.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048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34747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7520" y="395020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35808" y="395935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Q2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User Carbon
Transparency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5720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Display estimated CO₂e footprint per trading session in account settings — empowering users to make informed choices.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384048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69080" y="3840480"/>
            <a:ext cx="34747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20840" y="395020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9128" y="395935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Annual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Digital Sobriety
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3672" y="45720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Annual review of API call frequency, JS bundle size, server compute efficiency, and AI inference volume.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840480"/>
            <a:ext cx="3474720" cy="18288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384048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24160" y="3950208"/>
            <a:ext cx="731520" cy="256032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42448" y="395935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</a:rPr>
              <a:t>Q4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Artist
Sustainability Criteria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45720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Partner only with artists whose practice produces no physical waste (born-digital works only). No print-on-demand.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ArtEx  ·  Environmental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4864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Digital-first eliminates the largest sources of art market emissions (shipping, production, events).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98648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7614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No Proof-of-Work blockchain is used — zero chain-related emissions in the current POC.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57016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 eco-design principles are implemented: SPA, client-side VMM, CDN delivery, API minimisation.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15384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7822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Estimated footprint at 1K users: 15–30 kg CO₂e/month — negligible vs. physical alternatives.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73752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Green hosting (100% renewable) committed for Phase 5 production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5394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Annual digital sobriety audit planned; user-facing CO₂e transparency in Phase 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2C55E"/>
                </a:solidFill>
              </a:rPr>
              <a:t>"The most sustainable platform is one that replaces physical commerce entirely — that is ArtEx."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3745"/>
                </a:solidFill>
              </a:rPr>
              <a:t>ArtEx Team  ·  FP2ENG-25063  ·  EFREI Paris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1421</Words>
  <Application>Microsoft Office PowerPoint</Application>
  <PresentationFormat>自定义</PresentationFormat>
  <Paragraphs>189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黄禹豪</dc:creator>
  <cp:keywords/>
  <dc:description>generated using python-pptx</dc:description>
  <cp:lastModifiedBy>禹豪 黄</cp:lastModifiedBy>
  <cp:revision>2</cp:revision>
  <dcterms:created xsi:type="dcterms:W3CDTF">2013-01-27T09:14:16Z</dcterms:created>
  <dcterms:modified xsi:type="dcterms:W3CDTF">2026-06-15T14:05:58Z</dcterms:modified>
  <cp:category/>
</cp:coreProperties>
</file>