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52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1">
                <a:solidFill>
                  <a:srgbClr val="FFFFFF"/>
                </a:solidFill>
                <a:latin typeface="Georgia"/>
              </a:rPr>
              <a:t>ArtEx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88899"/>
                </a:solidFill>
                <a:latin typeface="Calibri"/>
              </a:rPr>
              <a:t>The Digital Art Exchange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703320"/>
            <a:ext cx="2286000" cy="2286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99"/>
                </a:solidFill>
                <a:latin typeface="Calibri"/>
              </a:rPr>
              <a:t>AI-powered fractional art investment for the digital 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EFREI Paris  ·  2025–2026  ·  L2 Innovation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Art investment is broken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201168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5486400" cy="2103120"/>
          </a:xfrm>
          <a:prstGeom prst="rect">
            <a:avLst/>
          </a:prstGeom>
          <a:solidFill>
            <a:srgbClr val="111116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8552A"/>
                </a:solidFill>
                <a:latin typeface="Calibri"/>
              </a:rPr>
              <a:t>$50K+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Minimum ticket size to buy a single blue-chip artwork — locking out 99% of investors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486400" cy="2103120"/>
          </a:xfrm>
          <a:prstGeom prst="rect">
            <a:avLst/>
          </a:prstGeom>
          <a:solidFill>
            <a:srgbClr val="111116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8552A"/>
                </a:solidFill>
                <a:latin typeface="Calibri"/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Secondary market liquidity for most physical art — you can wait years to exit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794760"/>
            <a:ext cx="5486400" cy="2103120"/>
          </a:xfrm>
          <a:prstGeom prst="rect">
            <a:avLst/>
          </a:prstGeom>
          <a:solidFill>
            <a:srgbClr val="111116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8552A"/>
                </a:solidFill>
                <a:latin typeface="Calibri"/>
              </a:rPr>
              <a:t>12–15%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Typical gallery/auction commission that eats into every transaction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794760"/>
            <a:ext cx="5486400" cy="2103120"/>
          </a:xfrm>
          <a:prstGeom prst="rect">
            <a:avLst/>
          </a:prstGeom>
          <a:solidFill>
            <a:srgbClr val="111116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8552A"/>
                </a:solidFill>
                <a:latin typeface="Calibri"/>
              </a:rPr>
              <a:t>Opaque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006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Pricing is negotiated behind closed doors — no transparent market price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 $67B market shifting online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228600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657600" cy="164592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$67B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Global art market
total value (2024)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1417320"/>
            <a:ext cx="3657600" cy="164592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5C518"/>
                </a:solidFill>
                <a:latin typeface="Calibri"/>
              </a:rPr>
              <a:t>$10.8B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Online art &amp;
collectibles 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38744" y="1417320"/>
            <a:ext cx="3657600" cy="164592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67344" y="1554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22C55E"/>
                </a:solidFill>
                <a:latin typeface="Calibri"/>
              </a:rPr>
              <a:t>+12%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YoY online segment
growth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46120"/>
            <a:ext cx="11365992" cy="12700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 Art Basel / UBS 2024 Report: online art sales reached $10.8B, up from $8.4B in 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953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•  73% of new collectors (under 40) say they prefer to discover and buy art digitally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074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•  Digital art (NFTs + licensed digital works) is the fastest-growing sub-category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194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•  Traditional platforms (Christie's, Sotheby's) are not built for retail — minimum lots $5,000+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315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•  No existing platform combines fractional ownership + AI advisory + leveraged trading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Existing platforms leave a critical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256032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200400" cy="502920"/>
          </a:xfrm>
          <a:prstGeom prst="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463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99"/>
                </a:solidFill>
                <a:latin typeface="Calibri"/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1417320"/>
            <a:ext cx="2103120" cy="502920"/>
          </a:xfrm>
          <a:prstGeom prst="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21608" y="14630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99"/>
                </a:solidFill>
                <a:latin typeface="Calibri"/>
              </a:rPr>
              <a:t>Artsy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417320"/>
            <a:ext cx="2103120" cy="502920"/>
          </a:xfrm>
          <a:prstGeom prst="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24728" y="14630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99"/>
                </a:solidFill>
                <a:latin typeface="Calibri"/>
              </a:rPr>
              <a:t>OpenSea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417320"/>
            <a:ext cx="2103120" cy="50292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46304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ArtEx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93392"/>
            <a:ext cx="11365992" cy="566928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7" y="20665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Fractional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0665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555"/>
                </a:solidFill>
                <a:latin typeface="Calibri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0665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555"/>
                </a:solidFill>
                <a:latin typeface="Calibri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0665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96896"/>
            <a:ext cx="11365992" cy="566928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2670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AI Buy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670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555"/>
                </a:solidFill>
                <a:latin typeface="Calibri"/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670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555"/>
                </a:solidFill>
                <a:latin typeface="Calibri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670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200400"/>
            <a:ext cx="11365992" cy="566928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32735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Leveraged Trading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3273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555"/>
                </a:solidFill>
                <a:latin typeface="Calibri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273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555"/>
                </a:solidFill>
                <a:latin typeface="Calibri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3273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803904"/>
            <a:ext cx="11365992" cy="566928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7" y="387705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Traditional 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38770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8770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555"/>
                </a:solidFill>
                <a:latin typeface="Calibri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8770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407408"/>
            <a:ext cx="11365992" cy="566928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7" y="4480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Digital / NFT 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555"/>
                </a:solidFill>
                <a:latin typeface="Calibri"/>
              </a:rPr>
              <a:t>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010912"/>
            <a:ext cx="11365992" cy="566928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7" y="508406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Active Price Discovery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50840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555"/>
                </a:solidFill>
                <a:latin typeface="Calibri"/>
              </a:rP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50840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  <a:latin typeface="Calibri"/>
              </a:rPr>
              <a:t>Volatile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50840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614416"/>
            <a:ext cx="11365992" cy="566928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207" y="56875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Retail Accessible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40" y="56875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555"/>
                </a:solidFill>
                <a:latin typeface="Calibri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56875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  <a:latin typeface="Calibri"/>
              </a:rPr>
              <a:t>Partial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56875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ArtEx — Where Art Meets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256032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99"/>
                </a:solidFill>
                <a:latin typeface="Calibri"/>
              </a:rPr>
              <a:t>ArtEx is a web platform that democratises digital art investment through fractional ownership, AI-powered advisory, and a transparent secondary market — accessible from any browser.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286000"/>
            <a:ext cx="2788920" cy="411480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Fractional
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Buy as little as 0.1% of a digital artwork.
No $50K barriers — invest from any amount.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2286000"/>
            <a:ext cx="2788920" cy="411480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93592" y="2468880"/>
            <a:ext cx="457200" cy="457200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063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AI 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84048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DeepSeek-powered chat assistant analyses
market trends and surfaces personalised picks.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8504" y="2286000"/>
            <a:ext cx="2788920" cy="411480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47104" y="2468880"/>
            <a:ext cx="457200" cy="457200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47104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063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Leveraged
Perpetuals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84048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Up to 5× leverage on art price exposure.
GBM-based price simulation with live P&amp;L.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2015" y="2286000"/>
            <a:ext cx="2788920" cy="411480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00615" y="2468880"/>
            <a:ext cx="457200" cy="457200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0615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3063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Active
Secondary 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5" y="384048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Resell your shares instantly at the current
market price — true liquidity for 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B45A264-7BB2-9D6C-680B-33FB9D7F008D}"/>
              </a:ext>
            </a:extLst>
          </p:cNvPr>
          <p:cNvSpPr txBox="1"/>
          <p:nvPr/>
        </p:nvSpPr>
        <p:spPr>
          <a:xfrm>
            <a:off x="3047654" y="3244334"/>
            <a:ext cx="609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DCBD5B-975E-7132-4A63-A289D196320E}"/>
              </a:ext>
            </a:extLst>
          </p:cNvPr>
          <p:cNvSpPr txBox="1"/>
          <p:nvPr/>
        </p:nvSpPr>
        <p:spPr>
          <a:xfrm>
            <a:off x="3047654" y="3244334"/>
            <a:ext cx="609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7F59743-0A62-7B3C-895D-4A016F454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8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USER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Four distinct user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201168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788920" cy="5074920"/>
          </a:xfrm>
          <a:prstGeom prst="rect">
            <a:avLst/>
          </a:prstGeom>
          <a:solidFill>
            <a:srgbClr val="111116"/>
          </a:solidFill>
          <a:ln w="9525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788920" cy="109728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25880" y="1645920"/>
            <a:ext cx="960120" cy="960120"/>
          </a:xfrm>
          <a:prstGeom prst="ellipse">
            <a:avLst/>
          </a:prstGeom>
          <a:solidFill>
            <a:srgbClr val="1A1A25"/>
          </a:solidFill>
          <a:ln w="19050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645920"/>
            <a:ext cx="960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52A"/>
                </a:solidFill>
                <a:latin typeface="Calibri"/>
              </a:rPr>
              <a:t>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Retail
Art Investor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Age 25–45 · mid income
Wants portfolio diversification beyond stocks
Locked out by high minimums of physical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417320"/>
            <a:ext cx="2788920" cy="5074920"/>
          </a:xfrm>
          <a:prstGeom prst="rect">
            <a:avLst/>
          </a:prstGeom>
          <a:solidFill>
            <a:srgbClr val="111116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64992" y="1417320"/>
            <a:ext cx="278892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79392" y="1645920"/>
            <a:ext cx="960120" cy="960120"/>
          </a:xfrm>
          <a:prstGeom prst="ellipse">
            <a:avLst/>
          </a:prstGeom>
          <a:solidFill>
            <a:srgbClr val="1A1A2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1645920"/>
            <a:ext cx="960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Calibri"/>
              </a:rPr>
              <a:t>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743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Digital Art
Collector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5204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Age 20–35 · tech-savvy
Collects digital works for passion &amp; value
Needs a transparent pricing mechanism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8504" y="1417320"/>
            <a:ext cx="2788920" cy="5074920"/>
          </a:xfrm>
          <a:prstGeom prst="rect">
            <a:avLst/>
          </a:prstGeom>
          <a:solidFill>
            <a:srgbClr val="111116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18504" y="1417320"/>
            <a:ext cx="27889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232904" y="1645920"/>
            <a:ext cx="960120" cy="960120"/>
          </a:xfrm>
          <a:prstGeom prst="ellipse">
            <a:avLst/>
          </a:prstGeom>
          <a:solidFill>
            <a:srgbClr val="1A1A2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32904" y="1645920"/>
            <a:ext cx="960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  <a:latin typeface="Calibri"/>
              </a:rPr>
              <a:t>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743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Crypto-Native
Trader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35204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Age 22–40 · crypto fluent
Familiar with leverage &amp; perpetuals
Looks for non-correlated assets beyond BTC/ETH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72015" y="1417320"/>
            <a:ext cx="2788920" cy="5074920"/>
          </a:xfrm>
          <a:prstGeom prst="rect">
            <a:avLst/>
          </a:prstGeom>
          <a:solidFill>
            <a:srgbClr val="111116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72015" y="1417320"/>
            <a:ext cx="2788920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6415" y="1645920"/>
            <a:ext cx="960120" cy="960120"/>
          </a:xfrm>
          <a:prstGeom prst="ellipse">
            <a:avLst/>
          </a:prstGeom>
          <a:solidFill>
            <a:srgbClr val="1A1A25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86415" y="1645920"/>
            <a:ext cx="960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  <a:latin typeface="Calibri"/>
              </a:rPr>
              <a:t>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5" y="2743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Curious
Enthusiast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5" y="35204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Age 18–30 · student / early career
Passionate about art but can't afford entry
Needs guidance + fractional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PLATFORM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Everything you need to trade digital 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256032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3657600" cy="2331720"/>
          </a:xfrm>
          <a:prstGeom prst="rect">
            <a:avLst/>
          </a:prstGeom>
          <a:solidFill>
            <a:srgbClr val="111116"/>
          </a:solidFill>
          <a:ln w="9525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691640"/>
            <a:ext cx="164592" cy="164592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Gallery &amp;
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Browse 200+ curated digital artworks. Filter by style, artist, price range. Real-time price charts powered by GBM simulation.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657600" cy="2331720"/>
          </a:xfrm>
          <a:prstGeom prst="rect">
            <a:avLst/>
          </a:prstGeom>
          <a:solidFill>
            <a:srgbClr val="111116"/>
          </a:solidFill>
          <a:ln w="9525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0" y="1691640"/>
            <a:ext cx="164592" cy="164592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62763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Personal
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67712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Chat with DeepSeek AI for buy/sell recommendations. AI profiles your risk appetite and monitors price alerts for you.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1463040"/>
            <a:ext cx="3657600" cy="2331720"/>
          </a:xfrm>
          <a:prstGeom prst="rect">
            <a:avLst/>
          </a:prstGeom>
          <a:solidFill>
            <a:srgbClr val="111116"/>
          </a:solidFill>
          <a:ln w="9525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19" y="1691640"/>
            <a:ext cx="164592" cy="164592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162763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Leveraged
Trading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267712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Open long/short positions with up to 5x leverage. Live P&amp;L tracking, margin display, one-click trade execution.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77639"/>
            <a:ext cx="3657600" cy="2331720"/>
          </a:xfrm>
          <a:prstGeom prst="rect">
            <a:avLst/>
          </a:prstGeom>
          <a:solidFill>
            <a:srgbClr val="111116"/>
          </a:solidFill>
          <a:ln w="9525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4206240"/>
            <a:ext cx="164592" cy="164592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14223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Portfolio &amp;
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Real-time portfolio dashboard, allocation pie chart, BTC/USD balance, position history, and performance metrics.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977639"/>
            <a:ext cx="3657600" cy="2331720"/>
          </a:xfrm>
          <a:prstGeom prst="rect">
            <a:avLst/>
          </a:prstGeom>
          <a:solidFill>
            <a:srgbClr val="111116"/>
          </a:solidFill>
          <a:ln w="9525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72000" y="4206240"/>
            <a:ext cx="164592" cy="164592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414223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Account &amp;
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82312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Email registration, JWT auth, Google OAuth (coming), forgot-password via email, delete-account with confirmation.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3977639"/>
            <a:ext cx="3657600" cy="2331720"/>
          </a:xfrm>
          <a:prstGeom prst="rect">
            <a:avLst/>
          </a:prstGeom>
          <a:solidFill>
            <a:srgbClr val="111116"/>
          </a:solidFill>
          <a:ln w="9525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03919" y="4206240"/>
            <a:ext cx="164592" cy="164592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0" y="414223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Subscription
Tiers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4782312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Free tier: browse + small fractions. Pro tier: full leverage, AI advisor, real-time alerts, portfolio export.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Multiple revenue streams from day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228600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2788920" cy="438912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2788920" cy="73152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Trading
Commission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5C518"/>
                </a:solidFill>
                <a:latin typeface="Calibri"/>
              </a:rPr>
              <a:t>0.5–1.5%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Fee on every buy/sell transaction.
Scales directly with trading volume.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463040"/>
            <a:ext cx="2788920" cy="438912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4992" y="1463040"/>
            <a:ext cx="2788920" cy="73152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600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
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317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5C518"/>
                </a:solidFill>
                <a:latin typeface="Calibri"/>
              </a:rPr>
              <a:t>$9.99/mo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0632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Unlocks AI advisor, full leverage,
real-time price alerts, portfolio export.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8504" y="1463040"/>
            <a:ext cx="2788920" cy="438912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18504" y="1463040"/>
            <a:ext cx="2788920" cy="73152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104" y="1600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Artist
Listing 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3317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5C518"/>
                </a:solidFill>
                <a:latin typeface="Calibri"/>
              </a:rPr>
              <a:t>$49–$199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0632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Artists pay to list and tokenise their
digital works on the platform.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72015" y="1463040"/>
            <a:ext cx="2788920" cy="4389120"/>
          </a:xfrm>
          <a:prstGeom prst="rect">
            <a:avLst/>
          </a:prstGeom>
          <a:solidFill>
            <a:srgbClr val="111116"/>
          </a:solidFill>
          <a:ln w="9525">
            <a:solidFill>
              <a:srgbClr val="25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72015" y="1463040"/>
            <a:ext cx="2788920" cy="73152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0615" y="1600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Spread
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5" y="23317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5C518"/>
                </a:solidFill>
                <a:latin typeface="Calibri"/>
              </a:rPr>
              <a:t>Maker/Taker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30632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Bid-ask spread on perpetual contracts
captured by the platform as market maker.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080760"/>
            <a:ext cx="11365992" cy="12700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Positioning: B2C SaaS + transaction revenue  ·  Target break-even at 2,000 active monthly traders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Modern, production-ready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201168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2788920" cy="5074920"/>
          </a:xfrm>
          <a:prstGeom prst="rect">
            <a:avLst/>
          </a:prstGeom>
          <a:solidFill>
            <a:srgbClr val="111116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278892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— Vue 3 + Composition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Pinia state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Tailwind CSS (dark design system)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80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Vite 6 build tool + proxy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463040"/>
            <a:ext cx="2788920" cy="5074920"/>
          </a:xfrm>
          <a:prstGeom prst="rect">
            <a:avLst/>
          </a:prstGeom>
          <a:solidFill>
            <a:srgbClr val="111116"/>
          </a:solidFill>
          <a:ln w="9525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64992" y="1463040"/>
            <a:ext cx="2788920" cy="41148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1481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— Spring Boot 4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MyBatis + MySQL 8.0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657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JWT authentication (HMAC256)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480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Global exception handling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8504" y="1463040"/>
            <a:ext cx="2788920" cy="5074920"/>
          </a:xfrm>
          <a:prstGeom prst="rect">
            <a:avLst/>
          </a:prstGeom>
          <a:solidFill>
            <a:srgbClr val="111116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18504" y="1463040"/>
            <a:ext cx="278892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1481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 /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— DeepSeek LLM via Dify proxy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GBM price simulation (client-side)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3657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Personalised risk profiling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480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Real-time price alert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2015" y="1463040"/>
            <a:ext cx="2788920" cy="5074920"/>
          </a:xfrm>
          <a:prstGeom prst="rect">
            <a:avLst/>
          </a:prstGeom>
          <a:solidFill>
            <a:srgbClr val="111116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72015" y="1463040"/>
            <a:ext cx="278892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09176" y="1481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EXTERNAL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5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— CoinGecko API (BTC/ETH price)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5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BlockCypher (blockchain data)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5" y="3657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Google GSI (OAuth 2.0 ready)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5" y="4480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— Vercel / cloud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ENVIRONMENTAL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Art without the carbon footprint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201168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5212080" cy="2560320"/>
          </a:xfrm>
          <a:prstGeom prst="rect">
            <a:avLst/>
          </a:prstGeom>
          <a:solidFill>
            <a:srgbClr val="180A0A"/>
          </a:solidFill>
          <a:ln w="9525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Calibri"/>
              </a:rPr>
              <a:t>Physical Art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5555"/>
                </a:solidFill>
                <a:latin typeface="Calibri"/>
              </a:rPr>
              <a:t>30,000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tonnes CO₂e  (Art Basel 2023, single event)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10312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8899"/>
                </a:solidFill>
                <a:latin typeface="Calibri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463040"/>
            <a:ext cx="5285232" cy="2560320"/>
          </a:xfrm>
          <a:prstGeom prst="rect">
            <a:avLst/>
          </a:prstGeom>
          <a:solidFill>
            <a:srgbClr val="06120A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572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  <a:latin typeface="Calibri"/>
              </a:rPr>
              <a:t>ArtEx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22C55E"/>
                </a:solidFill>
                <a:latin typeface="Calibri"/>
              </a:rPr>
              <a:t>15–30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80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kg CO₂e / month  (at 1,000 daily active users)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206240"/>
            <a:ext cx="11365992" cy="12700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Our 5 eco-design commitments: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091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  ✓  No Proof-of-Work blockchain — we use certificate-based digital provenance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111496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  ✓  100% renewable energy cloud hosting target by end of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513832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  ✓  Eco-design: lazy loading, efficient queries, minimal JS bundle (&lt; 250 kB gzipped)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91616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  ✓  No physical shipping, no printed catalogues, no intercontinental art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31850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  ✓  Carbon calculator available in-app so users see their impact per trade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OUR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Built by six EFREI engineers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182880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3657600" cy="2423160"/>
          </a:xfrm>
          <a:prstGeom prst="rect">
            <a:avLst/>
          </a:prstGeom>
          <a:solidFill>
            <a:srgbClr val="111116"/>
          </a:solidFill>
          <a:ln w="9525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1691640"/>
            <a:ext cx="685800" cy="685800"/>
          </a:xfrm>
          <a:prstGeom prst="ellipse">
            <a:avLst/>
          </a:prstGeom>
          <a:solidFill>
            <a:srgbClr val="1A1A25"/>
          </a:solidFill>
          <a:ln w="19050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552A"/>
                </a:solidFill>
                <a:latin typeface="Calibri"/>
              </a:rPr>
              <a:t>YH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Yuhao Huang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031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552A"/>
                </a:solidFill>
                <a:latin typeface="Calibri"/>
              </a:rPr>
              <a:t>Team Lead · PM · Design ·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Calibri"/>
              </a:rPr>
              <a:t>Vue 3 frontend, Tailwind UI, Vite config,
project management, AI feature integration,
deployment &amp; design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657600" cy="2423160"/>
          </a:xfrm>
          <a:prstGeom prst="rect">
            <a:avLst/>
          </a:prstGeom>
          <a:solidFill>
            <a:srgbClr val="111116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1691640"/>
            <a:ext cx="685800" cy="685800"/>
          </a:xfrm>
          <a:prstGeom prst="ellipse">
            <a:avLst/>
          </a:prstGeom>
          <a:solidFill>
            <a:srgbClr val="1A1A2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Yinghui 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1031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Backend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6032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Calibri"/>
              </a:rPr>
              <a:t>Spring Boot REST API, MyBatis/MySQL,
JWT auth, user controller,
Spring 4 migration &amp; endpoint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463040"/>
            <a:ext cx="3657600" cy="2423160"/>
          </a:xfrm>
          <a:prstGeom prst="rect">
            <a:avLst/>
          </a:prstGeom>
          <a:solidFill>
            <a:srgbClr val="111116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58199" y="1691640"/>
            <a:ext cx="685800" cy="685800"/>
          </a:xfrm>
          <a:prstGeom prst="ellipse">
            <a:avLst/>
          </a:prstGeom>
          <a:solidFill>
            <a:srgbClr val="1A1A2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199" y="16916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Lena Makri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1031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Backend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256032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Calibri"/>
              </a:rPr>
              <a:t>Spring Boot API co-dev,
MyBatis mapper layer,
data modelling &amp; database queries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69080"/>
            <a:ext cx="3657600" cy="2423160"/>
          </a:xfrm>
          <a:prstGeom prst="rect">
            <a:avLst/>
          </a:prstGeom>
          <a:solidFill>
            <a:srgbClr val="111116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94360" y="4297680"/>
            <a:ext cx="685800" cy="685800"/>
          </a:xfrm>
          <a:prstGeom prst="ellipse">
            <a:avLst/>
          </a:prstGeom>
          <a:solidFill>
            <a:srgbClr val="1A1A25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2976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518"/>
                </a:solidFill>
                <a:latin typeface="Calibri"/>
              </a:rPr>
              <a:t>BJ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2976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Berena-Jackie
Douanla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7091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518"/>
                </a:solidFill>
                <a:latin typeface="Calibri"/>
              </a:rPr>
              <a:t>Market 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16636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Calibri"/>
              </a:rPr>
              <a:t>Competitor analysis (Artsy / OpenSea),
market sizing (TAM/SAM/SOM),
user survey &amp; feasibility study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069080"/>
            <a:ext cx="3657600" cy="2423160"/>
          </a:xfrm>
          <a:prstGeom prst="rect">
            <a:avLst/>
          </a:prstGeom>
          <a:solidFill>
            <a:srgbClr val="111116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26280" y="4297680"/>
            <a:ext cx="685800" cy="685800"/>
          </a:xfrm>
          <a:prstGeom prst="ellipse">
            <a:avLst/>
          </a:prstGeom>
          <a:solidFill>
            <a:srgbClr val="1A1A2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42976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2976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Nelson-Harold
Kamteu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7091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UML &amp;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16636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Calibri"/>
              </a:rPr>
              <a:t>Use-case diagrams, class diagrams,
sequence diagrams, system architecture
and technical documentation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19" y="4069080"/>
            <a:ext cx="3657600" cy="2423160"/>
          </a:xfrm>
          <a:prstGeom prst="rect">
            <a:avLst/>
          </a:prstGeom>
          <a:solidFill>
            <a:srgbClr val="111116"/>
          </a:solidFill>
          <a:ln w="9525">
            <a:solidFill>
              <a:srgbClr val="C0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458199" y="4297680"/>
            <a:ext cx="685800" cy="685800"/>
          </a:xfrm>
          <a:prstGeom prst="ellipse">
            <a:avLst/>
          </a:prstGeom>
          <a:solidFill>
            <a:srgbClr val="1A1A25"/>
          </a:solidFill>
          <a:ln w="19050">
            <a:solidFill>
              <a:srgbClr val="C0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199" y="42976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84FF"/>
                </a:solidFill>
                <a:latin typeface="Calibri"/>
              </a:rPr>
              <a:t>JM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59" y="42976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Junior Mevi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59" y="47091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84FF"/>
                </a:solidFill>
                <a:latin typeface="Calibri"/>
              </a:rPr>
              <a:t>AI Skill Writing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199" y="516636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Calibri"/>
              </a:rPr>
              <a:t>Dify AI skill authoring,
prompt engineering for the art advisor,
AI training data &amp; scenario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52A"/>
                </a:solidFill>
                <a:latin typeface="Calibri"/>
              </a:rP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What's coming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164592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3657600" cy="4114800"/>
          </a:xfrm>
          <a:prstGeom prst="rect">
            <a:avLst/>
          </a:prstGeom>
          <a:solidFill>
            <a:srgbClr val="111116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36576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Phase 1
(Done)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▸  Frontend UI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644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  ▸  JWT auth +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3133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  ▸  AI chat advisor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982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  ▸  6 artworks seeded in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657600" cy="4114800"/>
          </a:xfrm>
          <a:prstGeom prst="rect">
            <a:avLst/>
          </a:prstGeom>
          <a:solidFill>
            <a:srgbClr val="111116"/>
          </a:solidFill>
          <a:ln w="9525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657600" cy="9144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5727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52A"/>
                </a:solidFill>
                <a:latin typeface="Calibri"/>
              </a:rPr>
              <a:t>Phase 2
Q3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97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▸  Google OAuth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2644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  ▸  Forgot-password email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83133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  ▸  Artist onboarding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982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  ▸  Mobile-responsive redesign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1463040"/>
            <a:ext cx="3657600" cy="4114800"/>
          </a:xfrm>
          <a:prstGeom prst="rect">
            <a:avLst/>
          </a:prstGeom>
          <a:solidFill>
            <a:srgbClr val="111116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19" y="1463040"/>
            <a:ext cx="365760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19" y="15727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  <a:latin typeface="Calibri"/>
              </a:rPr>
              <a:t>Phase 3
Q4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199" y="2697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▸  Real fractional ownership (legal)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199" y="32644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  ▸  Stripe payment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199" y="383133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  ▸  Carbon footprint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9" y="43982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  <a:latin typeface="Calibri"/>
              </a:rPr>
              <a:t>  ▸  Public beta launch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760720"/>
            <a:ext cx="11365992" cy="82296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58338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ArtEx — Making art investment as liquid and accessible as the stock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1250</Words>
  <Application>Microsoft Office PowerPoint</Application>
  <PresentationFormat>自定义</PresentationFormat>
  <Paragraphs>203</Paragraphs>
  <Slides>13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禹豪 黄</cp:lastModifiedBy>
  <cp:revision>2</cp:revision>
  <dcterms:created xsi:type="dcterms:W3CDTF">2013-01-27T09:14:16Z</dcterms:created>
  <dcterms:modified xsi:type="dcterms:W3CDTF">2026-06-29T10:55:37Z</dcterms:modified>
  <cp:category/>
</cp:coreProperties>
</file>