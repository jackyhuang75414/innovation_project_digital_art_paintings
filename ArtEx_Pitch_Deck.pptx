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3" d="100"/>
          <a:sy n="143" d="100"/>
        </p:scale>
        <p:origin x="95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1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4592" y="4434840"/>
            <a:ext cx="12188952" cy="1051560"/>
          </a:xfrm>
          <a:prstGeom prst="rect">
            <a:avLst/>
          </a:prstGeom>
          <a:solidFill>
            <a:srgbClr val="11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1">
                <a:solidFill>
                  <a:srgbClr val="FFFFFF"/>
                </a:solidFill>
                <a:latin typeface="Georgia"/>
              </a:rPr>
              <a:t>ArtEx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CA3AF"/>
                </a:solidFill>
                <a:latin typeface="Calibri"/>
              </a:rPr>
              <a:t>Fractional Art Trading · Perpetual Futures · AI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Calibri"/>
              </a:rPr>
              <a:t>EFREI Innovation Project  ·  2025–2026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120640"/>
            <a:ext cx="2011680" cy="347472"/>
          </a:xfrm>
          <a:prstGeom prst="rect">
            <a:avLst/>
          </a:prstGeom>
          <a:solidFill>
            <a:srgbClr val="3A150A"/>
          </a:solidFill>
          <a:ln w="12700">
            <a:solidFill>
              <a:srgbClr val="E85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13892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552A"/>
                </a:solidFill>
                <a:latin typeface="Calibri"/>
              </a:rPr>
              <a:t>Blockchain-Native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5120640"/>
            <a:ext cx="2011680" cy="347472"/>
          </a:xfrm>
          <a:prstGeom prst="rect">
            <a:avLst/>
          </a:prstGeom>
          <a:solidFill>
            <a:srgbClr val="261140"/>
          </a:solidFill>
          <a:ln w="12700">
            <a:solidFill>
              <a:srgbClr val="994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513892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45FF"/>
                </a:solidFill>
                <a:latin typeface="Calibri"/>
              </a:rPr>
              <a:t>AI-Automated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5120640"/>
            <a:ext cx="2011680" cy="347472"/>
          </a:xfrm>
          <a:prstGeom prst="rect">
            <a:avLst/>
          </a:prstGeom>
          <a:solidFill>
            <a:srgbClr val="08311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513892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VMM Liquidity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2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E8552A"/>
                </a:solidFill>
                <a:latin typeface="Calibri"/>
              </a:rPr>
              <a:t>PLATFORM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FFFFF"/>
                </a:solidFill>
                <a:latin typeface="Georgia"/>
              </a:rPr>
              <a:t>What is ArtEx?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  <a:latin typeface="Calibri"/>
              </a:rPr>
              <a:t>Premium digital artworks are tokenised into 1,000,000 tradeable fractional shares each.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50592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Spot Trading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45536"/>
            <a:ext cx="9784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Buy or sell any number of shares at the live market price denominated in BTC, ETH, SOL, BNB or XRP.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93008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Perpetual Futures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87952"/>
            <a:ext cx="9784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Go long or short on art price movements with up to 50× leverage, using BTC as collateral.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35424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AI Trading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30368"/>
            <a:ext cx="9784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Deploy built-in momentum / mean-reversion / grid bots, or connect any custom AI via REST API.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7784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925312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Wallet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272784"/>
            <a:ext cx="9784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MetaMask, Coinbase Wallet, Phantom (Solana) and WalletConnect supported.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371600"/>
            <a:ext cx="3657600" cy="4846320"/>
          </a:xfrm>
          <a:prstGeom prst="rect">
            <a:avLst/>
          </a:prstGeom>
          <a:solidFill>
            <a:srgbClr val="111116"/>
          </a:solidFill>
          <a:ln w="12700">
            <a:solidFill>
              <a:srgbClr val="1E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16002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Shares per artwork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9748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9E0B"/>
                </a:solidFill>
                <a:latin typeface="Calibri"/>
              </a:rPr>
              <a:t>50×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Max leverage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7947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Top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97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Crypto currencies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9204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45FF"/>
                </a:solidFill>
                <a:latin typeface="Calibri"/>
              </a:rPr>
              <a:t>2s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5394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VMM tick interval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3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E8552A"/>
                </a:solidFill>
                <a:latin typeface="Calibri"/>
              </a:rPr>
              <a:t>LEVERAGE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FFFFF"/>
                </a:solidFill>
                <a:latin typeface="Georgia"/>
              </a:rPr>
              <a:t>Perpetual Futures on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6217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96312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User deposits BTC margin → receives USD notional exposure × leverage.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43784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Art price moves in your favour → profits returned as BTC.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1256"/>
            <a:ext cx="6217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538728"/>
            <a:ext cx="6217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Double Volatility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86200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59E0B"/>
                </a:solidFill>
                <a:latin typeface="Calibri"/>
              </a:rPr>
              <a:t>• Art price uncertainty  ×  BTC price volatility  =  compounded leverage.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33672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Even if art price stays flat, BTC collateral drift affects margin ratio.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81144"/>
            <a:ext cx="6217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928616"/>
            <a:ext cx="6217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Funding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76088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Paid between longs and shorts every 8h to keep perp price anchored to spot.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463040"/>
            <a:ext cx="4297680" cy="4937760"/>
          </a:xfrm>
          <a:prstGeom prst="rect">
            <a:avLst/>
          </a:prstGeom>
          <a:solidFill>
            <a:srgbClr val="111116"/>
          </a:solidFill>
          <a:ln w="12700">
            <a:solidFill>
              <a:srgbClr val="1E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26679" y="1600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4B5563"/>
                </a:solidFill>
                <a:latin typeface="Calibri"/>
              </a:rPr>
              <a:t>KEY FORMULAS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19659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Notional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9659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= Margin (BTC) × BTC/USD × Leverage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6517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PnL (Long)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517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= (Pₜ − P₀) / P₀  ×  Notional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375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Margin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3375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= (Margin × BTC/USD + PnL) / Notional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40233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Liq. Price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0233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= P₀ × (1 − 1/Lev + 0.5%)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7091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10×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7091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Liquidated after ~9.5% adverse move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3949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50×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949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Liquidated after ~1.5% adverse move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4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22C55E"/>
                </a:solidFill>
                <a:latin typeface="Calibri"/>
              </a:rPr>
              <a:t>LIQUIDITY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FFFFF"/>
                </a:solidFill>
                <a:latin typeface="Georgia"/>
              </a:rPr>
              <a:t>Virtual Market Maker (VMM)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Calibri"/>
              </a:rPr>
              <a:t>The cold-start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A new marketplace has no organic order flow — no liquidity = no traders.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25496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VMM seeds the market with synthetic bid/ask depth from day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824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502152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C55E"/>
                </a:solidFill>
                <a:latin typeface="Calibri"/>
              </a:rPr>
              <a:t>Geometric Brownian Motion (GBM)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40480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59E0B"/>
                </a:solidFill>
                <a:latin typeface="Calibri"/>
              </a:rPr>
              <a:t>• Price follows:  Sₜ₊₁ = Sₜ · exp( (μ − σ²/2)·Δt + σ·ε·√Δt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78808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μ = 0.00006  (slight upward drift)     σ = 0.008  (per 2s tick)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517136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ε ~ N(0,1) via Box-Muller transform — true randomness, not pseudo-uniform.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55464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193792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C55E"/>
                </a:solidFill>
                <a:latin typeface="Calibri"/>
              </a:rPr>
              <a:t>Order Book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532120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10 VMM levels per side at ±0.3 % spacing, regenerated every 2 seconds.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870448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3–5 fake 'user' orders injected randomly to create organic-looking depth.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08776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6547104"/>
            <a:ext cx="777240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C55E"/>
                </a:solidFill>
                <a:latin typeface="Calibri"/>
              </a:rPr>
              <a:t>BTC Simulation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6885432"/>
            <a:ext cx="74980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Calibri"/>
              </a:rPr>
              <a:t>• Independent GBM for BTC/USD (σ = 0.015) — directly affects perp collateral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2011680"/>
            <a:ext cx="2834640" cy="4114800"/>
          </a:xfrm>
          <a:prstGeom prst="rect">
            <a:avLst/>
          </a:prstGeom>
          <a:solidFill>
            <a:srgbClr val="111116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0" y="224028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Tick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2402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2 000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83464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Spread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8346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±0.3 %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4290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Depth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34290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10 levels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02336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Drift 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40233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+ 0.006 %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46177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Vol 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46177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0.8 % / tick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21208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52120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200 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5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59E0B"/>
                </a:solidFill>
                <a:latin typeface="Calibri"/>
              </a:rPr>
              <a:t>REVENUE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 dirty="0">
                <a:solidFill>
                  <a:srgbClr val="FFFFFF"/>
                </a:solidFill>
                <a:latin typeface="Georgia"/>
              </a:rPr>
              <a:t>How the Platform Makes Money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5394960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E85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109728" cy="132588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1671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52A"/>
                </a:solidFill>
                <a:latin typeface="Calibri"/>
              </a:rPr>
              <a:t>Trading Fees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56032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0.1–0.3% per executed spot trade. Volume-driven — the more active the market, the higher the revenue.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057400"/>
            <a:ext cx="5394960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2057400"/>
            <a:ext cx="109728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21671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Spread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56032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VMM earns the bid-ask spread on every trade it fills. At high tick-volume this compounds rapidly.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20440"/>
            <a:ext cx="5394960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520440"/>
            <a:ext cx="109728" cy="13258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6301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alibri"/>
              </a:rPr>
              <a:t>Perpetual Funding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02336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Platform captures a portion of the funding rate flow between longs and shorts (typically 0.01–0.03% / 8h).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20440"/>
            <a:ext cx="5394960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994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3520440"/>
            <a:ext cx="109728" cy="132588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01968" y="36301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945FF"/>
                </a:solidFill>
                <a:latin typeface="Calibri"/>
              </a:rPr>
              <a:t>AI Custody Fees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02336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2% annual management fee on assets under AI agent management (AUM). Scales with platform adoption.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983480"/>
            <a:ext cx="5394960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983480"/>
            <a:ext cx="109728" cy="1325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5093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Premium Strategies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48640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Subscription tiers: access to advanced AI models, custom endpoint priority, higher leverage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983480"/>
            <a:ext cx="5394960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0" y="4983480"/>
            <a:ext cx="109728" cy="13258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01968" y="5093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Artwork Listing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5486400"/>
            <a:ext cx="5029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One-time tokenisation fee paid by galleries / artists to list new works. Creates curation revenue.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6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E8552A"/>
                </a:solidFill>
                <a:latin typeface="Calibri"/>
              </a:rPr>
              <a:t>GROWTH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 dirty="0">
                <a:solidFill>
                  <a:srgbClr val="FFFFFF"/>
                </a:solidFill>
                <a:latin typeface="Georgia"/>
              </a:rPr>
              <a:t>The Platform Flywheel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9199" y="1895559"/>
            <a:ext cx="1463040" cy="768096"/>
          </a:xfrm>
          <a:prstGeom prst="rect">
            <a:avLst/>
          </a:prstGeom>
          <a:solidFill>
            <a:srgbClr val="2E1108"/>
          </a:solidFill>
          <a:ln w="19050">
            <a:solidFill>
              <a:srgbClr val="E85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64919" y="1913847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E8552A"/>
                </a:solidFill>
                <a:latin typeface="Calibri"/>
              </a:rPr>
              <a:t>More
Artworks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05977" y="3285595"/>
            <a:ext cx="1463040" cy="768096"/>
          </a:xfrm>
          <a:prstGeom prst="rect">
            <a:avLst/>
          </a:prstGeom>
          <a:solidFill>
            <a:srgbClr val="082712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1697" y="3303883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2C55E"/>
                </a:solidFill>
                <a:latin typeface="Calibri"/>
              </a:rPr>
              <a:t>Deeper
Liquidity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36763" y="5534722"/>
            <a:ext cx="1463040" cy="768096"/>
          </a:xfrm>
          <a:prstGeom prst="rect">
            <a:avLst/>
          </a:prstGeom>
          <a:solidFill>
            <a:srgbClr val="1F0D33"/>
          </a:solidFill>
          <a:ln w="19050">
            <a:solidFill>
              <a:srgbClr val="994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82483" y="555301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45FF"/>
                </a:solidFill>
                <a:latin typeface="Calibri"/>
              </a:rPr>
              <a:t>More
Traders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01634" y="5534722"/>
            <a:ext cx="1463040" cy="768096"/>
          </a:xfrm>
          <a:prstGeom prst="rect">
            <a:avLst/>
          </a:prstGeom>
          <a:solidFill>
            <a:srgbClr val="301F0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7354" y="555301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9E0B"/>
                </a:solidFill>
                <a:latin typeface="Calibri"/>
              </a:rPr>
              <a:t>More
Volume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2420" y="3285595"/>
            <a:ext cx="1463040" cy="768096"/>
          </a:xfrm>
          <a:prstGeom prst="rect">
            <a:avLst/>
          </a:prstGeom>
          <a:solidFill>
            <a:srgbClr val="0324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8140" y="3303883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6B6D4"/>
                </a:solidFill>
                <a:latin typeface="Calibri"/>
              </a:rPr>
              <a:t>More
AI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2079" y="4016967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Georgia"/>
              </a:rPr>
              <a:t>ArtEx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5485" y="201168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VMM seeds liquidity → attracts first wave of traders.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5485" y="237744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Traders generate volume → fee revenue funds growth.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5485" y="274320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More volume → better price discovery → fairer market.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1165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11165" y="3474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552A"/>
                </a:solidFill>
                <a:latin typeface="Calibri"/>
              </a:rPr>
              <a:t>AI network effect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5485" y="384048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More trading data → smarter AI models → better strategies.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5485" y="420624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Better strategies → higher returns → attract more capital.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1165" y="4572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11165" y="4937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alibri"/>
              </a:rPr>
              <a:t>Monetisation scales with the flywheel 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5485" y="530352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• fees, spread, AUM and data all grow proportionally.</a:t>
            </a: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A6BCC458-E960-A753-DDCE-F5FCA6E061A7}"/>
              </a:ext>
            </a:extLst>
          </p:cNvPr>
          <p:cNvCxnSpPr>
            <a:stCxn id="7" idx="1"/>
            <a:endCxn id="10" idx="0"/>
          </p:cNvCxnSpPr>
          <p:nvPr/>
        </p:nvCxnSpPr>
        <p:spPr>
          <a:xfrm rot="10800000" flipV="1">
            <a:off x="1437497" y="2279607"/>
            <a:ext cx="1181702" cy="1024276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A79F2A7-8683-5ECD-851F-BFDD11E759CB}"/>
              </a:ext>
            </a:extLst>
          </p:cNvPr>
          <p:cNvCxnSpPr>
            <a:stCxn id="9" idx="2"/>
            <a:endCxn id="11" idx="1"/>
          </p:cNvCxnSpPr>
          <p:nvPr/>
        </p:nvCxnSpPr>
        <p:spPr>
          <a:xfrm rot="5400000">
            <a:off x="504591" y="4985863"/>
            <a:ext cx="1865079" cy="734"/>
          </a:xfrm>
          <a:prstGeom prst="bentConnector4">
            <a:avLst>
              <a:gd name="adj1" fmla="val 39704"/>
              <a:gd name="adj2" fmla="val 3124441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91A42263-6803-CE2E-CDBC-A7CA4C4C9E0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2899803" y="5918770"/>
            <a:ext cx="901831" cy="12700"/>
          </a:xfrm>
          <a:prstGeom prst="bent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5CDBCAD0-370A-0623-97E9-AD18CD41B552}"/>
              </a:ext>
            </a:extLst>
          </p:cNvPr>
          <p:cNvCxnSpPr>
            <a:stCxn id="13" idx="3"/>
            <a:endCxn id="15" idx="2"/>
          </p:cNvCxnSpPr>
          <p:nvPr/>
        </p:nvCxnSpPr>
        <p:spPr>
          <a:xfrm flipH="1" flipV="1">
            <a:off x="5263940" y="4053691"/>
            <a:ext cx="734" cy="1865079"/>
          </a:xfrm>
          <a:prstGeom prst="bentConnector4">
            <a:avLst>
              <a:gd name="adj1" fmla="val -31144414"/>
              <a:gd name="adj2" fmla="val 60296"/>
            </a:avLst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BCDD93C6-CC77-2068-CDD4-8DF023291714}"/>
              </a:ext>
            </a:extLst>
          </p:cNvPr>
          <p:cNvCxnSpPr>
            <a:stCxn id="15" idx="0"/>
            <a:endCxn id="7" idx="3"/>
          </p:cNvCxnSpPr>
          <p:nvPr/>
        </p:nvCxnSpPr>
        <p:spPr>
          <a:xfrm rot="16200000" flipV="1">
            <a:off x="4170096" y="2191750"/>
            <a:ext cx="1005988" cy="1181701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7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9945FF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FFFFF"/>
                </a:solidFill>
                <a:latin typeface="Georgia"/>
              </a:rPr>
              <a:t>Stack &amp;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371600" cy="502920"/>
          </a:xfrm>
          <a:prstGeom prst="rect">
            <a:avLst/>
          </a:prstGeom>
          <a:solidFill>
            <a:srgbClr val="2E1108"/>
          </a:solidFill>
          <a:ln w="12700">
            <a:solidFill>
              <a:srgbClr val="E85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552A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8424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Vue 3 + Vite + Tailwind CSS · Pinia state · Vue Router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33472"/>
            <a:ext cx="1371600" cy="502920"/>
          </a:xfrm>
          <a:prstGeom prst="rect">
            <a:avLst/>
          </a:prstGeom>
          <a:solidFill>
            <a:srgbClr val="301F0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Pricing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69748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Pinia trading store · GBM VMM engine · CoinGecko live crypto feed (via Vite proxy)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46704"/>
            <a:ext cx="1371600" cy="502920"/>
          </a:xfrm>
          <a:prstGeom prst="rect">
            <a:avLst/>
          </a:prstGeom>
          <a:solidFill>
            <a:srgbClr val="1F0D33"/>
          </a:solidFill>
          <a:ln w="12700">
            <a:solidFill>
              <a:srgbClr val="994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41071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945FF"/>
                </a:solidFill>
                <a:latin typeface="Calibri"/>
              </a:rPr>
              <a:t>AI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41071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DeepSeek Chat API (art curator) · Custom AI agent endpoints · Account monitor loop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59936"/>
            <a:ext cx="1371600" cy="502920"/>
          </a:xfrm>
          <a:prstGeom prst="rect">
            <a:avLst/>
          </a:prstGeom>
          <a:solidFill>
            <a:srgbClr val="0827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Wallets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123944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MetaMask / Coinbase (EIP-1193) · Phantom (Solana) · WalletConnect · Test Wallet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73168"/>
            <a:ext cx="1371600" cy="502920"/>
          </a:xfrm>
          <a:prstGeom prst="rect">
            <a:avLst/>
          </a:prstGeom>
          <a:solidFill>
            <a:srgbClr val="121416"/>
          </a:solidFill>
          <a:ln w="1270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83717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B5563"/>
                </a:solidFill>
                <a:latin typeface="Calibri"/>
              </a:rPr>
              <a:t>Backend*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483717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FastAPI (Python) · PostgreSQL · Redis · Alembic migrations  [planned]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486400"/>
            <a:ext cx="1371600" cy="502920"/>
          </a:xfrm>
          <a:prstGeom prst="rect">
            <a:avLst/>
          </a:prstGeom>
          <a:solidFill>
            <a:srgbClr val="0324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5504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Blockchain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55504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BTC testnet via BlockCypher proxy · On-chain settlement [planned]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* Backend branch scaffolded; frontend operates fully client-side for this demo.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8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E8552A"/>
                </a:solidFill>
                <a:latin typeface="Calibri"/>
              </a:rP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58368"/>
            <a:ext cx="502920" cy="36576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FFFFF"/>
                </a:solidFill>
                <a:latin typeface="Georgia"/>
              </a:rPr>
              <a:t>What's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2423160" cy="4846320"/>
          </a:xfrm>
          <a:prstGeom prst="rect">
            <a:avLst/>
          </a:prstGeom>
          <a:solidFill>
            <a:srgbClr val="111116"/>
          </a:solidFill>
          <a:ln w="12700">
            <a:solidFill>
              <a:srgbClr val="E85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423160" cy="73152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52A"/>
                </a:solidFill>
                <a:latin typeface="Calibri"/>
              </a:rPr>
              <a:t>Phase 1
(Now)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Frontend demo: trading terminal, AI agent, wallet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VMM providing simulated liquidity and price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DeepSeek-powered art curation chatbot live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691640"/>
            <a:ext cx="2423160" cy="4846320"/>
          </a:xfrm>
          <a:prstGeom prst="rect">
            <a:avLst/>
          </a:prstGeom>
          <a:solidFill>
            <a:srgbClr val="11111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83280" y="1691640"/>
            <a:ext cx="24231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40" y="1828800"/>
            <a:ext cx="2148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9E0B"/>
                </a:solidFill>
                <a:latin typeface="Calibri"/>
              </a:rPr>
              <a:t>Phase 2
(</a:t>
            </a:r>
            <a:r>
              <a:rPr lang="en-US" sz="1400" b="1" i="0" dirty="0">
                <a:solidFill>
                  <a:srgbClr val="F59E0B"/>
                </a:solidFill>
                <a:latin typeface="Calibri"/>
              </a:rPr>
              <a:t>1</a:t>
            </a:r>
            <a:r>
              <a:rPr sz="1400" b="1" i="0" dirty="0">
                <a:solidFill>
                  <a:srgbClr val="F59E0B"/>
                </a:solidFill>
                <a:latin typeface="Calibri"/>
              </a:rPr>
              <a:t> </a:t>
            </a:r>
            <a:r>
              <a:rPr lang="en-US" sz="1400" b="1" i="0" dirty="0">
                <a:solidFill>
                  <a:srgbClr val="F59E0B"/>
                </a:solidFill>
                <a:latin typeface="Calibri"/>
              </a:rPr>
              <a:t>week</a:t>
            </a:r>
            <a:r>
              <a:rPr sz="1400" b="1" i="0" dirty="0">
                <a:solidFill>
                  <a:srgbClr val="F59E0B"/>
                </a:solidFill>
                <a:latin typeface="Calibri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FastAPI backend + PostgreSQL order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Real BTC testnet settlement via BlockCypher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657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Artist / gallery onboarding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160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WalletConnect SDK full integration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691640"/>
            <a:ext cx="2423160" cy="4846320"/>
          </a:xfrm>
          <a:prstGeom prst="rect">
            <a:avLst/>
          </a:prstGeom>
          <a:solidFill>
            <a:srgbClr val="111116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35040" y="1691640"/>
            <a:ext cx="242316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200" y="1828800"/>
            <a:ext cx="2148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2C55E"/>
                </a:solidFill>
                <a:latin typeface="Calibri"/>
              </a:rPr>
              <a:t>Phase 3
(</a:t>
            </a:r>
            <a:r>
              <a:rPr lang="en-US" sz="1400" b="1" i="0" dirty="0">
                <a:solidFill>
                  <a:srgbClr val="22C55E"/>
                </a:solidFill>
                <a:latin typeface="Calibri"/>
              </a:rPr>
              <a:t>2</a:t>
            </a:r>
            <a:r>
              <a:rPr sz="1400" b="1" i="0" dirty="0">
                <a:solidFill>
                  <a:srgbClr val="22C55E"/>
                </a:solidFill>
                <a:latin typeface="Calibri"/>
              </a:rPr>
              <a:t> </a:t>
            </a:r>
            <a:r>
              <a:rPr lang="en-US" sz="1400" b="1" i="0" dirty="0">
                <a:solidFill>
                  <a:srgbClr val="22C55E"/>
                </a:solidFill>
                <a:latin typeface="Calibri"/>
              </a:rPr>
              <a:t>weeks</a:t>
            </a:r>
            <a:r>
              <a:rPr sz="1400" b="1" i="0" dirty="0">
                <a:solidFill>
                  <a:srgbClr val="22C55E"/>
                </a:solidFill>
                <a:latin typeface="Calibri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51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Mainnet launch with regulatory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Institutional AI strategy marketplace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57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Cross-chain support (ETH, SOL, BNB)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160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DAO governance for artwork listing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1691640"/>
            <a:ext cx="2423160" cy="4846320"/>
          </a:xfrm>
          <a:prstGeom prst="rect">
            <a:avLst/>
          </a:prstGeom>
          <a:solidFill>
            <a:srgbClr val="111116"/>
          </a:solidFill>
          <a:ln w="12700">
            <a:solidFill>
              <a:srgbClr val="994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686800" y="1691640"/>
            <a:ext cx="2423160" cy="73152"/>
          </a:xfrm>
          <a:prstGeom prst="rect">
            <a:avLst/>
          </a:prstGeom>
          <a:solidFill>
            <a:srgbClr val="994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23960" y="1828800"/>
            <a:ext cx="2148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9945FF"/>
                </a:solidFill>
                <a:latin typeface="Calibri"/>
              </a:rPr>
              <a:t>Phase 4
(</a:t>
            </a:r>
            <a:r>
              <a:rPr lang="en-US" sz="1400" b="1" i="0" dirty="0">
                <a:solidFill>
                  <a:srgbClr val="9945FF"/>
                </a:solidFill>
                <a:latin typeface="Calibri"/>
              </a:rPr>
              <a:t>3 weeks</a:t>
            </a:r>
            <a:r>
              <a:rPr sz="1400" b="1" i="0" dirty="0">
                <a:solidFill>
                  <a:srgbClr val="9945FF"/>
                </a:solidFill>
                <a:latin typeface="Calibri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2651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Physical-digital art bridge (NFC + NFT)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Secondary market royalty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657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Mobile app (React Native)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4160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• International gallery partnerships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4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B5563"/>
                </a:solidFill>
                <a:latin typeface="Calibri"/>
              </a:rPr>
              <a:t>9 / 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F1D1D"/>
                </a:solidFill>
                <a:latin typeface="Calibri"/>
              </a:rPr>
              <a:t>A REFLECTION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713232"/>
            <a:ext cx="502920" cy="36576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1">
                <a:solidFill>
                  <a:srgbClr val="FECACA"/>
                </a:solidFill>
                <a:latin typeface="Georgia"/>
              </a:rPr>
              <a:t>On Speculation and Restraint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ECACA"/>
                </a:solidFill>
                <a:latin typeface="Calibri"/>
              </a:rPr>
              <a:t>The 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1717A"/>
                </a:solidFill>
                <a:latin typeface="Calibri"/>
              </a:rPr>
              <a:t>Strip away the art, the curation, and the crypto branding — and what remains is a price-speculation engine with a house-maintained order book, leveraged positions, and algorithmically generated volatility. The structural difference between this platform and online gambling is thinner than we initially set out to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Why It Would Work Regardless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1717A"/>
                </a:solidFill>
                <a:latin typeface="Calibri"/>
              </a:rPr>
              <a:t>Speculation is a fundamental human instinct. As long as there are people who believe they can predict price movements — and there always are — the business logic is sound. The platform does not need the art to be real, the market to be fair, or the odds to be transparent.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EFAC"/>
                </a:solidFill>
                <a:latin typeface="Calibri"/>
              </a:rPr>
              <a:t>What Constrains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932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1717A"/>
                </a:solidFill>
                <a:latin typeface="Calibri"/>
              </a:rPr>
              <a:t>Our group chose not to implement dark patterns: no hidden fees, no fabricated scarcity signals, no predatory leverage defaults. We could have. We did not. That decision is not commercially optimal. It is a deliberate ethical constraint, and we believe it is the right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2636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B2121"/>
                </a:solidFill>
                <a:latin typeface="Georgia"/>
              </a:rPr>
              <a:t>"The most profitable version of this platform is one we chose not to build."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1190</Words>
  <Application>Microsoft Office PowerPoint</Application>
  <PresentationFormat>自定义</PresentationFormat>
  <Paragraphs>158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禹豪 黄</cp:lastModifiedBy>
  <cp:revision>3</cp:revision>
  <dcterms:created xsi:type="dcterms:W3CDTF">2013-01-27T09:14:16Z</dcterms:created>
  <dcterms:modified xsi:type="dcterms:W3CDTF">2026-06-03T00:32:24Z</dcterms:modified>
  <cp:category/>
</cp:coreProperties>
</file>